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88FDCA-004E-41EC-B484-F4F507211259}" v="4" dt="2026-05-05T17:34:10.3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kesh Biswal" userId="1c08c5b384fe84cd" providerId="LiveId" clId="{FD377D61-CA3E-411F-958E-D32E48878FAE}"/>
    <pc:docChg chg="modSld">
      <pc:chgData name="Rakesh Biswal" userId="1c08c5b384fe84cd" providerId="LiveId" clId="{FD377D61-CA3E-411F-958E-D32E48878FAE}" dt="2026-05-06T06:59:57.841" v="28" actId="20577"/>
      <pc:docMkLst>
        <pc:docMk/>
      </pc:docMkLst>
      <pc:sldChg chg="modSp mod">
        <pc:chgData name="Rakesh Biswal" userId="1c08c5b384fe84cd" providerId="LiveId" clId="{FD377D61-CA3E-411F-958E-D32E48878FAE}" dt="2026-05-06T06:55:14.144" v="23" actId="20577"/>
        <pc:sldMkLst>
          <pc:docMk/>
          <pc:sldMk cId="0" sldId="258"/>
        </pc:sldMkLst>
        <pc:spChg chg="mod">
          <ac:chgData name="Rakesh Biswal" userId="1c08c5b384fe84cd" providerId="LiveId" clId="{FD377D61-CA3E-411F-958E-D32E48878FAE}" dt="2026-05-06T06:55:14.144" v="23" actId="20577"/>
          <ac:spMkLst>
            <pc:docMk/>
            <pc:sldMk cId="0" sldId="258"/>
            <ac:spMk id="18" creationId="{00000000-0000-0000-0000-000000000000}"/>
          </ac:spMkLst>
        </pc:spChg>
      </pc:sldChg>
      <pc:sldChg chg="modSp mod">
        <pc:chgData name="Rakesh Biswal" userId="1c08c5b384fe84cd" providerId="LiveId" clId="{FD377D61-CA3E-411F-958E-D32E48878FAE}" dt="2026-05-06T06:59:57.841" v="28" actId="20577"/>
        <pc:sldMkLst>
          <pc:docMk/>
          <pc:sldMk cId="0" sldId="262"/>
        </pc:sldMkLst>
        <pc:spChg chg="mod">
          <ac:chgData name="Rakesh Biswal" userId="1c08c5b384fe84cd" providerId="LiveId" clId="{FD377D61-CA3E-411F-958E-D32E48878FAE}" dt="2026-05-06T06:59:57.841" v="28" actId="20577"/>
          <ac:spMkLst>
            <pc:docMk/>
            <pc:sldMk cId="0" sldId="262"/>
            <ac:spMk id="6" creationId="{00000000-0000-0000-0000-000000000000}"/>
          </ac:spMkLst>
        </pc:spChg>
      </pc:sldChg>
      <pc:sldChg chg="addSp modSp mod">
        <pc:chgData name="Rakesh Biswal" userId="1c08c5b384fe84cd" providerId="LiveId" clId="{FD377D61-CA3E-411F-958E-D32E48878FAE}" dt="2026-05-05T17:32:24.103" v="14" actId="1076"/>
        <pc:sldMkLst>
          <pc:docMk/>
          <pc:sldMk cId="0" sldId="270"/>
        </pc:sldMkLst>
        <pc:spChg chg="mod">
          <ac:chgData name="Rakesh Biswal" userId="1c08c5b384fe84cd" providerId="LiveId" clId="{FD377D61-CA3E-411F-958E-D32E48878FAE}" dt="2026-05-05T17:32:11.856" v="13" actId="1076"/>
          <ac:spMkLst>
            <pc:docMk/>
            <pc:sldMk cId="0" sldId="270"/>
            <ac:spMk id="6" creationId="{00000000-0000-0000-0000-000000000000}"/>
          </ac:spMkLst>
        </pc:spChg>
        <pc:spChg chg="mod">
          <ac:chgData name="Rakesh Biswal" userId="1c08c5b384fe84cd" providerId="LiveId" clId="{FD377D61-CA3E-411F-958E-D32E48878FAE}" dt="2026-05-05T17:32:11.856" v="13" actId="1076"/>
          <ac:spMkLst>
            <pc:docMk/>
            <pc:sldMk cId="0" sldId="270"/>
            <ac:spMk id="7" creationId="{00000000-0000-0000-0000-000000000000}"/>
          </ac:spMkLst>
        </pc:spChg>
        <pc:spChg chg="mod">
          <ac:chgData name="Rakesh Biswal" userId="1c08c5b384fe84cd" providerId="LiveId" clId="{FD377D61-CA3E-411F-958E-D32E48878FAE}" dt="2026-05-05T17:32:11.856" v="13" actId="1076"/>
          <ac:spMkLst>
            <pc:docMk/>
            <pc:sldMk cId="0" sldId="270"/>
            <ac:spMk id="8" creationId="{00000000-0000-0000-0000-000000000000}"/>
          </ac:spMkLst>
        </pc:spChg>
        <pc:spChg chg="mod">
          <ac:chgData name="Rakesh Biswal" userId="1c08c5b384fe84cd" providerId="LiveId" clId="{FD377D61-CA3E-411F-958E-D32E48878FAE}" dt="2026-05-05T17:32:24.103" v="14" actId="1076"/>
          <ac:spMkLst>
            <pc:docMk/>
            <pc:sldMk cId="0" sldId="270"/>
            <ac:spMk id="9" creationId="{00000000-0000-0000-0000-000000000000}"/>
          </ac:spMkLst>
        </pc:spChg>
        <pc:spChg chg="mod">
          <ac:chgData name="Rakesh Biswal" userId="1c08c5b384fe84cd" providerId="LiveId" clId="{FD377D61-CA3E-411F-958E-D32E48878FAE}" dt="2026-05-05T17:32:24.103" v="14" actId="1076"/>
          <ac:spMkLst>
            <pc:docMk/>
            <pc:sldMk cId="0" sldId="270"/>
            <ac:spMk id="10" creationId="{00000000-0000-0000-0000-000000000000}"/>
          </ac:spMkLst>
        </pc:spChg>
        <pc:spChg chg="mod">
          <ac:chgData name="Rakesh Biswal" userId="1c08c5b384fe84cd" providerId="LiveId" clId="{FD377D61-CA3E-411F-958E-D32E48878FAE}" dt="2026-05-05T17:32:24.103" v="14" actId="1076"/>
          <ac:spMkLst>
            <pc:docMk/>
            <pc:sldMk cId="0" sldId="270"/>
            <ac:spMk id="11" creationId="{00000000-0000-0000-0000-000000000000}"/>
          </ac:spMkLst>
        </pc:spChg>
        <pc:spChg chg="mod">
          <ac:chgData name="Rakesh Biswal" userId="1c08c5b384fe84cd" providerId="LiveId" clId="{FD377D61-CA3E-411F-958E-D32E48878FAE}" dt="2026-05-05T17:31:50.413" v="11" actId="1076"/>
          <ac:spMkLst>
            <pc:docMk/>
            <pc:sldMk cId="0" sldId="270"/>
            <ac:spMk id="12" creationId="{00000000-0000-0000-0000-000000000000}"/>
          </ac:spMkLst>
        </pc:spChg>
        <pc:spChg chg="mod">
          <ac:chgData name="Rakesh Biswal" userId="1c08c5b384fe84cd" providerId="LiveId" clId="{FD377D61-CA3E-411F-958E-D32E48878FAE}" dt="2026-05-05T17:31:50.413" v="11" actId="1076"/>
          <ac:spMkLst>
            <pc:docMk/>
            <pc:sldMk cId="0" sldId="270"/>
            <ac:spMk id="13" creationId="{00000000-0000-0000-0000-000000000000}"/>
          </ac:spMkLst>
        </pc:spChg>
        <pc:spChg chg="mod">
          <ac:chgData name="Rakesh Biswal" userId="1c08c5b384fe84cd" providerId="LiveId" clId="{FD377D61-CA3E-411F-958E-D32E48878FAE}" dt="2026-05-05T17:31:50.413" v="11" actId="1076"/>
          <ac:spMkLst>
            <pc:docMk/>
            <pc:sldMk cId="0" sldId="270"/>
            <ac:spMk id="14" creationId="{00000000-0000-0000-0000-000000000000}"/>
          </ac:spMkLst>
        </pc:spChg>
        <pc:spChg chg="mod">
          <ac:chgData name="Rakesh Biswal" userId="1c08c5b384fe84cd" providerId="LiveId" clId="{FD377D61-CA3E-411F-958E-D32E48878FAE}" dt="2026-05-05T17:32:07.004" v="12" actId="1076"/>
          <ac:spMkLst>
            <pc:docMk/>
            <pc:sldMk cId="0" sldId="270"/>
            <ac:spMk id="15" creationId="{00000000-0000-0000-0000-000000000000}"/>
          </ac:spMkLst>
        </pc:spChg>
        <pc:spChg chg="mod">
          <ac:chgData name="Rakesh Biswal" userId="1c08c5b384fe84cd" providerId="LiveId" clId="{FD377D61-CA3E-411F-958E-D32E48878FAE}" dt="2026-05-05T17:32:07.004" v="12" actId="1076"/>
          <ac:spMkLst>
            <pc:docMk/>
            <pc:sldMk cId="0" sldId="270"/>
            <ac:spMk id="16" creationId="{00000000-0000-0000-0000-000000000000}"/>
          </ac:spMkLst>
        </pc:spChg>
        <pc:spChg chg="mod">
          <ac:chgData name="Rakesh Biswal" userId="1c08c5b384fe84cd" providerId="LiveId" clId="{FD377D61-CA3E-411F-958E-D32E48878FAE}" dt="2026-05-05T17:32:07.004" v="12" actId="1076"/>
          <ac:spMkLst>
            <pc:docMk/>
            <pc:sldMk cId="0" sldId="270"/>
            <ac:spMk id="17" creationId="{00000000-0000-0000-0000-000000000000}"/>
          </ac:spMkLst>
        </pc:spChg>
        <pc:spChg chg="add mod">
          <ac:chgData name="Rakesh Biswal" userId="1c08c5b384fe84cd" providerId="LiveId" clId="{FD377D61-CA3E-411F-958E-D32E48878FAE}" dt="2026-05-05T17:31:25.918" v="8" actId="1076"/>
          <ac:spMkLst>
            <pc:docMk/>
            <pc:sldMk cId="0" sldId="270"/>
            <ac:spMk id="18" creationId="{F7DA22A8-0D65-0FAD-2E3C-69985EAD33F8}"/>
          </ac:spMkLst>
        </pc:spChg>
        <pc:graphicFrameChg chg="mod">
          <ac:chgData name="Rakesh Biswal" userId="1c08c5b384fe84cd" providerId="LiveId" clId="{FD377D61-CA3E-411F-958E-D32E48878FAE}" dt="2026-05-05T17:31:08.921" v="5" actId="1076"/>
          <ac:graphicFrameMkLst>
            <pc:docMk/>
            <pc:sldMk cId="0" sldId="270"/>
            <ac:graphicFrameMk id="4" creationId="{00000000-0000-0000-0000-000000000000}"/>
          </ac:graphicFrameMkLst>
        </pc:graphicFrameChg>
        <pc:graphicFrameChg chg="mod">
          <ac:chgData name="Rakesh Biswal" userId="1c08c5b384fe84cd" providerId="LiveId" clId="{FD377D61-CA3E-411F-958E-D32E48878FAE}" dt="2026-05-05T17:31:19.322" v="7" actId="1076"/>
          <ac:graphicFrameMkLst>
            <pc:docMk/>
            <pc:sldMk cId="0" sldId="270"/>
            <ac:graphicFrameMk id="5" creationId="{00000000-0000-0000-0000-000000000000}"/>
          </ac:graphicFrameMkLst>
        </pc:graphicFrameChg>
      </pc:sldChg>
      <pc:sldChg chg="addSp modSp mod">
        <pc:chgData name="Rakesh Biswal" userId="1c08c5b384fe84cd" providerId="LiveId" clId="{FD377D61-CA3E-411F-958E-D32E48878FAE}" dt="2026-05-05T17:34:28.839" v="21" actId="1076"/>
        <pc:sldMkLst>
          <pc:docMk/>
          <pc:sldMk cId="0" sldId="271"/>
        </pc:sldMkLst>
        <pc:spChg chg="mod">
          <ac:chgData name="Rakesh Biswal" userId="1c08c5b384fe84cd" providerId="LiveId" clId="{FD377D61-CA3E-411F-958E-D32E48878FAE}" dt="2026-05-05T17:34:00.161" v="17" actId="20577"/>
          <ac:spMkLst>
            <pc:docMk/>
            <pc:sldMk cId="0" sldId="271"/>
            <ac:spMk id="77" creationId="{00000000-0000-0000-0000-000000000000}"/>
          </ac:spMkLst>
        </pc:spChg>
        <pc:spChg chg="add mod">
          <ac:chgData name="Rakesh Biswal" userId="1c08c5b384fe84cd" providerId="LiveId" clId="{FD377D61-CA3E-411F-958E-D32E48878FAE}" dt="2026-05-05T17:34:28.839" v="21" actId="1076"/>
          <ac:spMkLst>
            <pc:docMk/>
            <pc:sldMk cId="0" sldId="271"/>
            <ac:spMk id="78" creationId="{0DED0F64-2937-AC03-9273-DC83782C0AEF}"/>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1A1A"/>
                </a:solidFill>
                <a:latin typeface="Arial"/>
              </a:defRPr>
            </a:pPr>
            <a:r>
              <a:rPr lang="en-IN" sz="1300" b="0" i="0" u="none" strike="noStrike">
                <a:solidFill>
                  <a:srgbClr val="1A1A1A"/>
                </a:solidFill>
                <a:latin typeface="Arial"/>
              </a:rPr>
              <a:t>Data Reduction After Cleaning</a:t>
            </a:r>
          </a:p>
        </c:rich>
      </c:tx>
      <c:overlay val="0"/>
    </c:title>
    <c:autoTitleDeleted val="0"/>
    <c:plotArea>
      <c:layout/>
      <c:barChart>
        <c:barDir val="bar"/>
        <c:grouping val="clustered"/>
        <c:varyColors val="0"/>
        <c:ser>
          <c:idx val="0"/>
          <c:order val="0"/>
          <c:tx>
            <c:strRef>
              <c:f>Sheet1!$B$1</c:f>
              <c:strCache>
                <c:ptCount val="1"/>
                <c:pt idx="0">
                  <c:v>Records</c:v>
                </c:pt>
              </c:strCache>
            </c:strRef>
          </c:tx>
          <c:spPr>
            <a:solidFill>
              <a:srgbClr val="EF4444"/>
            </a:solidFill>
            <a:effectLst/>
          </c:spPr>
          <c:invertIfNegative val="0"/>
          <c:dPt>
            <c:idx val="0"/>
            <c:invertIfNegative val="0"/>
            <c:bubble3D val="0"/>
            <c:extLst>
              <c:ext xmlns:c16="http://schemas.microsoft.com/office/drawing/2014/chart" uri="{C3380CC4-5D6E-409C-BE32-E72D297353CC}">
                <c16:uniqueId val="{00000001-AFC7-4D2F-BD0B-506E63AD321B}"/>
              </c:ext>
            </c:extLst>
          </c:dPt>
          <c:dPt>
            <c:idx val="1"/>
            <c:invertIfNegative val="0"/>
            <c:bubble3D val="0"/>
            <c:spPr>
              <a:solidFill>
                <a:srgbClr val="10B981"/>
              </a:solidFill>
              <a:effectLst/>
            </c:spPr>
            <c:extLst>
              <c:ext xmlns:c16="http://schemas.microsoft.com/office/drawing/2014/chart" uri="{C3380CC4-5D6E-409C-BE32-E72D297353CC}">
                <c16:uniqueId val="{00000003-AFC7-4D2F-BD0B-506E63AD321B}"/>
              </c:ext>
            </c:extLst>
          </c:dPt>
          <c:dLbls>
            <c:numFmt formatCode="#,##0" sourceLinked="0"/>
            <c:spPr>
              <a:noFill/>
              <a:ln>
                <a:noFill/>
              </a:ln>
              <a:effectLst/>
            </c:spPr>
            <c:txPr>
              <a:bodyPr/>
              <a:lstStyle/>
              <a:p>
                <a:pPr>
                  <a:defRPr sz="1200" b="0" i="0" u="none" strike="noStrike">
                    <a:solidFill>
                      <a:srgbClr val="37415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Original Dataset</c:v>
                </c:pt>
                <c:pt idx="1">
                  <c:v>After Removing Duplicates</c:v>
                </c:pt>
              </c:strCache>
            </c:strRef>
          </c:cat>
          <c:val>
            <c:numRef>
              <c:f>Sheet1!$B$2:$B$3</c:f>
              <c:numCache>
                <c:formatCode>General</c:formatCode>
                <c:ptCount val="2"/>
                <c:pt idx="0">
                  <c:v>103024</c:v>
                </c:pt>
                <c:pt idx="1">
                  <c:v>20408</c:v>
                </c:pt>
              </c:numCache>
            </c:numRef>
          </c:val>
          <c:extLst>
            <c:ext xmlns:c16="http://schemas.microsoft.com/office/drawing/2014/chart" uri="{C3380CC4-5D6E-409C-BE32-E72D297353CC}">
              <c16:uniqueId val="{00000004-AFC7-4D2F-BD0B-506E63AD321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7415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7415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Booking Status</c:v>
                </c:pt>
              </c:strCache>
            </c:strRef>
          </c:tx>
          <c:spPr>
            <a:solidFill>
              <a:schemeClr val="accent1"/>
            </a:solidFill>
            <a:ln w="9525" cap="flat">
              <a:solidFill>
                <a:srgbClr val="F9F9F9"/>
              </a:solidFill>
              <a:prstDash val="solid"/>
              <a:round/>
            </a:ln>
            <a:effectLst/>
          </c:spPr>
          <c:dPt>
            <c:idx val="0"/>
            <c:bubble3D val="0"/>
            <c:spPr>
              <a:solidFill>
                <a:srgbClr val="10B981"/>
              </a:solidFill>
              <a:effectLst/>
            </c:spPr>
            <c:extLst>
              <c:ext xmlns:c16="http://schemas.microsoft.com/office/drawing/2014/chart" uri="{C3380CC4-5D6E-409C-BE32-E72D297353CC}">
                <c16:uniqueId val="{00000001-A94D-44AD-9534-F2771970EDEF}"/>
              </c:ext>
            </c:extLst>
          </c:dPt>
          <c:dPt>
            <c:idx val="1"/>
            <c:bubble3D val="0"/>
            <c:spPr>
              <a:solidFill>
                <a:srgbClr val="EF4444"/>
              </a:solidFill>
              <a:effectLst/>
            </c:spPr>
            <c:extLst>
              <c:ext xmlns:c16="http://schemas.microsoft.com/office/drawing/2014/chart" uri="{C3380CC4-5D6E-409C-BE32-E72D297353CC}">
                <c16:uniqueId val="{00000003-A94D-44AD-9534-F2771970EDEF}"/>
              </c:ext>
            </c:extLst>
          </c:dPt>
          <c:dPt>
            <c:idx val="2"/>
            <c:bubble3D val="0"/>
            <c:spPr>
              <a:solidFill>
                <a:srgbClr val="F59E0B"/>
              </a:solidFill>
              <a:effectLst/>
            </c:spPr>
            <c:extLst>
              <c:ext xmlns:c16="http://schemas.microsoft.com/office/drawing/2014/chart" uri="{C3380CC4-5D6E-409C-BE32-E72D297353CC}">
                <c16:uniqueId val="{00000005-A94D-44AD-9534-F2771970EDEF}"/>
              </c:ext>
            </c:extLst>
          </c:dPt>
          <c:dPt>
            <c:idx val="3"/>
            <c:bubble3D val="0"/>
            <c:spPr>
              <a:solidFill>
                <a:srgbClr val="6B7280"/>
              </a:solidFill>
              <a:effectLst/>
            </c:spPr>
            <c:extLst>
              <c:ext xmlns:c16="http://schemas.microsoft.com/office/drawing/2014/chart" uri="{C3380CC4-5D6E-409C-BE32-E72D297353CC}">
                <c16:uniqueId val="{00000007-A94D-44AD-9534-F2771970EDEF}"/>
              </c:ext>
            </c:extLst>
          </c:dPt>
          <c:dLbls>
            <c:dLbl>
              <c:idx val="0"/>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94D-44AD-9534-F2771970EDEF}"/>
                </c:ext>
              </c:extLst>
            </c:dLbl>
            <c:dLbl>
              <c:idx val="1"/>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94D-44AD-9534-F2771970EDEF}"/>
                </c:ext>
              </c:extLst>
            </c:dLbl>
            <c:dLbl>
              <c:idx val="2"/>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A94D-44AD-9534-F2771970EDEF}"/>
                </c:ext>
              </c:extLst>
            </c:dLbl>
            <c:dLbl>
              <c:idx val="3"/>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A94D-44AD-9534-F2771970EDEF}"/>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Success</c:v>
                </c:pt>
                <c:pt idx="1">
                  <c:v>Cancelled by Driver</c:v>
                </c:pt>
                <c:pt idx="2">
                  <c:v>Cancelled by Customer</c:v>
                </c:pt>
                <c:pt idx="3">
                  <c:v>Driver Not Found</c:v>
                </c:pt>
              </c:strCache>
            </c:strRef>
          </c:cat>
          <c:val>
            <c:numRef>
              <c:f>Sheet1!$B$2:$B$5</c:f>
              <c:numCache>
                <c:formatCode>General</c:formatCode>
                <c:ptCount val="4"/>
                <c:pt idx="0">
                  <c:v>63967</c:v>
                </c:pt>
                <c:pt idx="1">
                  <c:v>18434</c:v>
                </c:pt>
                <c:pt idx="2">
                  <c:v>10499</c:v>
                </c:pt>
                <c:pt idx="3">
                  <c:v>10124</c:v>
                </c:pt>
              </c:numCache>
            </c:numRef>
          </c:val>
          <c:extLst>
            <c:ext xmlns:c16="http://schemas.microsoft.com/office/drawing/2014/chart" uri="{C3380CC4-5D6E-409C-BE32-E72D297353CC}">
              <c16:uniqueId val="{00000008-A94D-44AD-9534-F2771970EDEF}"/>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a:solidFill>
                <a:srgbClr val="374151"/>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1A"/>
                </a:solidFill>
                <a:latin typeface="Arial"/>
              </a:defRPr>
            </a:pPr>
            <a:r>
              <a:rPr lang="en-IN" sz="1200" b="0" i="0" u="none" strike="noStrike">
                <a:solidFill>
                  <a:srgbClr val="1A1A1A"/>
                </a:solidFill>
                <a:latin typeface="Arial"/>
              </a:rPr>
              <a:t>Revenue by Payment Method</a:t>
            </a:r>
          </a:p>
        </c:rich>
      </c:tx>
      <c:overlay val="0"/>
    </c:title>
    <c:autoTitleDeleted val="0"/>
    <c:plotArea>
      <c:layout>
        <c:manualLayout>
          <c:layoutTarget val="inner"/>
          <c:xMode val="edge"/>
          <c:yMode val="edge"/>
          <c:x val="0.16816812230367756"/>
          <c:y val="0.15050962379702537"/>
          <c:w val="0.80549088152774007"/>
          <c:h val="0.71452099737532804"/>
        </c:manualLayout>
      </c:layout>
      <c:barChart>
        <c:barDir val="col"/>
        <c:grouping val="clustered"/>
        <c:varyColors val="0"/>
        <c:ser>
          <c:idx val="0"/>
          <c:order val="0"/>
          <c:tx>
            <c:strRef>
              <c:f>Sheet1!$B$1</c:f>
              <c:strCache>
                <c:ptCount val="1"/>
                <c:pt idx="0">
                  <c:v>Revenue (INR)</c:v>
                </c:pt>
              </c:strCache>
            </c:strRef>
          </c:tx>
          <c:spPr>
            <a:solidFill>
              <a:srgbClr val="F5C518"/>
            </a:solidFill>
            <a:effectLst/>
          </c:spPr>
          <c:invertIfNegative val="0"/>
          <c:cat>
            <c:strRef>
              <c:f>Sheet1!$A$2:$A$5</c:f>
              <c:strCache>
                <c:ptCount val="4"/>
                <c:pt idx="0">
                  <c:v>Cash</c:v>
                </c:pt>
                <c:pt idx="1">
                  <c:v>UPI</c:v>
                </c:pt>
                <c:pt idx="2">
                  <c:v>Credit Card</c:v>
                </c:pt>
                <c:pt idx="3">
                  <c:v>Debit Card</c:v>
                </c:pt>
              </c:strCache>
            </c:strRef>
          </c:cat>
          <c:val>
            <c:numRef>
              <c:f>Sheet1!$B$2:$B$5</c:f>
              <c:numCache>
                <c:formatCode>General</c:formatCode>
                <c:ptCount val="4"/>
                <c:pt idx="0">
                  <c:v>17500000</c:v>
                </c:pt>
                <c:pt idx="1">
                  <c:v>12000000</c:v>
                </c:pt>
                <c:pt idx="2">
                  <c:v>3500000</c:v>
                </c:pt>
                <c:pt idx="3">
                  <c:v>2080000</c:v>
                </c:pt>
              </c:numCache>
            </c:numRef>
          </c:val>
          <c:extLst>
            <c:ext xmlns:c16="http://schemas.microsoft.com/office/drawing/2014/chart" uri="{C3380CC4-5D6E-409C-BE32-E72D297353CC}">
              <c16:uniqueId val="{00000000-84F1-4799-8778-0522511EF4D5}"/>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7415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7415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A1A1A"/>
                </a:solidFill>
                <a:latin typeface="Arial"/>
              </a:defRPr>
            </a:pPr>
            <a:r>
              <a:rPr lang="en-US" sz="1000" b="0" i="0" u="none" strike="noStrike">
                <a:solidFill>
                  <a:srgbClr val="1A1A1A"/>
                </a:solidFill>
                <a:latin typeface="Arial"/>
              </a:rPr>
              <a:t>Ride Distance Trend — July 2024</a:t>
            </a:r>
          </a:p>
        </c:rich>
      </c:tx>
      <c:overlay val="0"/>
    </c:title>
    <c:autoTitleDeleted val="0"/>
    <c:plotArea>
      <c:layout/>
      <c:lineChart>
        <c:grouping val="standard"/>
        <c:varyColors val="0"/>
        <c:ser>
          <c:idx val="0"/>
          <c:order val="0"/>
          <c:tx>
            <c:strRef>
              <c:f>Sheet1!$B$1</c:f>
              <c:strCache>
                <c:ptCount val="1"/>
                <c:pt idx="0">
                  <c:v>Daily Ride Distance</c:v>
                </c:pt>
              </c:strCache>
            </c:strRef>
          </c:tx>
          <c:spPr>
            <a:ln w="25400" cap="flat">
              <a:solidFill>
                <a:srgbClr val="F5C518"/>
              </a:solidFill>
              <a:prstDash val="solid"/>
              <a:round/>
            </a:ln>
            <a:effectLst/>
          </c:spPr>
          <c:marker>
            <c:symbol val="circle"/>
            <c:size val="6"/>
            <c:spPr>
              <a:solidFill>
                <a:srgbClr val="F5C518"/>
              </a:solidFill>
              <a:ln w="9525" cap="flat">
                <a:solidFill>
                  <a:srgbClr val="F5C518"/>
                </a:solidFill>
                <a:prstDash val="solid"/>
                <a:round/>
              </a:ln>
              <a:effectLst/>
            </c:spPr>
          </c:marker>
          <c:cat>
            <c:strRef>
              <c:f>Sheet1!$A$2:$A$9</c:f>
              <c:strCache>
                <c:ptCount val="8"/>
                <c:pt idx="0">
                  <c:v>Jul 1</c:v>
                </c:pt>
                <c:pt idx="1">
                  <c:v>Jul 5</c:v>
                </c:pt>
                <c:pt idx="2">
                  <c:v>Jul 9</c:v>
                </c:pt>
                <c:pt idx="3">
                  <c:v>Jul 13</c:v>
                </c:pt>
                <c:pt idx="4">
                  <c:v>Jul 17</c:v>
                </c:pt>
                <c:pt idx="5">
                  <c:v>Jul 21</c:v>
                </c:pt>
                <c:pt idx="6">
                  <c:v>Jul 25</c:v>
                </c:pt>
                <c:pt idx="7">
                  <c:v>Jul 31</c:v>
                </c:pt>
              </c:strCache>
            </c:strRef>
          </c:cat>
          <c:val>
            <c:numRef>
              <c:f>Sheet1!$B$2:$B$9</c:f>
              <c:numCache>
                <c:formatCode>General</c:formatCode>
                <c:ptCount val="8"/>
                <c:pt idx="0">
                  <c:v>42000</c:v>
                </c:pt>
                <c:pt idx="1">
                  <c:v>44000</c:v>
                </c:pt>
                <c:pt idx="2">
                  <c:v>43500</c:v>
                </c:pt>
                <c:pt idx="3">
                  <c:v>45000</c:v>
                </c:pt>
                <c:pt idx="4">
                  <c:v>44800</c:v>
                </c:pt>
                <c:pt idx="5">
                  <c:v>46000</c:v>
                </c:pt>
                <c:pt idx="6">
                  <c:v>45500</c:v>
                </c:pt>
                <c:pt idx="7">
                  <c:v>47000</c:v>
                </c:pt>
              </c:numCache>
            </c:numRef>
          </c:val>
          <c:smooth val="1"/>
          <c:extLst>
            <c:ext xmlns:c16="http://schemas.microsoft.com/office/drawing/2014/chart" uri="{C3380CC4-5D6E-409C-BE32-E72D297353CC}">
              <c16:uniqueId val="{00000000-D639-42A5-B1ED-4ACAEE6A91F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A1A1A"/>
                </a:solidFill>
                <a:latin typeface="Arial"/>
              </a:defRPr>
            </a:pPr>
            <a:r>
              <a:rPr lang="en-IN" sz="1100" b="0" i="0" u="none" strike="noStrike">
                <a:solidFill>
                  <a:srgbClr val="1A1A1A"/>
                </a:solidFill>
                <a:latin typeface="Arial"/>
              </a:rPr>
              <a:t>Cancelled by Customer — Reasons</a:t>
            </a:r>
          </a:p>
        </c:rich>
      </c:tx>
      <c:overlay val="0"/>
    </c:title>
    <c:autoTitleDeleted val="0"/>
    <c:plotArea>
      <c:layout/>
      <c:doughnutChart>
        <c:varyColors val="1"/>
        <c:ser>
          <c:idx val="0"/>
          <c:order val="0"/>
          <c:tx>
            <c:strRef>
              <c:f>Sheet1!$B$1</c:f>
              <c:strCache>
                <c:ptCount val="1"/>
                <c:pt idx="0">
                  <c:v>Customer Cancellations</c:v>
                </c:pt>
              </c:strCache>
            </c:strRef>
          </c:tx>
          <c:spPr>
            <a:solidFill>
              <a:schemeClr val="accent1"/>
            </a:solidFill>
            <a:ln w="9525" cap="flat">
              <a:solidFill>
                <a:srgbClr val="F9F9F9"/>
              </a:solidFill>
              <a:prstDash val="solid"/>
              <a:round/>
            </a:ln>
            <a:effectLst/>
          </c:spPr>
          <c:dPt>
            <c:idx val="0"/>
            <c:bubble3D val="0"/>
            <c:spPr>
              <a:solidFill>
                <a:srgbClr val="EF4444"/>
              </a:solidFill>
              <a:effectLst/>
            </c:spPr>
            <c:extLst>
              <c:ext xmlns:c16="http://schemas.microsoft.com/office/drawing/2014/chart" uri="{C3380CC4-5D6E-409C-BE32-E72D297353CC}">
                <c16:uniqueId val="{00000001-5AD0-4236-A45A-A297EAA8C2E5}"/>
              </c:ext>
            </c:extLst>
          </c:dPt>
          <c:dPt>
            <c:idx val="1"/>
            <c:bubble3D val="0"/>
            <c:spPr>
              <a:solidFill>
                <a:srgbClr val="F59E0B"/>
              </a:solidFill>
              <a:effectLst/>
            </c:spPr>
            <c:extLst>
              <c:ext xmlns:c16="http://schemas.microsoft.com/office/drawing/2014/chart" uri="{C3380CC4-5D6E-409C-BE32-E72D297353CC}">
                <c16:uniqueId val="{00000003-5AD0-4236-A45A-A297EAA8C2E5}"/>
              </c:ext>
            </c:extLst>
          </c:dPt>
          <c:dPt>
            <c:idx val="2"/>
            <c:bubble3D val="0"/>
            <c:spPr>
              <a:solidFill>
                <a:srgbClr val="3B82F6"/>
              </a:solidFill>
              <a:effectLst/>
            </c:spPr>
            <c:extLst>
              <c:ext xmlns:c16="http://schemas.microsoft.com/office/drawing/2014/chart" uri="{C3380CC4-5D6E-409C-BE32-E72D297353CC}">
                <c16:uniqueId val="{00000005-5AD0-4236-A45A-A297EAA8C2E5}"/>
              </c:ext>
            </c:extLst>
          </c:dPt>
          <c:dPt>
            <c:idx val="3"/>
            <c:bubble3D val="0"/>
            <c:spPr>
              <a:solidFill>
                <a:srgbClr val="6B7280"/>
              </a:solidFill>
              <a:effectLst/>
            </c:spPr>
            <c:extLst>
              <c:ext xmlns:c16="http://schemas.microsoft.com/office/drawing/2014/chart" uri="{C3380CC4-5D6E-409C-BE32-E72D297353CC}">
                <c16:uniqueId val="{00000007-5AD0-4236-A45A-A297EAA8C2E5}"/>
              </c:ext>
            </c:extLst>
          </c:dPt>
          <c:dPt>
            <c:idx val="4"/>
            <c:bubble3D val="0"/>
            <c:spPr>
              <a:solidFill>
                <a:srgbClr val="8B5CF6"/>
              </a:solidFill>
              <a:effectLst/>
            </c:spPr>
            <c:extLst>
              <c:ext xmlns:c16="http://schemas.microsoft.com/office/drawing/2014/chart" uri="{C3380CC4-5D6E-409C-BE32-E72D297353CC}">
                <c16:uniqueId val="{00000009-5AD0-4236-A45A-A297EAA8C2E5}"/>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5AD0-4236-A45A-A297EAA8C2E5}"/>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5AD0-4236-A45A-A297EAA8C2E5}"/>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5AD0-4236-A45A-A297EAA8C2E5}"/>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5AD0-4236-A45A-A297EAA8C2E5}"/>
                </c:ext>
              </c:extLst>
            </c:dLbl>
            <c:dLbl>
              <c:idx val="4"/>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5AD0-4236-A45A-A297EAA8C2E5}"/>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Driver Not Moving</c:v>
                </c:pt>
                <c:pt idx="1">
                  <c:v>Driver Asked to Cancel</c:v>
                </c:pt>
                <c:pt idx="2">
                  <c:v>Change of Plans</c:v>
                </c:pt>
                <c:pt idx="3">
                  <c:v>AC Not Working</c:v>
                </c:pt>
                <c:pt idx="4">
                  <c:v>Wrong Address</c:v>
                </c:pt>
              </c:strCache>
            </c:strRef>
          </c:cat>
          <c:val>
            <c:numRef>
              <c:f>Sheet1!$B$2:$B$6</c:f>
              <c:numCache>
                <c:formatCode>General</c:formatCode>
                <c:ptCount val="5"/>
                <c:pt idx="0">
                  <c:v>3180</c:v>
                </c:pt>
                <c:pt idx="1">
                  <c:v>2670</c:v>
                </c:pt>
                <c:pt idx="2">
                  <c:v>2010</c:v>
                </c:pt>
                <c:pt idx="3">
                  <c:v>1570</c:v>
                </c:pt>
                <c:pt idx="4">
                  <c:v>1070</c:v>
                </c:pt>
              </c:numCache>
            </c:numRef>
          </c:val>
          <c:extLst>
            <c:ext xmlns:c16="http://schemas.microsoft.com/office/drawing/2014/chart" uri="{C3380CC4-5D6E-409C-BE32-E72D297353CC}">
              <c16:uniqueId val="{0000000A-5AD0-4236-A45A-A297EAA8C2E5}"/>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A1A1A"/>
                </a:solidFill>
                <a:latin typeface="Arial"/>
              </a:defRPr>
            </a:pPr>
            <a:r>
              <a:rPr lang="en-IN" sz="1100" b="0" i="0" u="none" strike="noStrike">
                <a:solidFill>
                  <a:srgbClr val="1A1A1A"/>
                </a:solidFill>
                <a:latin typeface="Arial"/>
              </a:rPr>
              <a:t>Cancelled by Driver — Reasons</a:t>
            </a:r>
          </a:p>
        </c:rich>
      </c:tx>
      <c:overlay val="0"/>
    </c:title>
    <c:autoTitleDeleted val="0"/>
    <c:plotArea>
      <c:layout/>
      <c:doughnutChart>
        <c:varyColors val="1"/>
        <c:ser>
          <c:idx val="0"/>
          <c:order val="0"/>
          <c:tx>
            <c:strRef>
              <c:f>Sheet1!$B$1</c:f>
              <c:strCache>
                <c:ptCount val="1"/>
                <c:pt idx="0">
                  <c:v>Driver Cancellations</c:v>
                </c:pt>
              </c:strCache>
            </c:strRef>
          </c:tx>
          <c:spPr>
            <a:solidFill>
              <a:schemeClr val="accent1"/>
            </a:solidFill>
            <a:ln w="9525" cap="flat">
              <a:solidFill>
                <a:srgbClr val="F9F9F9"/>
              </a:solidFill>
              <a:prstDash val="solid"/>
              <a:round/>
            </a:ln>
            <a:effectLst/>
          </c:spPr>
          <c:dPt>
            <c:idx val="0"/>
            <c:bubble3D val="0"/>
            <c:spPr>
              <a:solidFill>
                <a:srgbClr val="EF4444"/>
              </a:solidFill>
              <a:effectLst/>
            </c:spPr>
            <c:extLst>
              <c:ext xmlns:c16="http://schemas.microsoft.com/office/drawing/2014/chart" uri="{C3380CC4-5D6E-409C-BE32-E72D297353CC}">
                <c16:uniqueId val="{00000001-CE92-46FB-B790-3E742AEEB394}"/>
              </c:ext>
            </c:extLst>
          </c:dPt>
          <c:dPt>
            <c:idx val="1"/>
            <c:bubble3D val="0"/>
            <c:spPr>
              <a:solidFill>
                <a:srgbClr val="3B82F6"/>
              </a:solidFill>
              <a:effectLst/>
            </c:spPr>
            <c:extLst>
              <c:ext xmlns:c16="http://schemas.microsoft.com/office/drawing/2014/chart" uri="{C3380CC4-5D6E-409C-BE32-E72D297353CC}">
                <c16:uniqueId val="{00000003-CE92-46FB-B790-3E742AEEB394}"/>
              </c:ext>
            </c:extLst>
          </c:dPt>
          <c:dPt>
            <c:idx val="2"/>
            <c:bubble3D val="0"/>
            <c:spPr>
              <a:solidFill>
                <a:srgbClr val="F59E0B"/>
              </a:solidFill>
              <a:effectLst/>
            </c:spPr>
            <c:extLst>
              <c:ext xmlns:c16="http://schemas.microsoft.com/office/drawing/2014/chart" uri="{C3380CC4-5D6E-409C-BE32-E72D297353CC}">
                <c16:uniqueId val="{00000005-CE92-46FB-B790-3E742AEEB394}"/>
              </c:ext>
            </c:extLst>
          </c:dPt>
          <c:dPt>
            <c:idx val="3"/>
            <c:bubble3D val="0"/>
            <c:spPr>
              <a:solidFill>
                <a:srgbClr val="6B7280"/>
              </a:solidFill>
              <a:effectLst/>
            </c:spPr>
            <c:extLst>
              <c:ext xmlns:c16="http://schemas.microsoft.com/office/drawing/2014/chart" uri="{C3380CC4-5D6E-409C-BE32-E72D297353CC}">
                <c16:uniqueId val="{00000007-CE92-46FB-B790-3E742AEEB394}"/>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E92-46FB-B790-3E742AEEB394}"/>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E92-46FB-B790-3E742AEEB394}"/>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CE92-46FB-B790-3E742AEEB394}"/>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CE92-46FB-B790-3E742AEEB394}"/>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Personal &amp; Car Related</c:v>
                </c:pt>
                <c:pt idx="1">
                  <c:v>Customer Related</c:v>
                </c:pt>
                <c:pt idx="2">
                  <c:v>Customer Coughing/Sick</c:v>
                </c:pt>
                <c:pt idx="3">
                  <c:v>More than Permitted</c:v>
                </c:pt>
              </c:strCache>
            </c:strRef>
          </c:cat>
          <c:val>
            <c:numRef>
              <c:f>Sheet1!$B$2:$B$5</c:f>
              <c:numCache>
                <c:formatCode>General</c:formatCode>
                <c:ptCount val="4"/>
                <c:pt idx="0">
                  <c:v>6546</c:v>
                </c:pt>
                <c:pt idx="1">
                  <c:v>5410</c:v>
                </c:pt>
                <c:pt idx="2">
                  <c:v>3650</c:v>
                </c:pt>
                <c:pt idx="3">
                  <c:v>2830</c:v>
                </c:pt>
              </c:numCache>
            </c:numRef>
          </c:val>
          <c:extLst>
            <c:ext xmlns:c16="http://schemas.microsoft.com/office/drawing/2014/chart" uri="{C3380CC4-5D6E-409C-BE32-E72D297353CC}">
              <c16:uniqueId val="{00000008-CE92-46FB-B790-3E742AEEB394}"/>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7383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6.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0.png"/><Relationship Id="rId7"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C518"/>
          </a:solidFill>
          <a:ln/>
        </p:spPr>
      </p:sp>
      <p:sp>
        <p:nvSpPr>
          <p:cNvPr id="3" name="Shape 1"/>
          <p:cNvSpPr/>
          <p:nvPr/>
        </p:nvSpPr>
        <p:spPr>
          <a:xfrm>
            <a:off x="6858000" y="-731520"/>
            <a:ext cx="3200400" cy="3200400"/>
          </a:xfrm>
          <a:prstGeom prst="ellipse">
            <a:avLst/>
          </a:prstGeom>
          <a:solidFill>
            <a:srgbClr val="2D2D2D"/>
          </a:solidFill>
          <a:ln w="12700">
            <a:solidFill>
              <a:srgbClr val="2D2D2D"/>
            </a:solidFill>
            <a:prstDash val="solid"/>
          </a:ln>
        </p:spPr>
      </p:sp>
      <p:sp>
        <p:nvSpPr>
          <p:cNvPr id="4" name="Shape 2"/>
          <p:cNvSpPr/>
          <p:nvPr/>
        </p:nvSpPr>
        <p:spPr>
          <a:xfrm>
            <a:off x="7498080" y="2926080"/>
            <a:ext cx="2011680" cy="2011680"/>
          </a:xfrm>
          <a:prstGeom prst="ellipse">
            <a:avLst/>
          </a:prstGeom>
          <a:solidFill>
            <a:srgbClr val="262626"/>
          </a:solidFill>
          <a:ln w="12700">
            <a:solidFill>
              <a:srgbClr val="262626"/>
            </a:solidFill>
            <a:prstDash val="solid"/>
          </a:ln>
        </p:spPr>
      </p:sp>
      <p:sp>
        <p:nvSpPr>
          <p:cNvPr id="5" name="Shape 3"/>
          <p:cNvSpPr/>
          <p:nvPr/>
        </p:nvSpPr>
        <p:spPr>
          <a:xfrm>
            <a:off x="-320040" y="3474720"/>
            <a:ext cx="1645920" cy="1645920"/>
          </a:xfrm>
          <a:prstGeom prst="ellipse">
            <a:avLst/>
          </a:prstGeom>
          <a:solidFill>
            <a:srgbClr val="262626"/>
          </a:solidFill>
          <a:ln w="12700">
            <a:solidFill>
              <a:srgbClr val="262626"/>
            </a:solidFill>
            <a:prstDash val="solid"/>
          </a:ln>
        </p:spPr>
      </p:sp>
      <p:sp>
        <p:nvSpPr>
          <p:cNvPr id="6" name="Shape 4"/>
          <p:cNvSpPr/>
          <p:nvPr/>
        </p:nvSpPr>
        <p:spPr>
          <a:xfrm>
            <a:off x="6400800" y="274320"/>
            <a:ext cx="73152" cy="73152"/>
          </a:xfrm>
          <a:prstGeom prst="ellipse">
            <a:avLst/>
          </a:prstGeom>
          <a:solidFill>
            <a:srgbClr val="F5C518">
              <a:alpha val="40000"/>
            </a:srgbClr>
          </a:solidFill>
          <a:ln w="12700">
            <a:solidFill>
              <a:srgbClr val="F5C518">
                <a:alpha val="40000"/>
              </a:srgbClr>
            </a:solidFill>
            <a:prstDash val="solid"/>
          </a:ln>
        </p:spPr>
      </p:sp>
      <p:sp>
        <p:nvSpPr>
          <p:cNvPr id="7" name="Shape 5"/>
          <p:cNvSpPr/>
          <p:nvPr/>
        </p:nvSpPr>
        <p:spPr>
          <a:xfrm>
            <a:off x="6812280" y="274320"/>
            <a:ext cx="73152" cy="73152"/>
          </a:xfrm>
          <a:prstGeom prst="ellipse">
            <a:avLst/>
          </a:prstGeom>
          <a:solidFill>
            <a:srgbClr val="F5C518">
              <a:alpha val="40000"/>
            </a:srgbClr>
          </a:solidFill>
          <a:ln w="12700">
            <a:solidFill>
              <a:srgbClr val="F5C518">
                <a:alpha val="40000"/>
              </a:srgbClr>
            </a:solidFill>
            <a:prstDash val="solid"/>
          </a:ln>
        </p:spPr>
      </p:sp>
      <p:sp>
        <p:nvSpPr>
          <p:cNvPr id="8" name="Shape 6"/>
          <p:cNvSpPr/>
          <p:nvPr/>
        </p:nvSpPr>
        <p:spPr>
          <a:xfrm>
            <a:off x="7223760" y="274320"/>
            <a:ext cx="73152" cy="73152"/>
          </a:xfrm>
          <a:prstGeom prst="ellipse">
            <a:avLst/>
          </a:prstGeom>
          <a:solidFill>
            <a:srgbClr val="F5C518">
              <a:alpha val="40000"/>
            </a:srgbClr>
          </a:solidFill>
          <a:ln w="12700">
            <a:solidFill>
              <a:srgbClr val="F5C518">
                <a:alpha val="40000"/>
              </a:srgbClr>
            </a:solidFill>
            <a:prstDash val="solid"/>
          </a:ln>
        </p:spPr>
      </p:sp>
      <p:sp>
        <p:nvSpPr>
          <p:cNvPr id="9" name="Shape 7"/>
          <p:cNvSpPr/>
          <p:nvPr/>
        </p:nvSpPr>
        <p:spPr>
          <a:xfrm>
            <a:off x="7635240" y="274320"/>
            <a:ext cx="73152" cy="73152"/>
          </a:xfrm>
          <a:prstGeom prst="ellipse">
            <a:avLst/>
          </a:prstGeom>
          <a:solidFill>
            <a:srgbClr val="F5C518">
              <a:alpha val="40000"/>
            </a:srgbClr>
          </a:solidFill>
          <a:ln w="12700">
            <a:solidFill>
              <a:srgbClr val="F5C518">
                <a:alpha val="40000"/>
              </a:srgbClr>
            </a:solidFill>
            <a:prstDash val="solid"/>
          </a:ln>
        </p:spPr>
      </p:sp>
      <p:sp>
        <p:nvSpPr>
          <p:cNvPr id="10" name="Shape 8"/>
          <p:cNvSpPr/>
          <p:nvPr/>
        </p:nvSpPr>
        <p:spPr>
          <a:xfrm>
            <a:off x="8046720" y="274320"/>
            <a:ext cx="73152" cy="73152"/>
          </a:xfrm>
          <a:prstGeom prst="ellipse">
            <a:avLst/>
          </a:prstGeom>
          <a:solidFill>
            <a:srgbClr val="F5C518">
              <a:alpha val="40000"/>
            </a:srgbClr>
          </a:solidFill>
          <a:ln w="12700">
            <a:solidFill>
              <a:srgbClr val="F5C518">
                <a:alpha val="40000"/>
              </a:srgbClr>
            </a:solidFill>
            <a:prstDash val="solid"/>
          </a:ln>
        </p:spPr>
      </p:sp>
      <p:sp>
        <p:nvSpPr>
          <p:cNvPr id="11" name="Shape 9"/>
          <p:cNvSpPr/>
          <p:nvPr/>
        </p:nvSpPr>
        <p:spPr>
          <a:xfrm>
            <a:off x="6400800" y="685800"/>
            <a:ext cx="73152" cy="73152"/>
          </a:xfrm>
          <a:prstGeom prst="ellipse">
            <a:avLst/>
          </a:prstGeom>
          <a:solidFill>
            <a:srgbClr val="F5C518">
              <a:alpha val="40000"/>
            </a:srgbClr>
          </a:solidFill>
          <a:ln w="12700">
            <a:solidFill>
              <a:srgbClr val="F5C518">
                <a:alpha val="40000"/>
              </a:srgbClr>
            </a:solidFill>
            <a:prstDash val="solid"/>
          </a:ln>
        </p:spPr>
      </p:sp>
      <p:sp>
        <p:nvSpPr>
          <p:cNvPr id="12" name="Shape 10"/>
          <p:cNvSpPr/>
          <p:nvPr/>
        </p:nvSpPr>
        <p:spPr>
          <a:xfrm>
            <a:off x="6812280" y="685800"/>
            <a:ext cx="73152" cy="73152"/>
          </a:xfrm>
          <a:prstGeom prst="ellipse">
            <a:avLst/>
          </a:prstGeom>
          <a:solidFill>
            <a:srgbClr val="F5C518">
              <a:alpha val="40000"/>
            </a:srgbClr>
          </a:solidFill>
          <a:ln w="12700">
            <a:solidFill>
              <a:srgbClr val="F5C518">
                <a:alpha val="40000"/>
              </a:srgbClr>
            </a:solidFill>
            <a:prstDash val="solid"/>
          </a:ln>
        </p:spPr>
      </p:sp>
      <p:sp>
        <p:nvSpPr>
          <p:cNvPr id="13" name="Shape 11"/>
          <p:cNvSpPr/>
          <p:nvPr/>
        </p:nvSpPr>
        <p:spPr>
          <a:xfrm>
            <a:off x="7223760" y="685800"/>
            <a:ext cx="73152" cy="73152"/>
          </a:xfrm>
          <a:prstGeom prst="ellipse">
            <a:avLst/>
          </a:prstGeom>
          <a:solidFill>
            <a:srgbClr val="F5C518">
              <a:alpha val="40000"/>
            </a:srgbClr>
          </a:solidFill>
          <a:ln w="12700">
            <a:solidFill>
              <a:srgbClr val="F5C518">
                <a:alpha val="40000"/>
              </a:srgbClr>
            </a:solidFill>
            <a:prstDash val="solid"/>
          </a:ln>
        </p:spPr>
      </p:sp>
      <p:sp>
        <p:nvSpPr>
          <p:cNvPr id="14" name="Shape 12"/>
          <p:cNvSpPr/>
          <p:nvPr/>
        </p:nvSpPr>
        <p:spPr>
          <a:xfrm>
            <a:off x="7635240" y="685800"/>
            <a:ext cx="73152" cy="73152"/>
          </a:xfrm>
          <a:prstGeom prst="ellipse">
            <a:avLst/>
          </a:prstGeom>
          <a:solidFill>
            <a:srgbClr val="F5C518">
              <a:alpha val="40000"/>
            </a:srgbClr>
          </a:solidFill>
          <a:ln w="12700">
            <a:solidFill>
              <a:srgbClr val="F5C518">
                <a:alpha val="40000"/>
              </a:srgbClr>
            </a:solidFill>
            <a:prstDash val="solid"/>
          </a:ln>
        </p:spPr>
      </p:sp>
      <p:sp>
        <p:nvSpPr>
          <p:cNvPr id="15" name="Shape 13"/>
          <p:cNvSpPr/>
          <p:nvPr/>
        </p:nvSpPr>
        <p:spPr>
          <a:xfrm>
            <a:off x="8046720" y="685800"/>
            <a:ext cx="73152" cy="73152"/>
          </a:xfrm>
          <a:prstGeom prst="ellipse">
            <a:avLst/>
          </a:prstGeom>
          <a:solidFill>
            <a:srgbClr val="F5C518">
              <a:alpha val="40000"/>
            </a:srgbClr>
          </a:solidFill>
          <a:ln w="12700">
            <a:solidFill>
              <a:srgbClr val="F5C518">
                <a:alpha val="40000"/>
              </a:srgbClr>
            </a:solidFill>
            <a:prstDash val="solid"/>
          </a:ln>
        </p:spPr>
      </p:sp>
      <p:sp>
        <p:nvSpPr>
          <p:cNvPr id="16" name="Shape 14"/>
          <p:cNvSpPr/>
          <p:nvPr/>
        </p:nvSpPr>
        <p:spPr>
          <a:xfrm>
            <a:off x="6400800" y="1097280"/>
            <a:ext cx="73152" cy="73152"/>
          </a:xfrm>
          <a:prstGeom prst="ellipse">
            <a:avLst/>
          </a:prstGeom>
          <a:solidFill>
            <a:srgbClr val="F5C518">
              <a:alpha val="40000"/>
            </a:srgbClr>
          </a:solidFill>
          <a:ln w="12700">
            <a:solidFill>
              <a:srgbClr val="F5C518">
                <a:alpha val="40000"/>
              </a:srgbClr>
            </a:solidFill>
            <a:prstDash val="solid"/>
          </a:ln>
        </p:spPr>
      </p:sp>
      <p:sp>
        <p:nvSpPr>
          <p:cNvPr id="17" name="Shape 15"/>
          <p:cNvSpPr/>
          <p:nvPr/>
        </p:nvSpPr>
        <p:spPr>
          <a:xfrm>
            <a:off x="6812280" y="1097280"/>
            <a:ext cx="73152" cy="73152"/>
          </a:xfrm>
          <a:prstGeom prst="ellipse">
            <a:avLst/>
          </a:prstGeom>
          <a:solidFill>
            <a:srgbClr val="F5C518">
              <a:alpha val="40000"/>
            </a:srgbClr>
          </a:solidFill>
          <a:ln w="12700">
            <a:solidFill>
              <a:srgbClr val="F5C518">
                <a:alpha val="40000"/>
              </a:srgbClr>
            </a:solidFill>
            <a:prstDash val="solid"/>
          </a:ln>
        </p:spPr>
      </p:sp>
      <p:sp>
        <p:nvSpPr>
          <p:cNvPr id="18" name="Shape 16"/>
          <p:cNvSpPr/>
          <p:nvPr/>
        </p:nvSpPr>
        <p:spPr>
          <a:xfrm>
            <a:off x="7223760" y="1097280"/>
            <a:ext cx="73152" cy="73152"/>
          </a:xfrm>
          <a:prstGeom prst="ellipse">
            <a:avLst/>
          </a:prstGeom>
          <a:solidFill>
            <a:srgbClr val="F5C518">
              <a:alpha val="40000"/>
            </a:srgbClr>
          </a:solidFill>
          <a:ln w="12700">
            <a:solidFill>
              <a:srgbClr val="F5C518">
                <a:alpha val="40000"/>
              </a:srgbClr>
            </a:solidFill>
            <a:prstDash val="solid"/>
          </a:ln>
        </p:spPr>
      </p:sp>
      <p:sp>
        <p:nvSpPr>
          <p:cNvPr id="19" name="Shape 17"/>
          <p:cNvSpPr/>
          <p:nvPr/>
        </p:nvSpPr>
        <p:spPr>
          <a:xfrm>
            <a:off x="7635240" y="1097280"/>
            <a:ext cx="73152" cy="73152"/>
          </a:xfrm>
          <a:prstGeom prst="ellipse">
            <a:avLst/>
          </a:prstGeom>
          <a:solidFill>
            <a:srgbClr val="F5C518">
              <a:alpha val="40000"/>
            </a:srgbClr>
          </a:solidFill>
          <a:ln w="12700">
            <a:solidFill>
              <a:srgbClr val="F5C518">
                <a:alpha val="40000"/>
              </a:srgbClr>
            </a:solidFill>
            <a:prstDash val="solid"/>
          </a:ln>
        </p:spPr>
      </p:sp>
      <p:sp>
        <p:nvSpPr>
          <p:cNvPr id="20" name="Shape 18"/>
          <p:cNvSpPr/>
          <p:nvPr/>
        </p:nvSpPr>
        <p:spPr>
          <a:xfrm>
            <a:off x="8046720" y="1097280"/>
            <a:ext cx="73152" cy="73152"/>
          </a:xfrm>
          <a:prstGeom prst="ellipse">
            <a:avLst/>
          </a:prstGeom>
          <a:solidFill>
            <a:srgbClr val="F5C518">
              <a:alpha val="40000"/>
            </a:srgbClr>
          </a:solidFill>
          <a:ln w="12700">
            <a:solidFill>
              <a:srgbClr val="F5C518">
                <a:alpha val="40000"/>
              </a:srgbClr>
            </a:solidFill>
            <a:prstDash val="solid"/>
          </a:ln>
        </p:spPr>
      </p:sp>
      <p:sp>
        <p:nvSpPr>
          <p:cNvPr id="21" name="Shape 19"/>
          <p:cNvSpPr/>
          <p:nvPr/>
        </p:nvSpPr>
        <p:spPr>
          <a:xfrm>
            <a:off x="6400800" y="1508760"/>
            <a:ext cx="73152" cy="73152"/>
          </a:xfrm>
          <a:prstGeom prst="ellipse">
            <a:avLst/>
          </a:prstGeom>
          <a:solidFill>
            <a:srgbClr val="F5C518">
              <a:alpha val="40000"/>
            </a:srgbClr>
          </a:solidFill>
          <a:ln w="12700">
            <a:solidFill>
              <a:srgbClr val="F5C518">
                <a:alpha val="40000"/>
              </a:srgbClr>
            </a:solidFill>
            <a:prstDash val="solid"/>
          </a:ln>
        </p:spPr>
      </p:sp>
      <p:sp>
        <p:nvSpPr>
          <p:cNvPr id="22" name="Shape 20"/>
          <p:cNvSpPr/>
          <p:nvPr/>
        </p:nvSpPr>
        <p:spPr>
          <a:xfrm>
            <a:off x="6812280" y="1508760"/>
            <a:ext cx="73152" cy="73152"/>
          </a:xfrm>
          <a:prstGeom prst="ellipse">
            <a:avLst/>
          </a:prstGeom>
          <a:solidFill>
            <a:srgbClr val="F5C518">
              <a:alpha val="40000"/>
            </a:srgbClr>
          </a:solidFill>
          <a:ln w="12700">
            <a:solidFill>
              <a:srgbClr val="F5C518">
                <a:alpha val="40000"/>
              </a:srgbClr>
            </a:solidFill>
            <a:prstDash val="solid"/>
          </a:ln>
        </p:spPr>
      </p:sp>
      <p:sp>
        <p:nvSpPr>
          <p:cNvPr id="23" name="Shape 21"/>
          <p:cNvSpPr/>
          <p:nvPr/>
        </p:nvSpPr>
        <p:spPr>
          <a:xfrm>
            <a:off x="7223760" y="1508760"/>
            <a:ext cx="73152" cy="73152"/>
          </a:xfrm>
          <a:prstGeom prst="ellipse">
            <a:avLst/>
          </a:prstGeom>
          <a:solidFill>
            <a:srgbClr val="F5C518">
              <a:alpha val="40000"/>
            </a:srgbClr>
          </a:solidFill>
          <a:ln w="12700">
            <a:solidFill>
              <a:srgbClr val="F5C518">
                <a:alpha val="40000"/>
              </a:srgbClr>
            </a:solidFill>
            <a:prstDash val="solid"/>
          </a:ln>
        </p:spPr>
      </p:sp>
      <p:sp>
        <p:nvSpPr>
          <p:cNvPr id="24" name="Shape 22"/>
          <p:cNvSpPr/>
          <p:nvPr/>
        </p:nvSpPr>
        <p:spPr>
          <a:xfrm>
            <a:off x="7635240" y="1508760"/>
            <a:ext cx="73152" cy="73152"/>
          </a:xfrm>
          <a:prstGeom prst="ellipse">
            <a:avLst/>
          </a:prstGeom>
          <a:solidFill>
            <a:srgbClr val="F5C518">
              <a:alpha val="40000"/>
            </a:srgbClr>
          </a:solidFill>
          <a:ln w="12700">
            <a:solidFill>
              <a:srgbClr val="F5C518">
                <a:alpha val="40000"/>
              </a:srgbClr>
            </a:solidFill>
            <a:prstDash val="solid"/>
          </a:ln>
        </p:spPr>
      </p:sp>
      <p:sp>
        <p:nvSpPr>
          <p:cNvPr id="25" name="Shape 23"/>
          <p:cNvSpPr/>
          <p:nvPr/>
        </p:nvSpPr>
        <p:spPr>
          <a:xfrm>
            <a:off x="8046720" y="1508760"/>
            <a:ext cx="73152" cy="73152"/>
          </a:xfrm>
          <a:prstGeom prst="ellipse">
            <a:avLst/>
          </a:prstGeom>
          <a:solidFill>
            <a:srgbClr val="F5C518">
              <a:alpha val="40000"/>
            </a:srgbClr>
          </a:solidFill>
          <a:ln w="12700">
            <a:solidFill>
              <a:srgbClr val="F5C518">
                <a:alpha val="40000"/>
              </a:srgbClr>
            </a:solidFill>
            <a:prstDash val="solid"/>
          </a:ln>
        </p:spPr>
      </p:sp>
      <p:pic>
        <p:nvPicPr>
          <p:cNvPr id="26" name="Image 0" descr="preencoded.png"/>
          <p:cNvPicPr>
            <a:picLocks noChangeAspect="1"/>
          </p:cNvPicPr>
          <p:nvPr/>
        </p:nvPicPr>
        <p:blipFill>
          <a:blip r:embed="rId3"/>
          <a:stretch>
            <a:fillRect/>
          </a:stretch>
        </p:blipFill>
        <p:spPr>
          <a:xfrm>
            <a:off x="2468880" y="210312"/>
            <a:ext cx="1097280" cy="1097280"/>
          </a:xfrm>
          <a:prstGeom prst="rect">
            <a:avLst/>
          </a:prstGeom>
        </p:spPr>
      </p:pic>
      <p:sp>
        <p:nvSpPr>
          <p:cNvPr id="27" name="Text 24"/>
          <p:cNvSpPr/>
          <p:nvPr/>
        </p:nvSpPr>
        <p:spPr>
          <a:xfrm>
            <a:off x="274320" y="365760"/>
            <a:ext cx="5486400" cy="548640"/>
          </a:xfrm>
          <a:prstGeom prst="rect">
            <a:avLst/>
          </a:prstGeom>
          <a:noFill/>
          <a:ln/>
        </p:spPr>
        <p:txBody>
          <a:bodyPr wrap="square" rtlCol="0" anchor="ctr"/>
          <a:lstStyle/>
          <a:p>
            <a:pPr marL="0" indent="0">
              <a:buNone/>
            </a:pPr>
            <a:r>
              <a:rPr lang="en-US" sz="1100" b="1" kern="0" spc="800" dirty="0">
                <a:solidFill>
                  <a:srgbClr val="F5C518"/>
                </a:solidFill>
              </a:rPr>
              <a:t>ODISHA YATRI</a:t>
            </a:r>
            <a:endParaRPr lang="en-US" sz="1100" dirty="0"/>
          </a:p>
        </p:txBody>
      </p:sp>
      <p:sp>
        <p:nvSpPr>
          <p:cNvPr id="28" name="Text 25"/>
          <p:cNvSpPr/>
          <p:nvPr/>
        </p:nvSpPr>
        <p:spPr>
          <a:xfrm>
            <a:off x="274320" y="1005840"/>
            <a:ext cx="6858000" cy="777240"/>
          </a:xfrm>
          <a:prstGeom prst="rect">
            <a:avLst/>
          </a:prstGeom>
          <a:noFill/>
          <a:ln/>
        </p:spPr>
        <p:txBody>
          <a:bodyPr wrap="square" rtlCol="0" anchor="ctr"/>
          <a:lstStyle/>
          <a:p>
            <a:pPr marL="0" indent="0">
              <a:buNone/>
            </a:pPr>
            <a:r>
              <a:rPr lang="en-US" sz="3600" b="1" dirty="0">
                <a:solidFill>
                  <a:srgbClr val="FFFFFF"/>
                </a:solidFill>
              </a:rPr>
              <a:t>Data Analytics Project</a:t>
            </a:r>
            <a:endParaRPr lang="en-US" sz="3600" dirty="0"/>
          </a:p>
        </p:txBody>
      </p:sp>
      <p:sp>
        <p:nvSpPr>
          <p:cNvPr id="29" name="Text 26"/>
          <p:cNvSpPr/>
          <p:nvPr/>
        </p:nvSpPr>
        <p:spPr>
          <a:xfrm>
            <a:off x="274320" y="1737360"/>
            <a:ext cx="7132320" cy="594360"/>
          </a:xfrm>
          <a:prstGeom prst="rect">
            <a:avLst/>
          </a:prstGeom>
          <a:noFill/>
          <a:ln/>
        </p:spPr>
        <p:txBody>
          <a:bodyPr wrap="square" rtlCol="0" anchor="ctr"/>
          <a:lstStyle/>
          <a:p>
            <a:pPr marL="0" indent="0">
              <a:buNone/>
            </a:pPr>
            <a:r>
              <a:rPr lang="en-US" sz="2200" dirty="0">
                <a:solidFill>
                  <a:srgbClr val="F5C518"/>
                </a:solidFill>
              </a:rPr>
              <a:t>Ride Analysis &amp; Business Intelligence</a:t>
            </a:r>
            <a:endParaRPr lang="en-US" sz="2200" dirty="0"/>
          </a:p>
        </p:txBody>
      </p:sp>
      <p:sp>
        <p:nvSpPr>
          <p:cNvPr id="30" name="Shape 27"/>
          <p:cNvSpPr/>
          <p:nvPr/>
        </p:nvSpPr>
        <p:spPr>
          <a:xfrm>
            <a:off x="274320" y="2423160"/>
            <a:ext cx="3657600" cy="36576"/>
          </a:xfrm>
          <a:prstGeom prst="rect">
            <a:avLst/>
          </a:prstGeom>
          <a:solidFill>
            <a:srgbClr val="F5C518"/>
          </a:solidFill>
          <a:ln/>
        </p:spPr>
      </p:sp>
      <p:sp>
        <p:nvSpPr>
          <p:cNvPr id="31" name="Text 28"/>
          <p:cNvSpPr/>
          <p:nvPr/>
        </p:nvSpPr>
        <p:spPr>
          <a:xfrm>
            <a:off x="274320" y="2560320"/>
            <a:ext cx="5486400" cy="365760"/>
          </a:xfrm>
          <a:prstGeom prst="rect">
            <a:avLst/>
          </a:prstGeom>
          <a:noFill/>
          <a:ln/>
        </p:spPr>
        <p:txBody>
          <a:bodyPr wrap="square" rtlCol="0" anchor="ctr"/>
          <a:lstStyle/>
          <a:p>
            <a:pPr marL="0" indent="0">
              <a:buNone/>
            </a:pPr>
            <a:r>
              <a:rPr lang="en-US" sz="1400" b="1" dirty="0">
                <a:solidFill>
                  <a:srgbClr val="FFFFFF"/>
                </a:solidFill>
              </a:rPr>
              <a:t>Rajesh Biswal</a:t>
            </a:r>
            <a:r>
              <a:rPr lang="en-US" sz="1400" dirty="0">
                <a:solidFill>
                  <a:srgbClr val="AAAAAA"/>
                </a:solidFill>
              </a:rPr>
              <a:t>  |  MCA Final Year</a:t>
            </a:r>
            <a:endParaRPr lang="en-US" sz="1400" dirty="0"/>
          </a:p>
        </p:txBody>
      </p:sp>
      <p:sp>
        <p:nvSpPr>
          <p:cNvPr id="32" name="Shape 29"/>
          <p:cNvSpPr/>
          <p:nvPr/>
        </p:nvSpPr>
        <p:spPr>
          <a:xfrm>
            <a:off x="274320" y="3063240"/>
            <a:ext cx="1051560" cy="320040"/>
          </a:xfrm>
          <a:prstGeom prst="roundRect">
            <a:avLst>
              <a:gd name="adj" fmla="val 22857"/>
            </a:avLst>
          </a:prstGeom>
          <a:solidFill>
            <a:srgbClr val="F5C518"/>
          </a:solidFill>
          <a:ln/>
        </p:spPr>
      </p:sp>
      <p:sp>
        <p:nvSpPr>
          <p:cNvPr id="33" name="Text 30"/>
          <p:cNvSpPr/>
          <p:nvPr/>
        </p:nvSpPr>
        <p:spPr>
          <a:xfrm>
            <a:off x="274320" y="3063240"/>
            <a:ext cx="1051560" cy="320040"/>
          </a:xfrm>
          <a:prstGeom prst="rect">
            <a:avLst/>
          </a:prstGeom>
          <a:noFill/>
          <a:ln/>
        </p:spPr>
        <p:txBody>
          <a:bodyPr wrap="square" rtlCol="0" anchor="ctr"/>
          <a:lstStyle/>
          <a:p>
            <a:pPr marL="0" indent="0" algn="ctr">
              <a:buNone/>
            </a:pPr>
            <a:r>
              <a:rPr lang="en-US" sz="900" b="1" dirty="0">
                <a:solidFill>
                  <a:srgbClr val="1A1A1A"/>
                </a:solidFill>
              </a:rPr>
              <a:t>Excel</a:t>
            </a:r>
            <a:endParaRPr lang="en-US" sz="900" dirty="0"/>
          </a:p>
        </p:txBody>
      </p:sp>
      <p:sp>
        <p:nvSpPr>
          <p:cNvPr id="34" name="Shape 31"/>
          <p:cNvSpPr/>
          <p:nvPr/>
        </p:nvSpPr>
        <p:spPr>
          <a:xfrm>
            <a:off x="1600200" y="3063240"/>
            <a:ext cx="1051560" cy="320040"/>
          </a:xfrm>
          <a:prstGeom prst="roundRect">
            <a:avLst>
              <a:gd name="adj" fmla="val 22857"/>
            </a:avLst>
          </a:prstGeom>
          <a:solidFill>
            <a:srgbClr val="F5C518"/>
          </a:solidFill>
          <a:ln/>
        </p:spPr>
      </p:sp>
      <p:sp>
        <p:nvSpPr>
          <p:cNvPr id="35" name="Text 32"/>
          <p:cNvSpPr/>
          <p:nvPr/>
        </p:nvSpPr>
        <p:spPr>
          <a:xfrm>
            <a:off x="1600200" y="3054096"/>
            <a:ext cx="1051560" cy="320040"/>
          </a:xfrm>
          <a:prstGeom prst="rect">
            <a:avLst/>
          </a:prstGeom>
          <a:noFill/>
          <a:ln/>
        </p:spPr>
        <p:txBody>
          <a:bodyPr wrap="square" rtlCol="0" anchor="ctr"/>
          <a:lstStyle/>
          <a:p>
            <a:pPr marL="0" indent="0" algn="ctr">
              <a:buNone/>
            </a:pPr>
            <a:r>
              <a:rPr lang="en-US" sz="900" b="1" dirty="0">
                <a:solidFill>
                  <a:srgbClr val="1A1A1A"/>
                </a:solidFill>
              </a:rPr>
              <a:t>PostgreSQL</a:t>
            </a:r>
            <a:endParaRPr lang="en-US" sz="900" dirty="0"/>
          </a:p>
        </p:txBody>
      </p:sp>
      <p:sp>
        <p:nvSpPr>
          <p:cNvPr id="36" name="Shape 33"/>
          <p:cNvSpPr/>
          <p:nvPr/>
        </p:nvSpPr>
        <p:spPr>
          <a:xfrm>
            <a:off x="2926080" y="3063240"/>
            <a:ext cx="1051560" cy="320040"/>
          </a:xfrm>
          <a:prstGeom prst="roundRect">
            <a:avLst>
              <a:gd name="adj" fmla="val 22857"/>
            </a:avLst>
          </a:prstGeom>
          <a:solidFill>
            <a:srgbClr val="F5C518"/>
          </a:solidFill>
          <a:ln/>
        </p:spPr>
      </p:sp>
      <p:sp>
        <p:nvSpPr>
          <p:cNvPr id="37" name="Text 34"/>
          <p:cNvSpPr/>
          <p:nvPr/>
        </p:nvSpPr>
        <p:spPr>
          <a:xfrm>
            <a:off x="2926080" y="3063240"/>
            <a:ext cx="1051560" cy="320040"/>
          </a:xfrm>
          <a:prstGeom prst="rect">
            <a:avLst/>
          </a:prstGeom>
          <a:noFill/>
          <a:ln/>
        </p:spPr>
        <p:txBody>
          <a:bodyPr wrap="square" rtlCol="0" anchor="ctr"/>
          <a:lstStyle/>
          <a:p>
            <a:pPr marL="0" indent="0" algn="ctr">
              <a:buNone/>
            </a:pPr>
            <a:r>
              <a:rPr lang="en-US" sz="900" b="1" dirty="0">
                <a:solidFill>
                  <a:srgbClr val="1A1A1A"/>
                </a:solidFill>
              </a:rPr>
              <a:t>Power BI</a:t>
            </a:r>
            <a:endParaRPr lang="en-US" sz="900" dirty="0"/>
          </a:p>
        </p:txBody>
      </p:sp>
      <p:sp>
        <p:nvSpPr>
          <p:cNvPr id="38" name="Text 35"/>
          <p:cNvSpPr/>
          <p:nvPr/>
        </p:nvSpPr>
        <p:spPr>
          <a:xfrm>
            <a:off x="274320" y="4389120"/>
            <a:ext cx="6400800" cy="365760"/>
          </a:xfrm>
          <a:prstGeom prst="rect">
            <a:avLst/>
          </a:prstGeom>
          <a:noFill/>
          <a:ln/>
        </p:spPr>
        <p:txBody>
          <a:bodyPr wrap="square" rtlCol="0" anchor="ctr"/>
          <a:lstStyle/>
          <a:p>
            <a:pPr marL="0" indent="0">
              <a:buNone/>
            </a:pPr>
            <a:r>
              <a:rPr lang="en-US" sz="1100" i="1" dirty="0">
                <a:solidFill>
                  <a:schemeClr val="bg1">
                    <a:lumMod val="95000"/>
                  </a:schemeClr>
                </a:solidFill>
              </a:rPr>
              <a:t>Transforming Raw Ride Data into Actionable Insights</a:t>
            </a:r>
            <a:endParaRPr lang="en-US" sz="1100" dirty="0">
              <a:solidFill>
                <a:schemeClr val="bg1">
                  <a:lumMod val="95000"/>
                </a:schemeClr>
              </a:solidFill>
            </a:endParaRPr>
          </a:p>
        </p:txBody>
      </p:sp>
      <p:pic>
        <p:nvPicPr>
          <p:cNvPr id="39" name="Image 1" descr="preencoded.png"/>
          <p:cNvPicPr>
            <a:picLocks noChangeAspect="1"/>
          </p:cNvPicPr>
          <p:nvPr/>
        </p:nvPicPr>
        <p:blipFill>
          <a:blip r:embed="rId4"/>
          <a:stretch>
            <a:fillRect/>
          </a:stretch>
        </p:blipFill>
        <p:spPr>
          <a:xfrm>
            <a:off x="7132320" y="1645920"/>
            <a:ext cx="640080" cy="640080"/>
          </a:xfrm>
          <a:prstGeom prst="rect">
            <a:avLst/>
          </a:prstGeom>
        </p:spPr>
      </p:pic>
      <p:pic>
        <p:nvPicPr>
          <p:cNvPr id="40" name="Image 2" descr="preencoded.png"/>
          <p:cNvPicPr>
            <a:picLocks noChangeAspect="1"/>
          </p:cNvPicPr>
          <p:nvPr/>
        </p:nvPicPr>
        <p:blipFill>
          <a:blip r:embed="rId5"/>
          <a:stretch>
            <a:fillRect/>
          </a:stretch>
        </p:blipFill>
        <p:spPr>
          <a:xfrm>
            <a:off x="7955280" y="2194560"/>
            <a:ext cx="640080" cy="640080"/>
          </a:xfrm>
          <a:prstGeom prst="rect">
            <a:avLst/>
          </a:prstGeom>
        </p:spPr>
      </p:pic>
      <p:pic>
        <p:nvPicPr>
          <p:cNvPr id="41" name="Image 3" descr="preencoded.png"/>
          <p:cNvPicPr>
            <a:picLocks noChangeAspect="1"/>
          </p:cNvPicPr>
          <p:nvPr/>
        </p:nvPicPr>
        <p:blipFill>
          <a:blip r:embed="rId6"/>
          <a:stretch>
            <a:fillRect/>
          </a:stretch>
        </p:blipFill>
        <p:spPr>
          <a:xfrm>
            <a:off x="6949440" y="2743200"/>
            <a:ext cx="640080" cy="640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A1A"/>
          </a:solidFill>
          <a:ln/>
        </p:spPr>
      </p:sp>
      <p:sp>
        <p:nvSpPr>
          <p:cNvPr id="3" name="Text 1"/>
          <p:cNvSpPr/>
          <p:nvPr/>
        </p:nvSpPr>
        <p:spPr>
          <a:xfrm>
            <a:off x="365760" y="0"/>
            <a:ext cx="7315200" cy="594360"/>
          </a:xfrm>
          <a:prstGeom prst="rect">
            <a:avLst/>
          </a:prstGeom>
          <a:noFill/>
          <a:ln/>
        </p:spPr>
        <p:txBody>
          <a:bodyPr wrap="square" rtlCol="0" anchor="ctr"/>
          <a:lstStyle/>
          <a:p>
            <a:pPr marL="0" indent="0">
              <a:buNone/>
            </a:pPr>
            <a:r>
              <a:rPr lang="en-US" sz="1300" b="1" kern="0" spc="400" dirty="0">
                <a:solidFill>
                  <a:srgbClr val="F5C518"/>
                </a:solidFill>
              </a:rPr>
              <a:t>PROJECT OVERVIEW</a:t>
            </a:r>
            <a:endParaRPr lang="en-US" sz="1300" dirty="0"/>
          </a:p>
        </p:txBody>
      </p:sp>
      <p:sp>
        <p:nvSpPr>
          <p:cNvPr id="4" name="Shape 2"/>
          <p:cNvSpPr/>
          <p:nvPr/>
        </p:nvSpPr>
        <p:spPr>
          <a:xfrm>
            <a:off x="174087" y="1508760"/>
            <a:ext cx="4132385" cy="327777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sz="1600" dirty="0">
              <a:latin typeface="Aptos Narrow" panose="020B0004020202020204" pitchFamily="34" charset="0"/>
            </a:endParaRPr>
          </a:p>
          <a:p>
            <a:r>
              <a:rPr lang="en-US" sz="1400" dirty="0">
                <a:latin typeface="Aptos Narrow" panose="020B0004020202020204" pitchFamily="34" charset="0"/>
              </a:rPr>
              <a:t>This project analyzes Odisha Yatri ride-hailing data from July 2024 to understand booking trends, revenue generation, ride success, and cancellation rates. Using Excel, SQL, and Power BI, the dashboard provides meaningful insights from 103,024 booking records, helping evaluate operational performance, identify service challenges, and support data-driven decision-making for improving efficiency and customer satisfaction</a:t>
            </a:r>
            <a:r>
              <a:rPr lang="en-US" sz="1400" dirty="0"/>
              <a:t>.</a:t>
            </a:r>
            <a:endParaRPr lang="en-IN" sz="1400" dirty="0"/>
          </a:p>
        </p:txBody>
      </p:sp>
      <p:sp>
        <p:nvSpPr>
          <p:cNvPr id="5" name="Shape 3"/>
          <p:cNvSpPr/>
          <p:nvPr/>
        </p:nvSpPr>
        <p:spPr>
          <a:xfrm>
            <a:off x="274320" y="777240"/>
            <a:ext cx="3840480" cy="73152"/>
          </a:xfrm>
          <a:prstGeom prst="rect">
            <a:avLst/>
          </a:prstGeom>
          <a:solidFill>
            <a:srgbClr val="F5C518"/>
          </a:solidFill>
          <a:ln/>
        </p:spPr>
      </p:sp>
      <p:pic>
        <p:nvPicPr>
          <p:cNvPr id="6" name="Image 0" descr="preencoded.png"/>
          <p:cNvPicPr>
            <a:picLocks noChangeAspect="1"/>
          </p:cNvPicPr>
          <p:nvPr/>
        </p:nvPicPr>
        <p:blipFill>
          <a:blip r:embed="rId3"/>
          <a:stretch>
            <a:fillRect/>
          </a:stretch>
        </p:blipFill>
        <p:spPr>
          <a:xfrm>
            <a:off x="457200" y="960120"/>
            <a:ext cx="411480" cy="411480"/>
          </a:xfrm>
          <a:prstGeom prst="rect">
            <a:avLst/>
          </a:prstGeom>
        </p:spPr>
      </p:pic>
      <p:sp>
        <p:nvSpPr>
          <p:cNvPr id="7" name="Text 4"/>
          <p:cNvSpPr/>
          <p:nvPr/>
        </p:nvSpPr>
        <p:spPr>
          <a:xfrm>
            <a:off x="960120" y="960120"/>
            <a:ext cx="2926080" cy="411480"/>
          </a:xfrm>
          <a:prstGeom prst="rect">
            <a:avLst/>
          </a:prstGeom>
          <a:noFill/>
          <a:ln/>
        </p:spPr>
        <p:txBody>
          <a:bodyPr wrap="square" rtlCol="0" anchor="ctr"/>
          <a:lstStyle/>
          <a:p>
            <a:pPr marL="0" indent="0">
              <a:buNone/>
            </a:pPr>
            <a:r>
              <a:rPr lang="en-US" sz="1400" b="1" dirty="0">
                <a:solidFill>
                  <a:srgbClr val="1A1A1A"/>
                </a:solidFill>
              </a:rPr>
              <a:t>About the Project</a:t>
            </a:r>
            <a:endParaRPr lang="en-US" sz="1400" dirty="0"/>
          </a:p>
        </p:txBody>
      </p:sp>
      <p:sp>
        <p:nvSpPr>
          <p:cNvPr id="8" name="Text 5"/>
          <p:cNvSpPr/>
          <p:nvPr/>
        </p:nvSpPr>
        <p:spPr>
          <a:xfrm>
            <a:off x="502920" y="1508760"/>
            <a:ext cx="3474720" cy="2926080"/>
          </a:xfrm>
          <a:prstGeom prst="rect">
            <a:avLst/>
          </a:prstGeom>
          <a:noFill/>
          <a:ln/>
        </p:spPr>
        <p:txBody>
          <a:bodyPr wrap="square" rtlCol="0" anchor="ctr"/>
          <a:lstStyle/>
          <a:p>
            <a:pPr marL="342900" indent="-342900">
              <a:spcAft>
                <a:spcPts val="600"/>
              </a:spcAft>
              <a:buSzPct val="100000"/>
              <a:buChar char="•"/>
            </a:pPr>
            <a:endParaRPr lang="en-US" sz="1200" dirty="0"/>
          </a:p>
        </p:txBody>
      </p:sp>
      <p:sp>
        <p:nvSpPr>
          <p:cNvPr id="9" name="Shape 6"/>
          <p:cNvSpPr/>
          <p:nvPr/>
        </p:nvSpPr>
        <p:spPr>
          <a:xfrm>
            <a:off x="4663440" y="822960"/>
            <a:ext cx="2057400" cy="1645920"/>
          </a:xfrm>
          <a:prstGeom prst="rect">
            <a:avLst/>
          </a:prstGeom>
          <a:solidFill>
            <a:srgbClr val="1A1A1A"/>
          </a:solidFill>
          <a:ln/>
          <a:effectLst>
            <a:outerShdw blurRad="76200" dist="25400" dir="8100000" algn="bl" rotWithShape="0">
              <a:srgbClr val="000000">
                <a:alpha val="15000"/>
              </a:srgbClr>
            </a:outerShdw>
          </a:effectLst>
        </p:spPr>
      </p:sp>
      <p:pic>
        <p:nvPicPr>
          <p:cNvPr id="10" name="Image 1" descr="preencoded.png"/>
          <p:cNvPicPr>
            <a:picLocks noChangeAspect="1"/>
          </p:cNvPicPr>
          <p:nvPr/>
        </p:nvPicPr>
        <p:blipFill>
          <a:blip r:embed="rId4"/>
          <a:stretch>
            <a:fillRect/>
          </a:stretch>
        </p:blipFill>
        <p:spPr>
          <a:xfrm>
            <a:off x="4800600" y="960120"/>
            <a:ext cx="365760" cy="365760"/>
          </a:xfrm>
          <a:prstGeom prst="rect">
            <a:avLst/>
          </a:prstGeom>
        </p:spPr>
      </p:pic>
      <p:sp>
        <p:nvSpPr>
          <p:cNvPr id="11" name="Text 7"/>
          <p:cNvSpPr/>
          <p:nvPr/>
        </p:nvSpPr>
        <p:spPr>
          <a:xfrm>
            <a:off x="4663440" y="1325880"/>
            <a:ext cx="2057400" cy="640080"/>
          </a:xfrm>
          <a:prstGeom prst="rect">
            <a:avLst/>
          </a:prstGeom>
          <a:noFill/>
          <a:ln/>
        </p:spPr>
        <p:txBody>
          <a:bodyPr wrap="square" rtlCol="0" anchor="ctr"/>
          <a:lstStyle/>
          <a:p>
            <a:pPr marL="0" indent="0" algn="ctr">
              <a:buNone/>
            </a:pPr>
            <a:r>
              <a:rPr lang="en-US" sz="2200" b="1" dirty="0">
                <a:solidFill>
                  <a:srgbClr val="FFFFFF"/>
                </a:solidFill>
              </a:rPr>
              <a:t>103,024</a:t>
            </a:r>
            <a:endParaRPr lang="en-US" sz="2200" dirty="0"/>
          </a:p>
        </p:txBody>
      </p:sp>
      <p:sp>
        <p:nvSpPr>
          <p:cNvPr id="12" name="Text 8"/>
          <p:cNvSpPr/>
          <p:nvPr/>
        </p:nvSpPr>
        <p:spPr>
          <a:xfrm>
            <a:off x="4663440" y="1965960"/>
            <a:ext cx="2057400" cy="411480"/>
          </a:xfrm>
          <a:prstGeom prst="rect">
            <a:avLst/>
          </a:prstGeom>
          <a:noFill/>
          <a:ln/>
        </p:spPr>
        <p:txBody>
          <a:bodyPr wrap="square" rtlCol="0" anchor="ctr"/>
          <a:lstStyle/>
          <a:p>
            <a:pPr marL="0" indent="0" algn="ctr">
              <a:buNone/>
            </a:pPr>
            <a:r>
              <a:rPr lang="en-US" sz="1000" dirty="0">
                <a:solidFill>
                  <a:srgbClr val="FFFFFF"/>
                </a:solidFill>
              </a:rPr>
              <a:t>Total Bookings</a:t>
            </a:r>
            <a:endParaRPr lang="en-US" sz="1000" dirty="0"/>
          </a:p>
        </p:txBody>
      </p:sp>
      <p:sp>
        <p:nvSpPr>
          <p:cNvPr id="13" name="Shape 9"/>
          <p:cNvSpPr/>
          <p:nvPr/>
        </p:nvSpPr>
        <p:spPr>
          <a:xfrm>
            <a:off x="6858000" y="822960"/>
            <a:ext cx="2057400" cy="1645920"/>
          </a:xfrm>
          <a:prstGeom prst="rect">
            <a:avLst/>
          </a:prstGeom>
          <a:solidFill>
            <a:srgbClr val="F5C518"/>
          </a:solidFill>
          <a:ln/>
          <a:effectLst>
            <a:outerShdw blurRad="76200" dist="25400" dir="8100000" algn="bl" rotWithShape="0">
              <a:srgbClr val="000000">
                <a:alpha val="15000"/>
              </a:srgbClr>
            </a:outerShdw>
          </a:effectLst>
        </p:spPr>
      </p:sp>
      <p:pic>
        <p:nvPicPr>
          <p:cNvPr id="14" name="Image 2" descr="preencoded.png"/>
          <p:cNvPicPr>
            <a:picLocks noChangeAspect="1"/>
          </p:cNvPicPr>
          <p:nvPr/>
        </p:nvPicPr>
        <p:blipFill>
          <a:blip r:embed="rId5"/>
          <a:stretch>
            <a:fillRect/>
          </a:stretch>
        </p:blipFill>
        <p:spPr>
          <a:xfrm>
            <a:off x="6995160" y="960120"/>
            <a:ext cx="365760" cy="365760"/>
          </a:xfrm>
          <a:prstGeom prst="rect">
            <a:avLst/>
          </a:prstGeom>
        </p:spPr>
      </p:pic>
      <p:sp>
        <p:nvSpPr>
          <p:cNvPr id="15" name="Text 10"/>
          <p:cNvSpPr/>
          <p:nvPr/>
        </p:nvSpPr>
        <p:spPr>
          <a:xfrm>
            <a:off x="6858000" y="1325880"/>
            <a:ext cx="2057400" cy="640080"/>
          </a:xfrm>
          <a:prstGeom prst="rect">
            <a:avLst/>
          </a:prstGeom>
          <a:noFill/>
          <a:ln/>
        </p:spPr>
        <p:txBody>
          <a:bodyPr wrap="square" rtlCol="0" anchor="ctr"/>
          <a:lstStyle/>
          <a:p>
            <a:pPr marL="0" indent="0" algn="ctr">
              <a:buNone/>
            </a:pPr>
            <a:r>
              <a:rPr lang="en-US" sz="2200" b="1" dirty="0">
                <a:solidFill>
                  <a:srgbClr val="1A1A1A"/>
                </a:solidFill>
              </a:rPr>
              <a:t>₹35.08M</a:t>
            </a:r>
            <a:endParaRPr lang="en-US" sz="2200" dirty="0"/>
          </a:p>
        </p:txBody>
      </p:sp>
      <p:sp>
        <p:nvSpPr>
          <p:cNvPr id="16" name="Text 11"/>
          <p:cNvSpPr/>
          <p:nvPr/>
        </p:nvSpPr>
        <p:spPr>
          <a:xfrm>
            <a:off x="6858000" y="1965960"/>
            <a:ext cx="2057400" cy="411480"/>
          </a:xfrm>
          <a:prstGeom prst="rect">
            <a:avLst/>
          </a:prstGeom>
          <a:noFill/>
          <a:ln/>
        </p:spPr>
        <p:txBody>
          <a:bodyPr wrap="square" rtlCol="0" anchor="ctr"/>
          <a:lstStyle/>
          <a:p>
            <a:pPr marL="0" indent="0" algn="ctr">
              <a:buNone/>
            </a:pPr>
            <a:r>
              <a:rPr lang="en-US" sz="1000" dirty="0">
                <a:solidFill>
                  <a:srgbClr val="1A1A1A"/>
                </a:solidFill>
              </a:rPr>
              <a:t>Total Revenue</a:t>
            </a:r>
            <a:endParaRPr lang="en-US" sz="1000" dirty="0"/>
          </a:p>
        </p:txBody>
      </p:sp>
      <p:sp>
        <p:nvSpPr>
          <p:cNvPr id="17" name="Shape 12"/>
          <p:cNvSpPr/>
          <p:nvPr/>
        </p:nvSpPr>
        <p:spPr>
          <a:xfrm>
            <a:off x="4663440" y="2697480"/>
            <a:ext cx="2057400" cy="1645920"/>
          </a:xfrm>
          <a:prstGeom prst="rect">
            <a:avLst/>
          </a:prstGeom>
          <a:solidFill>
            <a:srgbClr val="10B981"/>
          </a:solidFill>
          <a:ln/>
          <a:effectLst>
            <a:outerShdw blurRad="76200" dist="25400" dir="8100000" algn="bl" rotWithShape="0">
              <a:srgbClr val="000000">
                <a:alpha val="15000"/>
              </a:srgbClr>
            </a:outerShdw>
          </a:effectLst>
        </p:spPr>
      </p:sp>
      <p:pic>
        <p:nvPicPr>
          <p:cNvPr id="18" name="Image 3" descr="preencoded.png"/>
          <p:cNvPicPr>
            <a:picLocks noChangeAspect="1"/>
          </p:cNvPicPr>
          <p:nvPr/>
        </p:nvPicPr>
        <p:blipFill>
          <a:blip r:embed="rId6"/>
          <a:stretch>
            <a:fillRect/>
          </a:stretch>
        </p:blipFill>
        <p:spPr>
          <a:xfrm>
            <a:off x="4800600" y="2834640"/>
            <a:ext cx="365760" cy="365760"/>
          </a:xfrm>
          <a:prstGeom prst="rect">
            <a:avLst/>
          </a:prstGeom>
        </p:spPr>
      </p:pic>
      <p:sp>
        <p:nvSpPr>
          <p:cNvPr id="19" name="Text 13"/>
          <p:cNvSpPr/>
          <p:nvPr/>
        </p:nvSpPr>
        <p:spPr>
          <a:xfrm>
            <a:off x="4663440" y="3200400"/>
            <a:ext cx="2057400" cy="640080"/>
          </a:xfrm>
          <a:prstGeom prst="rect">
            <a:avLst/>
          </a:prstGeom>
          <a:noFill/>
          <a:ln/>
        </p:spPr>
        <p:txBody>
          <a:bodyPr wrap="square" rtlCol="0" anchor="ctr"/>
          <a:lstStyle/>
          <a:p>
            <a:pPr marL="0" indent="0" algn="ctr">
              <a:buNone/>
            </a:pPr>
            <a:r>
              <a:rPr lang="en-US" sz="2200" b="1" dirty="0">
                <a:solidFill>
                  <a:srgbClr val="FFFFFF"/>
                </a:solidFill>
              </a:rPr>
              <a:t>63,967</a:t>
            </a:r>
            <a:endParaRPr lang="en-US" sz="2200" dirty="0"/>
          </a:p>
        </p:txBody>
      </p:sp>
      <p:sp>
        <p:nvSpPr>
          <p:cNvPr id="20" name="Text 14"/>
          <p:cNvSpPr/>
          <p:nvPr/>
        </p:nvSpPr>
        <p:spPr>
          <a:xfrm>
            <a:off x="4663440" y="3840480"/>
            <a:ext cx="2057400" cy="411480"/>
          </a:xfrm>
          <a:prstGeom prst="rect">
            <a:avLst/>
          </a:prstGeom>
          <a:noFill/>
          <a:ln/>
        </p:spPr>
        <p:txBody>
          <a:bodyPr wrap="square" rtlCol="0" anchor="ctr"/>
          <a:lstStyle/>
          <a:p>
            <a:pPr marL="0" indent="0" algn="ctr">
              <a:buNone/>
            </a:pPr>
            <a:r>
              <a:rPr lang="en-US" sz="1000" dirty="0">
                <a:solidFill>
                  <a:srgbClr val="FFFFFF"/>
                </a:solidFill>
              </a:rPr>
              <a:t>Successful Rides</a:t>
            </a:r>
            <a:endParaRPr lang="en-US" sz="1000" dirty="0"/>
          </a:p>
        </p:txBody>
      </p:sp>
      <p:sp>
        <p:nvSpPr>
          <p:cNvPr id="21" name="Shape 15"/>
          <p:cNvSpPr/>
          <p:nvPr/>
        </p:nvSpPr>
        <p:spPr>
          <a:xfrm>
            <a:off x="6858000" y="2697480"/>
            <a:ext cx="2057400" cy="1645920"/>
          </a:xfrm>
          <a:prstGeom prst="rect">
            <a:avLst/>
          </a:prstGeom>
          <a:solidFill>
            <a:srgbClr val="EF4444"/>
          </a:solidFill>
          <a:ln/>
          <a:effectLst>
            <a:outerShdw blurRad="76200" dist="25400" dir="8100000" algn="bl" rotWithShape="0">
              <a:srgbClr val="000000">
                <a:alpha val="15000"/>
              </a:srgbClr>
            </a:outerShdw>
          </a:effectLst>
        </p:spPr>
      </p:sp>
      <p:pic>
        <p:nvPicPr>
          <p:cNvPr id="22" name="Image 4" descr="preencoded.png"/>
          <p:cNvPicPr>
            <a:picLocks noChangeAspect="1"/>
          </p:cNvPicPr>
          <p:nvPr/>
        </p:nvPicPr>
        <p:blipFill>
          <a:blip r:embed="rId6"/>
          <a:stretch>
            <a:fillRect/>
          </a:stretch>
        </p:blipFill>
        <p:spPr>
          <a:xfrm>
            <a:off x="6995160" y="2834640"/>
            <a:ext cx="365760" cy="365760"/>
          </a:xfrm>
          <a:prstGeom prst="rect">
            <a:avLst/>
          </a:prstGeom>
        </p:spPr>
      </p:pic>
      <p:sp>
        <p:nvSpPr>
          <p:cNvPr id="23" name="Text 16"/>
          <p:cNvSpPr/>
          <p:nvPr/>
        </p:nvSpPr>
        <p:spPr>
          <a:xfrm>
            <a:off x="6858000" y="3200400"/>
            <a:ext cx="2057400" cy="640080"/>
          </a:xfrm>
          <a:prstGeom prst="rect">
            <a:avLst/>
          </a:prstGeom>
          <a:noFill/>
          <a:ln/>
        </p:spPr>
        <p:txBody>
          <a:bodyPr wrap="square" rtlCol="0" anchor="ctr"/>
          <a:lstStyle/>
          <a:p>
            <a:pPr marL="0" indent="0" algn="ctr">
              <a:buNone/>
            </a:pPr>
            <a:r>
              <a:rPr lang="en-US" sz="2200" b="1" dirty="0">
                <a:solidFill>
                  <a:srgbClr val="FFFFFF"/>
                </a:solidFill>
              </a:rPr>
              <a:t>28.08%</a:t>
            </a:r>
            <a:endParaRPr lang="en-US" sz="2200" dirty="0"/>
          </a:p>
        </p:txBody>
      </p:sp>
      <p:sp>
        <p:nvSpPr>
          <p:cNvPr id="24" name="Text 17"/>
          <p:cNvSpPr/>
          <p:nvPr/>
        </p:nvSpPr>
        <p:spPr>
          <a:xfrm>
            <a:off x="6858000" y="3840480"/>
            <a:ext cx="2057400" cy="411480"/>
          </a:xfrm>
          <a:prstGeom prst="rect">
            <a:avLst/>
          </a:prstGeom>
          <a:noFill/>
          <a:ln/>
        </p:spPr>
        <p:txBody>
          <a:bodyPr wrap="square" rtlCol="0" anchor="ctr"/>
          <a:lstStyle/>
          <a:p>
            <a:pPr marL="0" indent="0" algn="ctr">
              <a:buNone/>
            </a:pPr>
            <a:r>
              <a:rPr lang="en-US" sz="1000" dirty="0">
                <a:solidFill>
                  <a:srgbClr val="FFFFFF"/>
                </a:solidFill>
              </a:rPr>
              <a:t>Cancellation Rate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502920"/>
          </a:xfrm>
          <a:prstGeom prst="rect">
            <a:avLst/>
          </a:prstGeom>
          <a:noFill/>
          <a:ln/>
        </p:spPr>
        <p:txBody>
          <a:bodyPr wrap="square" rtlCol="0" anchor="ctr"/>
          <a:lstStyle/>
          <a:p>
            <a:pPr marL="0" indent="0">
              <a:buNone/>
            </a:pPr>
            <a:r>
              <a:rPr lang="en-US" sz="1300" b="1" kern="0" spc="400" dirty="0">
                <a:solidFill>
                  <a:srgbClr val="F5C518"/>
                </a:solidFill>
              </a:rPr>
              <a:t>DATA PIPELINE</a:t>
            </a:r>
            <a:endParaRPr lang="en-US" sz="1300" dirty="0"/>
          </a:p>
        </p:txBody>
      </p:sp>
      <p:sp>
        <p:nvSpPr>
          <p:cNvPr id="3" name="Text 1"/>
          <p:cNvSpPr/>
          <p:nvPr/>
        </p:nvSpPr>
        <p:spPr>
          <a:xfrm>
            <a:off x="365760" y="685800"/>
            <a:ext cx="8229600" cy="365760"/>
          </a:xfrm>
          <a:prstGeom prst="rect">
            <a:avLst/>
          </a:prstGeom>
          <a:noFill/>
          <a:ln/>
        </p:spPr>
        <p:txBody>
          <a:bodyPr wrap="square" rtlCol="0" anchor="ctr"/>
          <a:lstStyle/>
          <a:p>
            <a:pPr marL="0" indent="0">
              <a:buNone/>
            </a:pPr>
            <a:r>
              <a:rPr lang="en-US" sz="1600" dirty="0">
                <a:solidFill>
                  <a:srgbClr val="CCCCCC"/>
                </a:solidFill>
              </a:rPr>
              <a:t>From Raw Data to Business Insights</a:t>
            </a:r>
            <a:endParaRPr lang="en-US" sz="1600" dirty="0"/>
          </a:p>
        </p:txBody>
      </p:sp>
      <p:sp>
        <p:nvSpPr>
          <p:cNvPr id="4" name="Shape 2"/>
          <p:cNvSpPr/>
          <p:nvPr/>
        </p:nvSpPr>
        <p:spPr>
          <a:xfrm>
            <a:off x="274320" y="1280160"/>
            <a:ext cx="1536192" cy="2834640"/>
          </a:xfrm>
          <a:prstGeom prst="rect">
            <a:avLst/>
          </a:prstGeom>
          <a:solidFill>
            <a:srgbClr val="2D2D2D"/>
          </a:solidFill>
          <a:ln/>
          <a:effectLst>
            <a:outerShdw blurRad="101600" dist="38100" dir="8100000" algn="bl" rotWithShape="0">
              <a:srgbClr val="000000">
                <a:alpha val="25000"/>
              </a:srgbClr>
            </a:outerShdw>
          </a:effectLst>
        </p:spPr>
      </p:sp>
      <p:sp>
        <p:nvSpPr>
          <p:cNvPr id="5" name="Shape 3"/>
          <p:cNvSpPr/>
          <p:nvPr/>
        </p:nvSpPr>
        <p:spPr>
          <a:xfrm>
            <a:off x="274320" y="1280160"/>
            <a:ext cx="1508760" cy="73152"/>
          </a:xfrm>
          <a:prstGeom prst="rect">
            <a:avLst/>
          </a:prstGeom>
          <a:solidFill>
            <a:srgbClr val="F5C518"/>
          </a:solidFill>
          <a:ln/>
        </p:spPr>
      </p:sp>
      <p:sp>
        <p:nvSpPr>
          <p:cNvPr id="6" name="Shape 4"/>
          <p:cNvSpPr/>
          <p:nvPr/>
        </p:nvSpPr>
        <p:spPr>
          <a:xfrm>
            <a:off x="777240" y="1371600"/>
            <a:ext cx="502920" cy="502920"/>
          </a:xfrm>
          <a:prstGeom prst="ellipse">
            <a:avLst/>
          </a:prstGeom>
          <a:solidFill>
            <a:srgbClr val="F5C518"/>
          </a:solidFill>
          <a:ln w="12700">
            <a:solidFill>
              <a:srgbClr val="F5C518"/>
            </a:solidFill>
            <a:prstDash val="solid"/>
          </a:ln>
        </p:spPr>
      </p:sp>
      <p:sp>
        <p:nvSpPr>
          <p:cNvPr id="7" name="Text 5"/>
          <p:cNvSpPr/>
          <p:nvPr/>
        </p:nvSpPr>
        <p:spPr>
          <a:xfrm>
            <a:off x="777240" y="1371600"/>
            <a:ext cx="502920" cy="502920"/>
          </a:xfrm>
          <a:prstGeom prst="rect">
            <a:avLst/>
          </a:prstGeom>
          <a:noFill/>
          <a:ln/>
        </p:spPr>
        <p:txBody>
          <a:bodyPr wrap="square" rtlCol="0" anchor="ctr"/>
          <a:lstStyle/>
          <a:p>
            <a:pPr marL="0" indent="0" algn="ctr">
              <a:buNone/>
            </a:pPr>
            <a:r>
              <a:rPr lang="en-US" sz="1400" b="1" dirty="0">
                <a:solidFill>
                  <a:srgbClr val="1A1A1A"/>
                </a:solidFill>
              </a:rPr>
              <a:t>1</a:t>
            </a:r>
            <a:endParaRPr lang="en-US" sz="1400" dirty="0"/>
          </a:p>
        </p:txBody>
      </p:sp>
      <p:pic>
        <p:nvPicPr>
          <p:cNvPr id="8" name="Image 0" descr="preencoded.png"/>
          <p:cNvPicPr>
            <a:picLocks noChangeAspect="1"/>
          </p:cNvPicPr>
          <p:nvPr/>
        </p:nvPicPr>
        <p:blipFill>
          <a:blip r:embed="rId3"/>
          <a:stretch>
            <a:fillRect/>
          </a:stretch>
        </p:blipFill>
        <p:spPr>
          <a:xfrm>
            <a:off x="800100" y="2011680"/>
            <a:ext cx="457200" cy="457200"/>
          </a:xfrm>
          <a:prstGeom prst="rect">
            <a:avLst/>
          </a:prstGeom>
        </p:spPr>
      </p:pic>
      <p:sp>
        <p:nvSpPr>
          <p:cNvPr id="9" name="Text 6"/>
          <p:cNvSpPr/>
          <p:nvPr/>
        </p:nvSpPr>
        <p:spPr>
          <a:xfrm>
            <a:off x="274320" y="2606040"/>
            <a:ext cx="1508760" cy="457200"/>
          </a:xfrm>
          <a:prstGeom prst="rect">
            <a:avLst/>
          </a:prstGeom>
          <a:noFill/>
          <a:ln/>
        </p:spPr>
        <p:txBody>
          <a:bodyPr wrap="square" rtlCol="0" anchor="ctr"/>
          <a:lstStyle/>
          <a:p>
            <a:pPr marL="0" indent="0" algn="ctr">
              <a:buNone/>
            </a:pPr>
            <a:r>
              <a:rPr lang="en-US" sz="1100" b="1" dirty="0">
                <a:solidFill>
                  <a:srgbClr val="F5C518"/>
                </a:solidFill>
              </a:rPr>
              <a:t>RAW DATA</a:t>
            </a:r>
            <a:endParaRPr lang="en-US" sz="1100" dirty="0"/>
          </a:p>
        </p:txBody>
      </p:sp>
      <p:sp>
        <p:nvSpPr>
          <p:cNvPr id="10" name="Text 7"/>
          <p:cNvSpPr/>
          <p:nvPr/>
        </p:nvSpPr>
        <p:spPr>
          <a:xfrm>
            <a:off x="274320" y="3063240"/>
            <a:ext cx="1508760" cy="914400"/>
          </a:xfrm>
          <a:prstGeom prst="rect">
            <a:avLst/>
          </a:prstGeom>
          <a:noFill/>
          <a:ln/>
        </p:spPr>
        <p:txBody>
          <a:bodyPr wrap="square" rtlCol="0" anchor="ctr"/>
          <a:lstStyle/>
          <a:p>
            <a:pPr marL="0" indent="0" algn="ctr">
              <a:buNone/>
            </a:pPr>
            <a:r>
              <a:rPr lang="en-US" sz="900" dirty="0">
                <a:solidFill>
                  <a:srgbClr val="CCCCCC"/>
                </a:solidFill>
              </a:rPr>
              <a:t>103,024 rows</a:t>
            </a:r>
            <a:endParaRPr lang="en-US" sz="900" dirty="0"/>
          </a:p>
          <a:p>
            <a:pPr marL="0" indent="0" algn="ctr">
              <a:buNone/>
            </a:pPr>
            <a:r>
              <a:rPr lang="en-US" sz="900" dirty="0">
                <a:solidFill>
                  <a:srgbClr val="CCCCCC"/>
                </a:solidFill>
              </a:rPr>
              <a:t>19 columns</a:t>
            </a:r>
            <a:endParaRPr lang="en-US" sz="900" dirty="0"/>
          </a:p>
        </p:txBody>
      </p:sp>
      <p:pic>
        <p:nvPicPr>
          <p:cNvPr id="11" name="Image 1" descr="preencoded.png"/>
          <p:cNvPicPr>
            <a:picLocks noChangeAspect="1"/>
          </p:cNvPicPr>
          <p:nvPr/>
        </p:nvPicPr>
        <p:blipFill>
          <a:blip r:embed="rId4"/>
          <a:stretch>
            <a:fillRect/>
          </a:stretch>
        </p:blipFill>
        <p:spPr>
          <a:xfrm>
            <a:off x="1810512" y="2606040"/>
            <a:ext cx="182880" cy="182880"/>
          </a:xfrm>
          <a:prstGeom prst="rect">
            <a:avLst/>
          </a:prstGeom>
        </p:spPr>
      </p:pic>
      <p:sp>
        <p:nvSpPr>
          <p:cNvPr id="12" name="Shape 8"/>
          <p:cNvSpPr/>
          <p:nvPr/>
        </p:nvSpPr>
        <p:spPr>
          <a:xfrm>
            <a:off x="2029968" y="1280160"/>
            <a:ext cx="1508760" cy="2834640"/>
          </a:xfrm>
          <a:prstGeom prst="rect">
            <a:avLst/>
          </a:prstGeom>
          <a:solidFill>
            <a:srgbClr val="1A472A"/>
          </a:solidFill>
          <a:ln/>
          <a:effectLst>
            <a:outerShdw blurRad="101600" dist="38100" dir="8100000" algn="bl" rotWithShape="0">
              <a:srgbClr val="000000">
                <a:alpha val="25000"/>
              </a:srgbClr>
            </a:outerShdw>
          </a:effectLst>
        </p:spPr>
      </p:sp>
      <p:sp>
        <p:nvSpPr>
          <p:cNvPr id="13" name="Shape 9"/>
          <p:cNvSpPr/>
          <p:nvPr/>
        </p:nvSpPr>
        <p:spPr>
          <a:xfrm>
            <a:off x="2029968" y="1280160"/>
            <a:ext cx="1508760" cy="73152"/>
          </a:xfrm>
          <a:prstGeom prst="rect">
            <a:avLst/>
          </a:prstGeom>
          <a:solidFill>
            <a:srgbClr val="F5C518"/>
          </a:solidFill>
          <a:ln/>
        </p:spPr>
      </p:sp>
      <p:sp>
        <p:nvSpPr>
          <p:cNvPr id="14" name="Shape 10"/>
          <p:cNvSpPr/>
          <p:nvPr/>
        </p:nvSpPr>
        <p:spPr>
          <a:xfrm>
            <a:off x="2532888" y="1371600"/>
            <a:ext cx="502920" cy="502920"/>
          </a:xfrm>
          <a:prstGeom prst="ellipse">
            <a:avLst/>
          </a:prstGeom>
          <a:solidFill>
            <a:srgbClr val="F5C518"/>
          </a:solidFill>
          <a:ln w="12700">
            <a:solidFill>
              <a:srgbClr val="F5C518"/>
            </a:solidFill>
            <a:prstDash val="solid"/>
          </a:ln>
        </p:spPr>
      </p:sp>
      <p:sp>
        <p:nvSpPr>
          <p:cNvPr id="15" name="Text 11"/>
          <p:cNvSpPr/>
          <p:nvPr/>
        </p:nvSpPr>
        <p:spPr>
          <a:xfrm>
            <a:off x="2532888" y="1371600"/>
            <a:ext cx="502920" cy="502920"/>
          </a:xfrm>
          <a:prstGeom prst="rect">
            <a:avLst/>
          </a:prstGeom>
          <a:noFill/>
          <a:ln/>
        </p:spPr>
        <p:txBody>
          <a:bodyPr wrap="square" rtlCol="0" anchor="ctr"/>
          <a:lstStyle/>
          <a:p>
            <a:pPr marL="0" indent="0" algn="ctr">
              <a:buNone/>
            </a:pPr>
            <a:r>
              <a:rPr lang="en-US" sz="1400" b="1" dirty="0">
                <a:solidFill>
                  <a:srgbClr val="1A1A1A"/>
                </a:solidFill>
              </a:rPr>
              <a:t>2</a:t>
            </a:r>
            <a:endParaRPr lang="en-US" sz="1400" dirty="0"/>
          </a:p>
        </p:txBody>
      </p:sp>
      <p:pic>
        <p:nvPicPr>
          <p:cNvPr id="16" name="Image 2" descr="preencoded.png"/>
          <p:cNvPicPr>
            <a:picLocks noChangeAspect="1"/>
          </p:cNvPicPr>
          <p:nvPr/>
        </p:nvPicPr>
        <p:blipFill>
          <a:blip r:embed="rId5"/>
          <a:stretch>
            <a:fillRect/>
          </a:stretch>
        </p:blipFill>
        <p:spPr>
          <a:xfrm>
            <a:off x="2555748" y="2011680"/>
            <a:ext cx="457200" cy="457200"/>
          </a:xfrm>
          <a:prstGeom prst="rect">
            <a:avLst/>
          </a:prstGeom>
        </p:spPr>
      </p:pic>
      <p:sp>
        <p:nvSpPr>
          <p:cNvPr id="17" name="Text 12"/>
          <p:cNvSpPr/>
          <p:nvPr/>
        </p:nvSpPr>
        <p:spPr>
          <a:xfrm>
            <a:off x="2029968" y="2606040"/>
            <a:ext cx="1508760" cy="457200"/>
          </a:xfrm>
          <a:prstGeom prst="rect">
            <a:avLst/>
          </a:prstGeom>
          <a:noFill/>
          <a:ln/>
        </p:spPr>
        <p:txBody>
          <a:bodyPr wrap="square" rtlCol="0" anchor="ctr"/>
          <a:lstStyle/>
          <a:p>
            <a:pPr marL="0" indent="0" algn="ctr">
              <a:buNone/>
            </a:pPr>
            <a:r>
              <a:rPr lang="en-US" sz="1100" b="1" dirty="0">
                <a:solidFill>
                  <a:srgbClr val="F5C518"/>
                </a:solidFill>
              </a:rPr>
              <a:t>EXCEL</a:t>
            </a:r>
            <a:endParaRPr lang="en-US" sz="1100" dirty="0"/>
          </a:p>
        </p:txBody>
      </p:sp>
      <p:sp>
        <p:nvSpPr>
          <p:cNvPr id="18" name="Text 13"/>
          <p:cNvSpPr/>
          <p:nvPr/>
        </p:nvSpPr>
        <p:spPr>
          <a:xfrm>
            <a:off x="2029968" y="3063240"/>
            <a:ext cx="1508760" cy="914400"/>
          </a:xfrm>
          <a:prstGeom prst="rect">
            <a:avLst/>
          </a:prstGeom>
          <a:noFill/>
          <a:ln/>
        </p:spPr>
        <p:txBody>
          <a:bodyPr wrap="square" rtlCol="0" anchor="ctr"/>
          <a:lstStyle/>
          <a:p>
            <a:pPr marL="0" indent="0" algn="ctr">
              <a:buNone/>
            </a:pPr>
            <a:r>
              <a:rPr lang="en-US" sz="900" dirty="0">
                <a:solidFill>
                  <a:srgbClr val="CCCCCC"/>
                </a:solidFill>
              </a:rPr>
              <a:t>Data cleaning</a:t>
            </a:r>
            <a:endParaRPr lang="en-US" sz="900" dirty="0"/>
          </a:p>
          <a:p>
            <a:pPr marL="0" indent="0" algn="ctr">
              <a:buNone/>
            </a:pPr>
            <a:r>
              <a:rPr lang="en-US" sz="900" dirty="0">
                <a:solidFill>
                  <a:srgbClr val="CCCCCC"/>
                </a:solidFill>
              </a:rPr>
              <a:t>&amp; duplication</a:t>
            </a:r>
            <a:endParaRPr lang="en-US" sz="900" dirty="0"/>
          </a:p>
        </p:txBody>
      </p:sp>
      <p:pic>
        <p:nvPicPr>
          <p:cNvPr id="19" name="Image 3" descr="preencoded.png"/>
          <p:cNvPicPr>
            <a:picLocks noChangeAspect="1"/>
          </p:cNvPicPr>
          <p:nvPr/>
        </p:nvPicPr>
        <p:blipFill>
          <a:blip r:embed="rId4"/>
          <a:stretch>
            <a:fillRect/>
          </a:stretch>
        </p:blipFill>
        <p:spPr>
          <a:xfrm>
            <a:off x="3566160" y="2606040"/>
            <a:ext cx="182880" cy="182880"/>
          </a:xfrm>
          <a:prstGeom prst="rect">
            <a:avLst/>
          </a:prstGeom>
        </p:spPr>
      </p:pic>
      <p:sp>
        <p:nvSpPr>
          <p:cNvPr id="20" name="Shape 14"/>
          <p:cNvSpPr/>
          <p:nvPr/>
        </p:nvSpPr>
        <p:spPr>
          <a:xfrm>
            <a:off x="3785616" y="1280160"/>
            <a:ext cx="1545336" cy="2834640"/>
          </a:xfrm>
          <a:prstGeom prst="rect">
            <a:avLst/>
          </a:prstGeom>
          <a:solidFill>
            <a:srgbClr val="1E3A5F"/>
          </a:solidFill>
          <a:ln/>
          <a:effectLst>
            <a:outerShdw blurRad="101600" dist="38100" dir="8100000" algn="bl" rotWithShape="0">
              <a:srgbClr val="000000">
                <a:alpha val="25000"/>
              </a:srgbClr>
            </a:outerShdw>
          </a:effectLst>
        </p:spPr>
      </p:sp>
      <p:sp>
        <p:nvSpPr>
          <p:cNvPr id="21" name="Shape 15"/>
          <p:cNvSpPr/>
          <p:nvPr/>
        </p:nvSpPr>
        <p:spPr>
          <a:xfrm>
            <a:off x="3785616" y="1280160"/>
            <a:ext cx="1508760" cy="73152"/>
          </a:xfrm>
          <a:prstGeom prst="rect">
            <a:avLst/>
          </a:prstGeom>
          <a:solidFill>
            <a:srgbClr val="F5C518"/>
          </a:solidFill>
          <a:ln/>
        </p:spPr>
      </p:sp>
      <p:sp>
        <p:nvSpPr>
          <p:cNvPr id="22" name="Shape 16"/>
          <p:cNvSpPr/>
          <p:nvPr/>
        </p:nvSpPr>
        <p:spPr>
          <a:xfrm>
            <a:off x="4288536" y="1371600"/>
            <a:ext cx="502920" cy="502920"/>
          </a:xfrm>
          <a:prstGeom prst="ellipse">
            <a:avLst/>
          </a:prstGeom>
          <a:solidFill>
            <a:srgbClr val="F5C518"/>
          </a:solidFill>
          <a:ln w="12700">
            <a:solidFill>
              <a:srgbClr val="F5C518"/>
            </a:solidFill>
            <a:prstDash val="solid"/>
          </a:ln>
        </p:spPr>
      </p:sp>
      <p:sp>
        <p:nvSpPr>
          <p:cNvPr id="23" name="Text 17"/>
          <p:cNvSpPr/>
          <p:nvPr/>
        </p:nvSpPr>
        <p:spPr>
          <a:xfrm>
            <a:off x="4288536" y="1371600"/>
            <a:ext cx="502920" cy="502920"/>
          </a:xfrm>
          <a:prstGeom prst="rect">
            <a:avLst/>
          </a:prstGeom>
          <a:noFill/>
          <a:ln/>
        </p:spPr>
        <p:txBody>
          <a:bodyPr wrap="square" rtlCol="0" anchor="ctr"/>
          <a:lstStyle/>
          <a:p>
            <a:pPr marL="0" indent="0" algn="ctr">
              <a:buNone/>
            </a:pPr>
            <a:r>
              <a:rPr lang="en-US" sz="1400" b="1" dirty="0">
                <a:solidFill>
                  <a:srgbClr val="1A1A1A"/>
                </a:solidFill>
              </a:rPr>
              <a:t>3</a:t>
            </a:r>
            <a:endParaRPr lang="en-US" sz="1400" dirty="0"/>
          </a:p>
        </p:txBody>
      </p:sp>
      <p:pic>
        <p:nvPicPr>
          <p:cNvPr id="24" name="Image 4" descr="preencoded.png"/>
          <p:cNvPicPr>
            <a:picLocks noChangeAspect="1"/>
          </p:cNvPicPr>
          <p:nvPr/>
        </p:nvPicPr>
        <p:blipFill>
          <a:blip r:embed="rId6"/>
          <a:stretch>
            <a:fillRect/>
          </a:stretch>
        </p:blipFill>
        <p:spPr>
          <a:xfrm>
            <a:off x="4311396" y="2011680"/>
            <a:ext cx="457200" cy="457200"/>
          </a:xfrm>
          <a:prstGeom prst="rect">
            <a:avLst/>
          </a:prstGeom>
        </p:spPr>
      </p:pic>
      <p:sp>
        <p:nvSpPr>
          <p:cNvPr id="25" name="Text 18"/>
          <p:cNvSpPr/>
          <p:nvPr/>
        </p:nvSpPr>
        <p:spPr>
          <a:xfrm>
            <a:off x="3785616" y="2606040"/>
            <a:ext cx="1508760" cy="457200"/>
          </a:xfrm>
          <a:prstGeom prst="rect">
            <a:avLst/>
          </a:prstGeom>
          <a:noFill/>
          <a:ln/>
        </p:spPr>
        <p:txBody>
          <a:bodyPr wrap="square" rtlCol="0" anchor="ctr"/>
          <a:lstStyle/>
          <a:p>
            <a:pPr marL="0" indent="0" algn="ctr">
              <a:buNone/>
            </a:pPr>
            <a:r>
              <a:rPr lang="en-US" sz="1100" b="1" dirty="0">
                <a:solidFill>
                  <a:srgbClr val="F5C518"/>
                </a:solidFill>
              </a:rPr>
              <a:t>SQL</a:t>
            </a:r>
            <a:endParaRPr lang="en-US" sz="1100" dirty="0"/>
          </a:p>
        </p:txBody>
      </p:sp>
      <p:sp>
        <p:nvSpPr>
          <p:cNvPr id="26" name="Text 19"/>
          <p:cNvSpPr/>
          <p:nvPr/>
        </p:nvSpPr>
        <p:spPr>
          <a:xfrm>
            <a:off x="3785616" y="3063240"/>
            <a:ext cx="1508760" cy="914400"/>
          </a:xfrm>
          <a:prstGeom prst="rect">
            <a:avLst/>
          </a:prstGeom>
          <a:noFill/>
          <a:ln/>
        </p:spPr>
        <p:txBody>
          <a:bodyPr wrap="square" rtlCol="0" anchor="ctr"/>
          <a:lstStyle/>
          <a:p>
            <a:pPr marL="0" indent="0" algn="ctr">
              <a:buNone/>
            </a:pPr>
            <a:r>
              <a:rPr lang="en-US" sz="900" dirty="0">
                <a:solidFill>
                  <a:srgbClr val="CCCCCC"/>
                </a:solidFill>
              </a:rPr>
              <a:t>PostgreSQL</a:t>
            </a:r>
            <a:endParaRPr lang="en-US" sz="900" dirty="0"/>
          </a:p>
          <a:p>
            <a:pPr marL="0" indent="0" algn="ctr">
              <a:buNone/>
            </a:pPr>
            <a:r>
              <a:rPr lang="en-US" sz="900" dirty="0">
                <a:solidFill>
                  <a:srgbClr val="CCCCCC"/>
                </a:solidFill>
              </a:rPr>
              <a:t>analysis queries</a:t>
            </a:r>
            <a:endParaRPr lang="en-US" sz="900" dirty="0"/>
          </a:p>
        </p:txBody>
      </p:sp>
      <p:pic>
        <p:nvPicPr>
          <p:cNvPr id="27" name="Image 5" descr="preencoded.png"/>
          <p:cNvPicPr>
            <a:picLocks noChangeAspect="1"/>
          </p:cNvPicPr>
          <p:nvPr/>
        </p:nvPicPr>
        <p:blipFill>
          <a:blip r:embed="rId4"/>
          <a:stretch>
            <a:fillRect/>
          </a:stretch>
        </p:blipFill>
        <p:spPr>
          <a:xfrm>
            <a:off x="5321808" y="2606040"/>
            <a:ext cx="182880" cy="182880"/>
          </a:xfrm>
          <a:prstGeom prst="rect">
            <a:avLst/>
          </a:prstGeom>
        </p:spPr>
      </p:pic>
      <p:sp>
        <p:nvSpPr>
          <p:cNvPr id="28" name="Shape 20"/>
          <p:cNvSpPr/>
          <p:nvPr/>
        </p:nvSpPr>
        <p:spPr>
          <a:xfrm>
            <a:off x="5541264" y="1280160"/>
            <a:ext cx="1499616" cy="2834640"/>
          </a:xfrm>
          <a:prstGeom prst="rect">
            <a:avLst/>
          </a:prstGeom>
          <a:solidFill>
            <a:srgbClr val="4A1A6E"/>
          </a:solidFill>
          <a:ln/>
          <a:effectLst>
            <a:outerShdw blurRad="101600" dist="38100" dir="8100000" algn="bl" rotWithShape="0">
              <a:srgbClr val="000000">
                <a:alpha val="25000"/>
              </a:srgbClr>
            </a:outerShdw>
          </a:effectLst>
        </p:spPr>
      </p:sp>
      <p:sp>
        <p:nvSpPr>
          <p:cNvPr id="29" name="Shape 21"/>
          <p:cNvSpPr/>
          <p:nvPr/>
        </p:nvSpPr>
        <p:spPr>
          <a:xfrm>
            <a:off x="5541264" y="1280160"/>
            <a:ext cx="1508760" cy="73152"/>
          </a:xfrm>
          <a:prstGeom prst="rect">
            <a:avLst/>
          </a:prstGeom>
          <a:solidFill>
            <a:srgbClr val="F5C518"/>
          </a:solidFill>
          <a:ln/>
        </p:spPr>
      </p:sp>
      <p:sp>
        <p:nvSpPr>
          <p:cNvPr id="30" name="Shape 22"/>
          <p:cNvSpPr/>
          <p:nvPr/>
        </p:nvSpPr>
        <p:spPr>
          <a:xfrm>
            <a:off x="6044184" y="1371600"/>
            <a:ext cx="502920" cy="502920"/>
          </a:xfrm>
          <a:prstGeom prst="ellipse">
            <a:avLst/>
          </a:prstGeom>
          <a:solidFill>
            <a:srgbClr val="F5C518"/>
          </a:solidFill>
          <a:ln w="12700">
            <a:solidFill>
              <a:srgbClr val="F5C518"/>
            </a:solidFill>
            <a:prstDash val="solid"/>
          </a:ln>
        </p:spPr>
      </p:sp>
      <p:sp>
        <p:nvSpPr>
          <p:cNvPr id="31" name="Text 23"/>
          <p:cNvSpPr/>
          <p:nvPr/>
        </p:nvSpPr>
        <p:spPr>
          <a:xfrm>
            <a:off x="6044184" y="1371600"/>
            <a:ext cx="502920" cy="502920"/>
          </a:xfrm>
          <a:prstGeom prst="rect">
            <a:avLst/>
          </a:prstGeom>
          <a:noFill/>
          <a:ln/>
        </p:spPr>
        <p:txBody>
          <a:bodyPr wrap="square" rtlCol="0" anchor="ctr"/>
          <a:lstStyle/>
          <a:p>
            <a:pPr marL="0" indent="0" algn="ctr">
              <a:buNone/>
            </a:pPr>
            <a:r>
              <a:rPr lang="en-US" sz="1400" b="1" dirty="0">
                <a:solidFill>
                  <a:srgbClr val="1A1A1A"/>
                </a:solidFill>
              </a:rPr>
              <a:t>4</a:t>
            </a:r>
            <a:endParaRPr lang="en-US" sz="1400" dirty="0"/>
          </a:p>
        </p:txBody>
      </p:sp>
      <p:pic>
        <p:nvPicPr>
          <p:cNvPr id="32" name="Image 6" descr="preencoded.png"/>
          <p:cNvPicPr>
            <a:picLocks noChangeAspect="1"/>
          </p:cNvPicPr>
          <p:nvPr/>
        </p:nvPicPr>
        <p:blipFill>
          <a:blip r:embed="rId7"/>
          <a:stretch>
            <a:fillRect/>
          </a:stretch>
        </p:blipFill>
        <p:spPr>
          <a:xfrm>
            <a:off x="6067044" y="2011680"/>
            <a:ext cx="457200" cy="457200"/>
          </a:xfrm>
          <a:prstGeom prst="rect">
            <a:avLst/>
          </a:prstGeom>
        </p:spPr>
      </p:pic>
      <p:sp>
        <p:nvSpPr>
          <p:cNvPr id="33" name="Text 24"/>
          <p:cNvSpPr/>
          <p:nvPr/>
        </p:nvSpPr>
        <p:spPr>
          <a:xfrm>
            <a:off x="5541264" y="2606040"/>
            <a:ext cx="1508760" cy="457200"/>
          </a:xfrm>
          <a:prstGeom prst="rect">
            <a:avLst/>
          </a:prstGeom>
          <a:noFill/>
          <a:ln/>
        </p:spPr>
        <p:txBody>
          <a:bodyPr wrap="square" rtlCol="0" anchor="ctr"/>
          <a:lstStyle/>
          <a:p>
            <a:pPr marL="0" indent="0" algn="ctr">
              <a:buNone/>
            </a:pPr>
            <a:r>
              <a:rPr lang="en-US" sz="1100" b="1" dirty="0">
                <a:solidFill>
                  <a:srgbClr val="F5C518"/>
                </a:solidFill>
              </a:rPr>
              <a:t>POWER BI</a:t>
            </a:r>
            <a:endParaRPr lang="en-US" sz="1100" dirty="0"/>
          </a:p>
        </p:txBody>
      </p:sp>
      <p:sp>
        <p:nvSpPr>
          <p:cNvPr id="34" name="Text 25"/>
          <p:cNvSpPr/>
          <p:nvPr/>
        </p:nvSpPr>
        <p:spPr>
          <a:xfrm>
            <a:off x="5541264" y="3063240"/>
            <a:ext cx="1508760" cy="914400"/>
          </a:xfrm>
          <a:prstGeom prst="rect">
            <a:avLst/>
          </a:prstGeom>
          <a:noFill/>
          <a:ln/>
        </p:spPr>
        <p:txBody>
          <a:bodyPr wrap="square" rtlCol="0" anchor="ctr"/>
          <a:lstStyle/>
          <a:p>
            <a:pPr marL="0" indent="0" algn="ctr">
              <a:buNone/>
            </a:pPr>
            <a:r>
              <a:rPr lang="en-US" sz="900" dirty="0">
                <a:solidFill>
                  <a:srgbClr val="CCCCCC"/>
                </a:solidFill>
              </a:rPr>
              <a:t>Visual dashboards</a:t>
            </a:r>
            <a:endParaRPr lang="en-US" sz="900" dirty="0"/>
          </a:p>
          <a:p>
            <a:pPr marL="0" indent="0" algn="ctr">
              <a:buNone/>
            </a:pPr>
            <a:r>
              <a:rPr lang="en-US" sz="900" dirty="0">
                <a:solidFill>
                  <a:srgbClr val="CCCCCC"/>
                </a:solidFill>
              </a:rPr>
              <a:t>&amp; KPIs</a:t>
            </a:r>
            <a:endParaRPr lang="en-US" sz="900" dirty="0"/>
          </a:p>
        </p:txBody>
      </p:sp>
      <p:pic>
        <p:nvPicPr>
          <p:cNvPr id="35" name="Image 7" descr="preencoded.png"/>
          <p:cNvPicPr>
            <a:picLocks noChangeAspect="1"/>
          </p:cNvPicPr>
          <p:nvPr/>
        </p:nvPicPr>
        <p:blipFill>
          <a:blip r:embed="rId4"/>
          <a:stretch>
            <a:fillRect/>
          </a:stretch>
        </p:blipFill>
        <p:spPr>
          <a:xfrm>
            <a:off x="7077456" y="2606040"/>
            <a:ext cx="182880" cy="182880"/>
          </a:xfrm>
          <a:prstGeom prst="rect">
            <a:avLst/>
          </a:prstGeom>
        </p:spPr>
      </p:pic>
      <p:sp>
        <p:nvSpPr>
          <p:cNvPr id="36" name="Shape 26"/>
          <p:cNvSpPr/>
          <p:nvPr/>
        </p:nvSpPr>
        <p:spPr>
          <a:xfrm>
            <a:off x="7296912" y="1280160"/>
            <a:ext cx="1439124" cy="2834640"/>
          </a:xfrm>
          <a:prstGeom prst="rect">
            <a:avLst/>
          </a:prstGeom>
          <a:solidFill>
            <a:srgbClr val="7A2D00"/>
          </a:solidFill>
          <a:ln/>
          <a:effectLst>
            <a:outerShdw blurRad="101600" dist="38100" dir="8100000" algn="bl" rotWithShape="0">
              <a:srgbClr val="000000">
                <a:alpha val="25000"/>
              </a:srgbClr>
            </a:outerShdw>
          </a:effectLst>
        </p:spPr>
      </p:sp>
      <p:sp>
        <p:nvSpPr>
          <p:cNvPr id="37" name="Shape 27"/>
          <p:cNvSpPr/>
          <p:nvPr/>
        </p:nvSpPr>
        <p:spPr>
          <a:xfrm>
            <a:off x="7296912" y="1280160"/>
            <a:ext cx="1508760" cy="73152"/>
          </a:xfrm>
          <a:prstGeom prst="rect">
            <a:avLst/>
          </a:prstGeom>
          <a:solidFill>
            <a:srgbClr val="F5C518"/>
          </a:solidFill>
          <a:ln/>
        </p:spPr>
      </p:sp>
      <p:sp>
        <p:nvSpPr>
          <p:cNvPr id="38" name="Shape 28"/>
          <p:cNvSpPr/>
          <p:nvPr/>
        </p:nvSpPr>
        <p:spPr>
          <a:xfrm>
            <a:off x="7799832" y="1371600"/>
            <a:ext cx="502920" cy="502920"/>
          </a:xfrm>
          <a:prstGeom prst="ellipse">
            <a:avLst/>
          </a:prstGeom>
          <a:solidFill>
            <a:srgbClr val="F5C518"/>
          </a:solidFill>
          <a:ln w="12700">
            <a:solidFill>
              <a:srgbClr val="F5C518"/>
            </a:solidFill>
            <a:prstDash val="solid"/>
          </a:ln>
        </p:spPr>
      </p:sp>
      <p:sp>
        <p:nvSpPr>
          <p:cNvPr id="39" name="Text 29"/>
          <p:cNvSpPr/>
          <p:nvPr/>
        </p:nvSpPr>
        <p:spPr>
          <a:xfrm>
            <a:off x="7799832" y="1371600"/>
            <a:ext cx="502920" cy="502920"/>
          </a:xfrm>
          <a:prstGeom prst="rect">
            <a:avLst/>
          </a:prstGeom>
          <a:noFill/>
          <a:ln/>
        </p:spPr>
        <p:txBody>
          <a:bodyPr wrap="square" rtlCol="0" anchor="ctr"/>
          <a:lstStyle/>
          <a:p>
            <a:pPr marL="0" indent="0" algn="ctr">
              <a:buNone/>
            </a:pPr>
            <a:r>
              <a:rPr lang="en-US" sz="1400" b="1" dirty="0">
                <a:solidFill>
                  <a:srgbClr val="1A1A1A"/>
                </a:solidFill>
              </a:rPr>
              <a:t>5</a:t>
            </a:r>
            <a:endParaRPr lang="en-US" sz="1400" dirty="0"/>
          </a:p>
        </p:txBody>
      </p:sp>
      <p:pic>
        <p:nvPicPr>
          <p:cNvPr id="40" name="Image 8" descr="preencoded.png"/>
          <p:cNvPicPr>
            <a:picLocks noChangeAspect="1"/>
          </p:cNvPicPr>
          <p:nvPr/>
        </p:nvPicPr>
        <p:blipFill>
          <a:blip r:embed="rId8"/>
          <a:stretch>
            <a:fillRect/>
          </a:stretch>
        </p:blipFill>
        <p:spPr>
          <a:xfrm>
            <a:off x="7822692" y="2011680"/>
            <a:ext cx="457200" cy="457200"/>
          </a:xfrm>
          <a:prstGeom prst="rect">
            <a:avLst/>
          </a:prstGeom>
        </p:spPr>
      </p:pic>
      <p:sp>
        <p:nvSpPr>
          <p:cNvPr id="41" name="Text 30"/>
          <p:cNvSpPr/>
          <p:nvPr/>
        </p:nvSpPr>
        <p:spPr>
          <a:xfrm>
            <a:off x="7296912" y="2606040"/>
            <a:ext cx="1508760" cy="457200"/>
          </a:xfrm>
          <a:prstGeom prst="rect">
            <a:avLst/>
          </a:prstGeom>
          <a:noFill/>
          <a:ln/>
        </p:spPr>
        <p:txBody>
          <a:bodyPr wrap="square" rtlCol="0" anchor="ctr"/>
          <a:lstStyle/>
          <a:p>
            <a:pPr marL="0" indent="0" algn="ctr">
              <a:buNone/>
            </a:pPr>
            <a:r>
              <a:rPr lang="en-US" sz="1100" b="1" dirty="0">
                <a:solidFill>
                  <a:srgbClr val="F5C518"/>
                </a:solidFill>
              </a:rPr>
              <a:t>INSIGHTS</a:t>
            </a:r>
            <a:endParaRPr lang="en-US" sz="1100" dirty="0"/>
          </a:p>
        </p:txBody>
      </p:sp>
      <p:sp>
        <p:nvSpPr>
          <p:cNvPr id="42" name="Text 31"/>
          <p:cNvSpPr/>
          <p:nvPr/>
        </p:nvSpPr>
        <p:spPr>
          <a:xfrm>
            <a:off x="7296912" y="3063240"/>
            <a:ext cx="1508760" cy="914400"/>
          </a:xfrm>
          <a:prstGeom prst="rect">
            <a:avLst/>
          </a:prstGeom>
          <a:noFill/>
          <a:ln/>
        </p:spPr>
        <p:txBody>
          <a:bodyPr wrap="square" rtlCol="0" anchor="ctr"/>
          <a:lstStyle/>
          <a:p>
            <a:pPr marL="0" indent="0" algn="ctr">
              <a:buNone/>
            </a:pPr>
            <a:r>
              <a:rPr lang="en-US" sz="900" dirty="0">
                <a:solidFill>
                  <a:srgbClr val="CCCCCC"/>
                </a:solidFill>
              </a:rPr>
              <a:t>Business</a:t>
            </a:r>
            <a:endParaRPr lang="en-US" sz="900" dirty="0"/>
          </a:p>
          <a:p>
            <a:pPr marL="0" indent="0" algn="ctr">
              <a:buNone/>
            </a:pPr>
            <a:r>
              <a:rPr lang="en-US" sz="900" dirty="0">
                <a:solidFill>
                  <a:srgbClr val="CCCCCC"/>
                </a:solidFill>
              </a:rPr>
              <a:t>recommendations</a:t>
            </a:r>
            <a:endParaRPr lang="en-US" sz="900" dirty="0"/>
          </a:p>
        </p:txBody>
      </p:sp>
      <p:sp>
        <p:nvSpPr>
          <p:cNvPr id="43" name="Text 32"/>
          <p:cNvSpPr/>
          <p:nvPr/>
        </p:nvSpPr>
        <p:spPr>
          <a:xfrm>
            <a:off x="274321" y="4251960"/>
            <a:ext cx="8461716" cy="777240"/>
          </a:xfrm>
          <a:prstGeom prst="rect">
            <a:avLst/>
          </a:prstGeom>
          <a:noFill/>
          <a:ln/>
        </p:spPr>
        <p:txBody>
          <a:bodyPr wrap="square" rtlCol="0" anchor="ctr"/>
          <a:lstStyle/>
          <a:p>
            <a:pPr algn="ctr"/>
            <a:r>
              <a:rPr lang="en-US" sz="1200" i="1" dirty="0">
                <a:solidFill>
                  <a:schemeClr val="bg1"/>
                </a:solidFill>
              </a:rPr>
              <a:t>This data pipeline transforms 103,024 raw records into business insights through Excel cleaning, SQL analysis, and Power BI visualization. It helps identify trends, measure performance, and generate actionable recommendations for better decision-making.</a:t>
            </a:r>
            <a:endParaRPr lang="en-US" sz="12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3517"/>
            <a:ext cx="9144000" cy="594360"/>
          </a:xfrm>
          <a:prstGeom prst="rect">
            <a:avLst/>
          </a:prstGeom>
          <a:solidFill>
            <a:srgbClr val="1A472A"/>
          </a:solidFill>
          <a:ln/>
        </p:spPr>
      </p:sp>
      <p:sp>
        <p:nvSpPr>
          <p:cNvPr id="3" name="Text 1"/>
          <p:cNvSpPr/>
          <p:nvPr/>
        </p:nvSpPr>
        <p:spPr>
          <a:xfrm>
            <a:off x="365760" y="0"/>
            <a:ext cx="8229600" cy="594360"/>
          </a:xfrm>
          <a:prstGeom prst="rect">
            <a:avLst/>
          </a:prstGeom>
          <a:noFill/>
          <a:ln/>
        </p:spPr>
        <p:txBody>
          <a:bodyPr wrap="square" rtlCol="0" anchor="ctr"/>
          <a:lstStyle/>
          <a:p>
            <a:pPr marL="0" indent="0">
              <a:buNone/>
            </a:pPr>
            <a:r>
              <a:rPr lang="en-US" sz="1300" b="1" dirty="0">
                <a:solidFill>
                  <a:srgbClr val="FFFFFF"/>
                </a:solidFill>
              </a:rPr>
              <a:t>📗  EXCEL — RAW DATASET OVERVIEW</a:t>
            </a:r>
            <a:endParaRPr lang="en-US" sz="1300" dirty="0"/>
          </a:p>
        </p:txBody>
      </p:sp>
      <p:sp>
        <p:nvSpPr>
          <p:cNvPr id="4" name="Shape 2"/>
          <p:cNvSpPr/>
          <p:nvPr/>
        </p:nvSpPr>
        <p:spPr>
          <a:xfrm>
            <a:off x="274320" y="731520"/>
            <a:ext cx="1920240" cy="914400"/>
          </a:xfrm>
          <a:prstGeom prst="rect">
            <a:avLst/>
          </a:prstGeom>
          <a:solidFill>
            <a:srgbClr val="1A472A"/>
          </a:solidFill>
          <a:ln/>
          <a:effectLst>
            <a:outerShdw blurRad="50800" dist="25400" dir="8100000" algn="bl" rotWithShape="0">
              <a:srgbClr val="000000">
                <a:alpha val="12000"/>
              </a:srgbClr>
            </a:outerShdw>
          </a:effectLst>
        </p:spPr>
      </p:sp>
      <p:sp>
        <p:nvSpPr>
          <p:cNvPr id="5" name="Text 3"/>
          <p:cNvSpPr/>
          <p:nvPr/>
        </p:nvSpPr>
        <p:spPr>
          <a:xfrm>
            <a:off x="274320" y="777240"/>
            <a:ext cx="1920240" cy="457200"/>
          </a:xfrm>
          <a:prstGeom prst="rect">
            <a:avLst/>
          </a:prstGeom>
          <a:noFill/>
          <a:ln/>
        </p:spPr>
        <p:txBody>
          <a:bodyPr wrap="square" rtlCol="0" anchor="ctr"/>
          <a:lstStyle/>
          <a:p>
            <a:pPr marL="0" indent="0" algn="ctr">
              <a:buNone/>
            </a:pPr>
            <a:r>
              <a:rPr lang="en-US" sz="2000" b="1" dirty="0">
                <a:solidFill>
                  <a:srgbClr val="F5C518"/>
                </a:solidFill>
              </a:rPr>
              <a:t>103,024</a:t>
            </a:r>
            <a:endParaRPr lang="en-US" sz="2000" dirty="0"/>
          </a:p>
        </p:txBody>
      </p:sp>
      <p:sp>
        <p:nvSpPr>
          <p:cNvPr id="6" name="Text 4"/>
          <p:cNvSpPr/>
          <p:nvPr/>
        </p:nvSpPr>
        <p:spPr>
          <a:xfrm>
            <a:off x="274320" y="1234440"/>
            <a:ext cx="1920240" cy="320040"/>
          </a:xfrm>
          <a:prstGeom prst="rect">
            <a:avLst/>
          </a:prstGeom>
          <a:noFill/>
          <a:ln/>
        </p:spPr>
        <p:txBody>
          <a:bodyPr wrap="square" rtlCol="0" anchor="ctr"/>
          <a:lstStyle/>
          <a:p>
            <a:pPr marL="0" indent="0" algn="ctr">
              <a:buNone/>
            </a:pPr>
            <a:r>
              <a:rPr lang="en-US" sz="1000" dirty="0">
                <a:solidFill>
                  <a:srgbClr val="FFFFFF"/>
                </a:solidFill>
              </a:rPr>
              <a:t>Total Rows</a:t>
            </a:r>
            <a:endParaRPr lang="en-US" sz="1000" dirty="0"/>
          </a:p>
        </p:txBody>
      </p:sp>
      <p:sp>
        <p:nvSpPr>
          <p:cNvPr id="7" name="Shape 5"/>
          <p:cNvSpPr/>
          <p:nvPr/>
        </p:nvSpPr>
        <p:spPr>
          <a:xfrm>
            <a:off x="2423160" y="731520"/>
            <a:ext cx="1920240" cy="914400"/>
          </a:xfrm>
          <a:prstGeom prst="rect">
            <a:avLst/>
          </a:prstGeom>
          <a:solidFill>
            <a:srgbClr val="1A472A"/>
          </a:solidFill>
          <a:ln/>
          <a:effectLst>
            <a:outerShdw blurRad="50800" dist="25400" dir="8100000" algn="bl" rotWithShape="0">
              <a:srgbClr val="000000">
                <a:alpha val="12000"/>
              </a:srgbClr>
            </a:outerShdw>
          </a:effectLst>
        </p:spPr>
      </p:sp>
      <p:sp>
        <p:nvSpPr>
          <p:cNvPr id="8" name="Text 6"/>
          <p:cNvSpPr/>
          <p:nvPr/>
        </p:nvSpPr>
        <p:spPr>
          <a:xfrm>
            <a:off x="2423160" y="777240"/>
            <a:ext cx="1920240" cy="457200"/>
          </a:xfrm>
          <a:prstGeom prst="rect">
            <a:avLst/>
          </a:prstGeom>
          <a:noFill/>
          <a:ln/>
        </p:spPr>
        <p:txBody>
          <a:bodyPr wrap="square" rtlCol="0" anchor="ctr"/>
          <a:lstStyle/>
          <a:p>
            <a:pPr marL="0" indent="0" algn="ctr">
              <a:buNone/>
            </a:pPr>
            <a:r>
              <a:rPr lang="en-US" sz="2000" b="1" dirty="0">
                <a:solidFill>
                  <a:srgbClr val="F5C518"/>
                </a:solidFill>
              </a:rPr>
              <a:t>19</a:t>
            </a:r>
            <a:endParaRPr lang="en-US" sz="2000" dirty="0"/>
          </a:p>
        </p:txBody>
      </p:sp>
      <p:sp>
        <p:nvSpPr>
          <p:cNvPr id="9" name="Text 7"/>
          <p:cNvSpPr/>
          <p:nvPr/>
        </p:nvSpPr>
        <p:spPr>
          <a:xfrm>
            <a:off x="2423160" y="1234440"/>
            <a:ext cx="1920240" cy="320040"/>
          </a:xfrm>
          <a:prstGeom prst="rect">
            <a:avLst/>
          </a:prstGeom>
          <a:noFill/>
          <a:ln/>
        </p:spPr>
        <p:txBody>
          <a:bodyPr wrap="square" rtlCol="0" anchor="ctr"/>
          <a:lstStyle/>
          <a:p>
            <a:pPr marL="0" indent="0" algn="ctr">
              <a:buNone/>
            </a:pPr>
            <a:r>
              <a:rPr lang="en-US" sz="1000" dirty="0">
                <a:solidFill>
                  <a:srgbClr val="FFFFFF"/>
                </a:solidFill>
              </a:rPr>
              <a:t>Columns</a:t>
            </a:r>
            <a:endParaRPr lang="en-US" sz="1000" dirty="0"/>
          </a:p>
        </p:txBody>
      </p:sp>
      <p:sp>
        <p:nvSpPr>
          <p:cNvPr id="10" name="Shape 8"/>
          <p:cNvSpPr/>
          <p:nvPr/>
        </p:nvSpPr>
        <p:spPr>
          <a:xfrm>
            <a:off x="4572000" y="731520"/>
            <a:ext cx="1920240" cy="914400"/>
          </a:xfrm>
          <a:prstGeom prst="rect">
            <a:avLst/>
          </a:prstGeom>
          <a:solidFill>
            <a:srgbClr val="1A472A"/>
          </a:solidFill>
          <a:ln/>
          <a:effectLst>
            <a:outerShdw blurRad="50800" dist="25400" dir="8100000" algn="bl" rotWithShape="0">
              <a:srgbClr val="000000">
                <a:alpha val="12000"/>
              </a:srgbClr>
            </a:outerShdw>
          </a:effectLst>
        </p:spPr>
      </p:sp>
      <p:sp>
        <p:nvSpPr>
          <p:cNvPr id="11" name="Text 9"/>
          <p:cNvSpPr/>
          <p:nvPr/>
        </p:nvSpPr>
        <p:spPr>
          <a:xfrm>
            <a:off x="4572000" y="777240"/>
            <a:ext cx="1920240" cy="457200"/>
          </a:xfrm>
          <a:prstGeom prst="rect">
            <a:avLst/>
          </a:prstGeom>
          <a:noFill/>
          <a:ln/>
        </p:spPr>
        <p:txBody>
          <a:bodyPr wrap="square" rtlCol="0" anchor="ctr"/>
          <a:lstStyle/>
          <a:p>
            <a:pPr marL="0" indent="0" algn="ctr">
              <a:buNone/>
            </a:pPr>
            <a:r>
              <a:rPr lang="en-US" sz="2000" b="1" dirty="0">
                <a:solidFill>
                  <a:srgbClr val="F5C518"/>
                </a:solidFill>
              </a:rPr>
              <a:t>July 2024</a:t>
            </a:r>
            <a:endParaRPr lang="en-US" sz="2000" dirty="0"/>
          </a:p>
        </p:txBody>
      </p:sp>
      <p:sp>
        <p:nvSpPr>
          <p:cNvPr id="12" name="Text 10"/>
          <p:cNvSpPr/>
          <p:nvPr/>
        </p:nvSpPr>
        <p:spPr>
          <a:xfrm>
            <a:off x="4572000" y="1234440"/>
            <a:ext cx="1920240" cy="320040"/>
          </a:xfrm>
          <a:prstGeom prst="rect">
            <a:avLst/>
          </a:prstGeom>
          <a:noFill/>
          <a:ln/>
        </p:spPr>
        <p:txBody>
          <a:bodyPr wrap="square" rtlCol="0" anchor="ctr"/>
          <a:lstStyle/>
          <a:p>
            <a:pPr marL="0" indent="0" algn="ctr">
              <a:buNone/>
            </a:pPr>
            <a:r>
              <a:rPr lang="en-US" sz="1000" dirty="0">
                <a:solidFill>
                  <a:srgbClr val="FFFFFF"/>
                </a:solidFill>
              </a:rPr>
              <a:t>Data Period</a:t>
            </a:r>
            <a:endParaRPr lang="en-US" sz="1000" dirty="0"/>
          </a:p>
        </p:txBody>
      </p:sp>
      <p:sp>
        <p:nvSpPr>
          <p:cNvPr id="13" name="Shape 11"/>
          <p:cNvSpPr/>
          <p:nvPr/>
        </p:nvSpPr>
        <p:spPr>
          <a:xfrm>
            <a:off x="6720840" y="731520"/>
            <a:ext cx="1920240" cy="914400"/>
          </a:xfrm>
          <a:prstGeom prst="rect">
            <a:avLst/>
          </a:prstGeom>
          <a:solidFill>
            <a:srgbClr val="1A472A"/>
          </a:solidFill>
          <a:ln/>
          <a:effectLst>
            <a:outerShdw blurRad="50800" dist="25400" dir="8100000" algn="bl" rotWithShape="0">
              <a:srgbClr val="000000">
                <a:alpha val="12000"/>
              </a:srgbClr>
            </a:outerShdw>
          </a:effectLst>
        </p:spPr>
      </p:sp>
      <p:sp>
        <p:nvSpPr>
          <p:cNvPr id="14" name="Text 12"/>
          <p:cNvSpPr/>
          <p:nvPr/>
        </p:nvSpPr>
        <p:spPr>
          <a:xfrm>
            <a:off x="6720840" y="777240"/>
            <a:ext cx="1920240" cy="457200"/>
          </a:xfrm>
          <a:prstGeom prst="rect">
            <a:avLst/>
          </a:prstGeom>
          <a:noFill/>
          <a:ln/>
        </p:spPr>
        <p:txBody>
          <a:bodyPr wrap="square" rtlCol="0" anchor="ctr"/>
          <a:lstStyle/>
          <a:p>
            <a:pPr marL="0" indent="0" algn="ctr">
              <a:buNone/>
            </a:pPr>
            <a:r>
              <a:rPr lang="en-US" sz="2000" b="1" dirty="0">
                <a:solidFill>
                  <a:srgbClr val="F5C518"/>
                </a:solidFill>
              </a:rPr>
              <a:t>7</a:t>
            </a:r>
            <a:endParaRPr lang="en-US" sz="2000" dirty="0"/>
          </a:p>
        </p:txBody>
      </p:sp>
      <p:sp>
        <p:nvSpPr>
          <p:cNvPr id="15" name="Text 13"/>
          <p:cNvSpPr/>
          <p:nvPr/>
        </p:nvSpPr>
        <p:spPr>
          <a:xfrm>
            <a:off x="6720840" y="1234440"/>
            <a:ext cx="1920240" cy="320040"/>
          </a:xfrm>
          <a:prstGeom prst="rect">
            <a:avLst/>
          </a:prstGeom>
          <a:noFill/>
          <a:ln/>
        </p:spPr>
        <p:txBody>
          <a:bodyPr wrap="square" rtlCol="0" anchor="ctr"/>
          <a:lstStyle/>
          <a:p>
            <a:pPr marL="0" indent="0" algn="ctr">
              <a:buNone/>
            </a:pPr>
            <a:r>
              <a:rPr lang="en-US" sz="1000" dirty="0">
                <a:solidFill>
                  <a:srgbClr val="FFFFFF"/>
                </a:solidFill>
              </a:rPr>
              <a:t>Vehicle Types</a:t>
            </a:r>
            <a:endParaRPr lang="en-US" sz="1000" dirty="0"/>
          </a:p>
        </p:txBody>
      </p:sp>
      <p:sp>
        <p:nvSpPr>
          <p:cNvPr id="16" name="Text 14"/>
          <p:cNvSpPr/>
          <p:nvPr/>
        </p:nvSpPr>
        <p:spPr>
          <a:xfrm>
            <a:off x="274320" y="1828800"/>
            <a:ext cx="4572000" cy="320040"/>
          </a:xfrm>
          <a:prstGeom prst="rect">
            <a:avLst/>
          </a:prstGeom>
          <a:noFill/>
          <a:ln/>
        </p:spPr>
        <p:txBody>
          <a:bodyPr wrap="square" rtlCol="0" anchor="ctr"/>
          <a:lstStyle/>
          <a:p>
            <a:pPr marL="0" indent="0">
              <a:buNone/>
            </a:pPr>
            <a:r>
              <a:rPr lang="en-US" sz="1300" b="1" dirty="0">
                <a:solidFill>
                  <a:srgbClr val="1A1A1A"/>
                </a:solidFill>
              </a:rPr>
              <a:t>Key Dataset Columns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3392707640"/>
              </p:ext>
            </p:extLst>
          </p:nvPr>
        </p:nvGraphicFramePr>
        <p:xfrm>
          <a:off x="98475" y="2331719"/>
          <a:ext cx="5634109" cy="2583184"/>
        </p:xfrm>
        <a:graphic>
          <a:graphicData uri="http://schemas.openxmlformats.org/drawingml/2006/table">
            <a:tbl>
              <a:tblPr/>
              <a:tblGrid>
                <a:gridCol w="1800397">
                  <a:extLst>
                    <a:ext uri="{9D8B030D-6E8A-4147-A177-3AD203B41FA5}">
                      <a16:colId xmlns:a16="http://schemas.microsoft.com/office/drawing/2014/main" val="20000"/>
                    </a:ext>
                  </a:extLst>
                </a:gridCol>
                <a:gridCol w="1473052">
                  <a:extLst>
                    <a:ext uri="{9D8B030D-6E8A-4147-A177-3AD203B41FA5}">
                      <a16:colId xmlns:a16="http://schemas.microsoft.com/office/drawing/2014/main" val="20001"/>
                    </a:ext>
                  </a:extLst>
                </a:gridCol>
                <a:gridCol w="2360660">
                  <a:extLst>
                    <a:ext uri="{9D8B030D-6E8A-4147-A177-3AD203B41FA5}">
                      <a16:colId xmlns:a16="http://schemas.microsoft.com/office/drawing/2014/main" val="20002"/>
                    </a:ext>
                  </a:extLst>
                </a:gridCol>
              </a:tblGrid>
              <a:tr h="322898">
                <a:tc>
                  <a:txBody>
                    <a:bodyPr/>
                    <a:lstStyle/>
                    <a:p>
                      <a:pPr marL="0" indent="0">
                        <a:buNone/>
                      </a:pPr>
                      <a:r>
                        <a:rPr lang="en-US" sz="1100" b="1" dirty="0">
                          <a:solidFill>
                            <a:srgbClr val="FFFFFF"/>
                          </a:solidFill>
                        </a:rPr>
                        <a:t>Column</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1A1A"/>
                    </a:solidFill>
                  </a:tcPr>
                </a:tc>
                <a:tc>
                  <a:txBody>
                    <a:bodyPr/>
                    <a:lstStyle/>
                    <a:p>
                      <a:pPr marL="0" indent="0">
                        <a:buNone/>
                      </a:pPr>
                      <a:r>
                        <a:rPr lang="en-US" sz="1100" b="1" dirty="0">
                          <a:solidFill>
                            <a:srgbClr val="FFFFFF"/>
                          </a:solidFill>
                        </a:rPr>
                        <a:t>Data Type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1A1A"/>
                    </a:solidFill>
                  </a:tcPr>
                </a:tc>
                <a:tc>
                  <a:txBody>
                    <a:bodyPr/>
                    <a:lstStyle/>
                    <a:p>
                      <a:pPr marL="0" indent="0">
                        <a:buNone/>
                      </a:pPr>
                      <a:r>
                        <a:rPr lang="en-US" sz="1100" b="1" dirty="0">
                          <a:solidFill>
                            <a:srgbClr val="FFFFFF"/>
                          </a:solidFill>
                        </a:rPr>
                        <a:t>Description</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322898">
                <a:tc>
                  <a:txBody>
                    <a:bodyPr/>
                    <a:lstStyle/>
                    <a:p>
                      <a:pPr marL="0" indent="0">
                        <a:buNone/>
                      </a:pPr>
                      <a:r>
                        <a:rPr lang="en-US" sz="1100" dirty="0">
                          <a:solidFill>
                            <a:srgbClr val="000000"/>
                          </a:solidFill>
                        </a:rPr>
                        <a:t>booking_id</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VARCHAR(20)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Unique ride identifier</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2898">
                <a:tc>
                  <a:txBody>
                    <a:bodyPr/>
                    <a:lstStyle/>
                    <a:p>
                      <a:pPr marL="0" indent="0">
                        <a:buNone/>
                      </a:pPr>
                      <a:r>
                        <a:rPr lang="en-US" sz="1100" dirty="0">
                          <a:solidFill>
                            <a:srgbClr val="000000"/>
                          </a:solidFill>
                        </a:rPr>
                        <a:t>date / time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TIMESTAMP</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Booking date and time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2898">
                <a:tc>
                  <a:txBody>
                    <a:bodyPr/>
                    <a:lstStyle/>
                    <a:p>
                      <a:pPr marL="0" indent="0">
                        <a:buNone/>
                      </a:pPr>
                      <a:r>
                        <a:rPr lang="en-US" sz="1100" dirty="0">
                          <a:solidFill>
                            <a:srgbClr val="000000"/>
                          </a:solidFill>
                        </a:rPr>
                        <a:t>booking_status</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VARCHAR(50)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Success / Canceled / Not Found</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2898">
                <a:tc>
                  <a:txBody>
                    <a:bodyPr/>
                    <a:lstStyle/>
                    <a:p>
                      <a:pPr marL="0" indent="0">
                        <a:buNone/>
                      </a:pPr>
                      <a:r>
                        <a:rPr lang="en-US" sz="1100" dirty="0">
                          <a:solidFill>
                            <a:srgbClr val="000000"/>
                          </a:solidFill>
                        </a:rPr>
                        <a:t>customer_id</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VARCHAR(20)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Customer identifier</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2898">
                <a:tc>
                  <a:txBody>
                    <a:bodyPr/>
                    <a:lstStyle/>
                    <a:p>
                      <a:pPr marL="0" indent="0">
                        <a:buNone/>
                      </a:pPr>
                      <a:r>
                        <a:rPr lang="en-US" sz="1100" dirty="0">
                          <a:solidFill>
                            <a:srgbClr val="000000"/>
                          </a:solidFill>
                        </a:rPr>
                        <a:t>vehicle_type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VARCHAR(30)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Prime Sedan, Mini, Bike, etc.</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2898">
                <a:tc>
                  <a:txBody>
                    <a:bodyPr/>
                    <a:lstStyle/>
                    <a:p>
                      <a:pPr marL="0" indent="0">
                        <a:buNone/>
                      </a:pPr>
                      <a:r>
                        <a:rPr lang="en-US" sz="1100" dirty="0">
                          <a:solidFill>
                            <a:srgbClr val="000000"/>
                          </a:solidFill>
                        </a:rPr>
                        <a:t>pickup_location</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VARCHAR(100)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Pickup area in Bangalore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2898">
                <a:tc>
                  <a:txBody>
                    <a:bodyPr/>
                    <a:lstStyle/>
                    <a:p>
                      <a:pPr marL="0" indent="0">
                        <a:buNone/>
                      </a:pPr>
                      <a:r>
                        <a:rPr lang="en-US" sz="1100" dirty="0">
                          <a:solidFill>
                            <a:srgbClr val="000000"/>
                          </a:solidFill>
                        </a:rPr>
                        <a:t>booking_value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INT</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Fare amount in INR</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9" name="TextBox 18">
            <a:extLst>
              <a:ext uri="{FF2B5EF4-FFF2-40B4-BE49-F238E27FC236}">
                <a16:creationId xmlns:a16="http://schemas.microsoft.com/office/drawing/2014/main" id="{7948F797-61A1-BE4D-C64C-EBFA86250FDC}"/>
              </a:ext>
            </a:extLst>
          </p:cNvPr>
          <p:cNvSpPr txBox="1"/>
          <p:nvPr/>
        </p:nvSpPr>
        <p:spPr>
          <a:xfrm>
            <a:off x="5816763" y="2343419"/>
            <a:ext cx="3228761" cy="2308324"/>
          </a:xfrm>
          <a:prstGeom prst="rect">
            <a:avLst/>
          </a:prstGeom>
          <a:noFill/>
        </p:spPr>
        <p:txBody>
          <a:bodyPr wrap="square" rtlCol="0">
            <a:spAutoFit/>
          </a:bodyPr>
          <a:lstStyle/>
          <a:p>
            <a:r>
              <a:rPr lang="en-US" sz="1600" dirty="0"/>
              <a:t>This slide provides an overview of the raw dataset used in this project. It contains 103,024 booking records with 19 important columns from July 2024 across 7 vehicle types. The dataset includes key information such as booking status, customer details, pickup locations, and fare values for analysis.</a:t>
            </a:r>
            <a:endParaRPr lang="en-IN"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72A"/>
          </a:solidFill>
          <a:ln/>
        </p:spPr>
      </p:sp>
      <p:sp>
        <p:nvSpPr>
          <p:cNvPr id="3" name="Text 1"/>
          <p:cNvSpPr/>
          <p:nvPr/>
        </p:nvSpPr>
        <p:spPr>
          <a:xfrm>
            <a:off x="365760" y="0"/>
            <a:ext cx="8229600" cy="594360"/>
          </a:xfrm>
          <a:prstGeom prst="rect">
            <a:avLst/>
          </a:prstGeom>
          <a:noFill/>
          <a:ln/>
        </p:spPr>
        <p:txBody>
          <a:bodyPr wrap="square" rtlCol="0" anchor="ctr"/>
          <a:lstStyle/>
          <a:p>
            <a:pPr marL="0" indent="0">
              <a:buNone/>
            </a:pPr>
            <a:r>
              <a:rPr lang="en-US" sz="1300" b="1" dirty="0">
                <a:solidFill>
                  <a:srgbClr val="FFFFFF"/>
                </a:solidFill>
              </a:rPr>
              <a:t>📗  EXCEL — DATA CLEANING</a:t>
            </a:r>
            <a:endParaRPr lang="en-US" sz="1300" dirty="0"/>
          </a:p>
        </p:txBody>
      </p:sp>
      <p:sp>
        <p:nvSpPr>
          <p:cNvPr id="4" name="Shape 2"/>
          <p:cNvSpPr/>
          <p:nvPr/>
        </p:nvSpPr>
        <p:spPr>
          <a:xfrm>
            <a:off x="274320" y="777240"/>
            <a:ext cx="3840480" cy="3219573"/>
          </a:xfrm>
          <a:prstGeom prst="rect">
            <a:avLst/>
          </a:prstGeom>
          <a:solidFill>
            <a:srgbClr val="FFFFFF"/>
          </a:solidFill>
          <a:ln/>
          <a:effectLst>
            <a:outerShdw blurRad="63500" dist="25400" dir="8100000" algn="bl" rotWithShape="0">
              <a:srgbClr val="000000">
                <a:alpha val="10000"/>
              </a:srgbClr>
            </a:outerShdw>
          </a:effectLst>
        </p:spPr>
      </p:sp>
      <p:sp>
        <p:nvSpPr>
          <p:cNvPr id="5" name="Shape 3"/>
          <p:cNvSpPr/>
          <p:nvPr/>
        </p:nvSpPr>
        <p:spPr>
          <a:xfrm>
            <a:off x="274320" y="777240"/>
            <a:ext cx="3840480" cy="54864"/>
          </a:xfrm>
          <a:prstGeom prst="rect">
            <a:avLst/>
          </a:prstGeom>
          <a:solidFill>
            <a:srgbClr val="EF4444"/>
          </a:solidFill>
          <a:ln/>
        </p:spPr>
      </p:sp>
      <p:pic>
        <p:nvPicPr>
          <p:cNvPr id="6" name="Image 0" descr="preencoded.png"/>
          <p:cNvPicPr>
            <a:picLocks noChangeAspect="1"/>
          </p:cNvPicPr>
          <p:nvPr/>
        </p:nvPicPr>
        <p:blipFill>
          <a:blip r:embed="rId3"/>
          <a:stretch>
            <a:fillRect/>
          </a:stretch>
        </p:blipFill>
        <p:spPr>
          <a:xfrm>
            <a:off x="457200" y="914400"/>
            <a:ext cx="365760" cy="365760"/>
          </a:xfrm>
          <a:prstGeom prst="rect">
            <a:avLst/>
          </a:prstGeom>
        </p:spPr>
      </p:pic>
      <p:sp>
        <p:nvSpPr>
          <p:cNvPr id="7" name="Text 4"/>
          <p:cNvSpPr/>
          <p:nvPr/>
        </p:nvSpPr>
        <p:spPr>
          <a:xfrm>
            <a:off x="914400" y="914400"/>
            <a:ext cx="3017520" cy="365760"/>
          </a:xfrm>
          <a:prstGeom prst="rect">
            <a:avLst/>
          </a:prstGeom>
          <a:noFill/>
          <a:ln/>
        </p:spPr>
        <p:txBody>
          <a:bodyPr wrap="square" rtlCol="0" anchor="ctr"/>
          <a:lstStyle/>
          <a:p>
            <a:pPr marL="0" indent="0">
              <a:buNone/>
            </a:pPr>
            <a:r>
              <a:rPr lang="en-US" sz="1400" b="1" dirty="0">
                <a:solidFill>
                  <a:srgbClr val="EF4444"/>
                </a:solidFill>
              </a:rPr>
              <a:t>BEFORE Cleaning</a:t>
            </a:r>
            <a:endParaRPr lang="en-US" sz="1400" dirty="0"/>
          </a:p>
        </p:txBody>
      </p:sp>
      <p:sp>
        <p:nvSpPr>
          <p:cNvPr id="8" name="Text 5"/>
          <p:cNvSpPr/>
          <p:nvPr/>
        </p:nvSpPr>
        <p:spPr>
          <a:xfrm>
            <a:off x="457200" y="1417320"/>
            <a:ext cx="3474720" cy="1005840"/>
          </a:xfrm>
          <a:prstGeom prst="rect">
            <a:avLst/>
          </a:prstGeom>
          <a:noFill/>
          <a:ln/>
        </p:spPr>
        <p:txBody>
          <a:bodyPr wrap="square" rtlCol="0" anchor="ctr"/>
          <a:lstStyle/>
          <a:p>
            <a:pPr marL="0" indent="0" algn="ctr">
              <a:buNone/>
            </a:pPr>
            <a:r>
              <a:rPr lang="en-US" sz="3200" b="1" dirty="0">
                <a:solidFill>
                  <a:srgbClr val="EF4444"/>
                </a:solidFill>
              </a:rPr>
              <a:t>82,616</a:t>
            </a:r>
            <a:endParaRPr lang="en-US" sz="3200" dirty="0"/>
          </a:p>
          <a:p>
            <a:pPr marL="0" indent="0" algn="ctr">
              <a:buNone/>
            </a:pPr>
            <a:r>
              <a:rPr lang="en-US" sz="1200" dirty="0">
                <a:solidFill>
                  <a:srgbClr val="6B7280"/>
                </a:solidFill>
              </a:rPr>
              <a:t>Duplicate Records Found</a:t>
            </a:r>
            <a:endParaRPr lang="en-US" sz="3200" dirty="0"/>
          </a:p>
        </p:txBody>
      </p:sp>
      <p:sp>
        <p:nvSpPr>
          <p:cNvPr id="9" name="Text 6"/>
          <p:cNvSpPr/>
          <p:nvPr/>
        </p:nvSpPr>
        <p:spPr>
          <a:xfrm>
            <a:off x="457200" y="2369181"/>
            <a:ext cx="3474720" cy="1920240"/>
          </a:xfrm>
          <a:prstGeom prst="rect">
            <a:avLst/>
          </a:prstGeom>
          <a:noFill/>
          <a:ln/>
        </p:spPr>
        <p:txBody>
          <a:bodyPr wrap="square" rtlCol="0" anchor="ctr"/>
          <a:lstStyle/>
          <a:p>
            <a:pPr marL="342900" indent="-342900">
              <a:spcAft>
                <a:spcPts val="500"/>
              </a:spcAft>
              <a:buSzPct val="100000"/>
              <a:buChar char="•"/>
            </a:pPr>
            <a:r>
              <a:rPr lang="en-US" sz="1100" dirty="0">
                <a:solidFill>
                  <a:srgbClr val="2D2D2D"/>
                </a:solidFill>
              </a:rPr>
              <a:t>Duplicate booking_id entries</a:t>
            </a:r>
            <a:endParaRPr lang="en-US" sz="1100" dirty="0"/>
          </a:p>
          <a:p>
            <a:pPr marL="342900" indent="-342900">
              <a:spcAft>
                <a:spcPts val="500"/>
              </a:spcAft>
              <a:buSzPct val="100000"/>
              <a:buChar char="•"/>
            </a:pPr>
            <a:r>
              <a:rPr lang="en-US" sz="1100" dirty="0">
                <a:solidFill>
                  <a:srgbClr val="2D2D2D"/>
                </a:solidFill>
              </a:rPr>
              <a:t>Null values in critical fields</a:t>
            </a:r>
            <a:endParaRPr lang="en-US" sz="1100" dirty="0"/>
          </a:p>
          <a:p>
            <a:pPr marL="342900" indent="-342900">
              <a:spcAft>
                <a:spcPts val="500"/>
              </a:spcAft>
              <a:buSzPct val="100000"/>
              <a:buChar char="•"/>
            </a:pPr>
            <a:r>
              <a:rPr lang="en-US" sz="1100" dirty="0">
                <a:solidFill>
                  <a:srgbClr val="2D2D2D"/>
                </a:solidFill>
              </a:rPr>
              <a:t>Inconsistent text casing</a:t>
            </a:r>
            <a:endParaRPr lang="en-US" sz="1100" dirty="0"/>
          </a:p>
          <a:p>
            <a:pPr marL="342900" indent="-342900">
              <a:spcAft>
                <a:spcPts val="500"/>
              </a:spcAft>
              <a:buSzPct val="100000"/>
              <a:buChar char="•"/>
            </a:pPr>
            <a:r>
              <a:rPr lang="en-US" sz="1100" dirty="0">
                <a:solidFill>
                  <a:srgbClr val="2D2D2D"/>
                </a:solidFill>
              </a:rPr>
              <a:t>Empty cells in ratings columns</a:t>
            </a:r>
            <a:endParaRPr lang="en-US" sz="1100" dirty="0"/>
          </a:p>
        </p:txBody>
      </p:sp>
      <p:sp>
        <p:nvSpPr>
          <p:cNvPr id="10" name="Shape 7"/>
          <p:cNvSpPr/>
          <p:nvPr/>
        </p:nvSpPr>
        <p:spPr>
          <a:xfrm>
            <a:off x="5029200" y="777240"/>
            <a:ext cx="3744615" cy="3285941"/>
          </a:xfrm>
          <a:prstGeom prst="rect">
            <a:avLst/>
          </a:prstGeom>
          <a:solidFill>
            <a:srgbClr val="FFFFFF"/>
          </a:solidFill>
          <a:ln/>
          <a:effectLst>
            <a:outerShdw blurRad="63500" dist="25400" dir="8100000" algn="bl" rotWithShape="0">
              <a:srgbClr val="000000">
                <a:alpha val="10000"/>
              </a:srgbClr>
            </a:outerShdw>
          </a:effectLst>
        </p:spPr>
      </p:sp>
      <p:sp>
        <p:nvSpPr>
          <p:cNvPr id="11" name="Shape 8"/>
          <p:cNvSpPr/>
          <p:nvPr/>
        </p:nvSpPr>
        <p:spPr>
          <a:xfrm>
            <a:off x="5029200" y="777240"/>
            <a:ext cx="3744615" cy="54864"/>
          </a:xfrm>
          <a:prstGeom prst="rect">
            <a:avLst/>
          </a:prstGeom>
          <a:solidFill>
            <a:srgbClr val="10B981"/>
          </a:solidFill>
          <a:ln/>
        </p:spPr>
      </p:sp>
      <p:pic>
        <p:nvPicPr>
          <p:cNvPr id="12" name="Image 1" descr="preencoded.png"/>
          <p:cNvPicPr>
            <a:picLocks noChangeAspect="1"/>
          </p:cNvPicPr>
          <p:nvPr/>
        </p:nvPicPr>
        <p:blipFill>
          <a:blip r:embed="rId4"/>
          <a:stretch>
            <a:fillRect/>
          </a:stretch>
        </p:blipFill>
        <p:spPr>
          <a:xfrm>
            <a:off x="5212080" y="914400"/>
            <a:ext cx="365760" cy="365760"/>
          </a:xfrm>
          <a:prstGeom prst="rect">
            <a:avLst/>
          </a:prstGeom>
        </p:spPr>
      </p:pic>
      <p:sp>
        <p:nvSpPr>
          <p:cNvPr id="13" name="Text 9"/>
          <p:cNvSpPr/>
          <p:nvPr/>
        </p:nvSpPr>
        <p:spPr>
          <a:xfrm>
            <a:off x="5669280" y="914400"/>
            <a:ext cx="3017520" cy="365760"/>
          </a:xfrm>
          <a:prstGeom prst="rect">
            <a:avLst/>
          </a:prstGeom>
          <a:noFill/>
          <a:ln/>
        </p:spPr>
        <p:txBody>
          <a:bodyPr wrap="square" rtlCol="0" anchor="ctr"/>
          <a:lstStyle/>
          <a:p>
            <a:pPr marL="0" indent="0">
              <a:buNone/>
            </a:pPr>
            <a:r>
              <a:rPr lang="en-US" sz="1400" b="1" dirty="0">
                <a:solidFill>
                  <a:srgbClr val="10B981"/>
                </a:solidFill>
              </a:rPr>
              <a:t>AFTER Cleaning</a:t>
            </a:r>
            <a:endParaRPr lang="en-US" sz="1400" dirty="0"/>
          </a:p>
        </p:txBody>
      </p:sp>
      <p:sp>
        <p:nvSpPr>
          <p:cNvPr id="14" name="Text 10"/>
          <p:cNvSpPr/>
          <p:nvPr/>
        </p:nvSpPr>
        <p:spPr>
          <a:xfrm>
            <a:off x="5212080" y="1417320"/>
            <a:ext cx="3474720" cy="1005840"/>
          </a:xfrm>
          <a:prstGeom prst="rect">
            <a:avLst/>
          </a:prstGeom>
          <a:noFill/>
          <a:ln/>
        </p:spPr>
        <p:txBody>
          <a:bodyPr wrap="square" rtlCol="0" anchor="ctr"/>
          <a:lstStyle/>
          <a:p>
            <a:pPr marL="0" indent="0" algn="ctr">
              <a:buNone/>
            </a:pPr>
            <a:r>
              <a:rPr lang="en-US" sz="3200" b="1" dirty="0">
                <a:solidFill>
                  <a:srgbClr val="10B981"/>
                </a:solidFill>
              </a:rPr>
              <a:t>20,408</a:t>
            </a:r>
            <a:endParaRPr lang="en-US" sz="3200" dirty="0"/>
          </a:p>
          <a:p>
            <a:pPr marL="0" indent="0" algn="ctr">
              <a:buNone/>
            </a:pPr>
            <a:r>
              <a:rPr lang="en-US" sz="1200" dirty="0">
                <a:solidFill>
                  <a:srgbClr val="6B7280"/>
                </a:solidFill>
              </a:rPr>
              <a:t>Unique Records Retained</a:t>
            </a:r>
            <a:endParaRPr lang="en-US" sz="3200" dirty="0"/>
          </a:p>
        </p:txBody>
      </p:sp>
      <p:sp>
        <p:nvSpPr>
          <p:cNvPr id="15" name="Text 11"/>
          <p:cNvSpPr/>
          <p:nvPr/>
        </p:nvSpPr>
        <p:spPr>
          <a:xfrm>
            <a:off x="5212080" y="2370656"/>
            <a:ext cx="3474720" cy="1920240"/>
          </a:xfrm>
          <a:prstGeom prst="rect">
            <a:avLst/>
          </a:prstGeom>
          <a:noFill/>
          <a:ln/>
        </p:spPr>
        <p:txBody>
          <a:bodyPr wrap="square" rtlCol="0" anchor="ctr"/>
          <a:lstStyle/>
          <a:p>
            <a:pPr marL="342900" indent="-342900">
              <a:spcAft>
                <a:spcPts val="500"/>
              </a:spcAft>
              <a:buSzPct val="100000"/>
              <a:buChar char="•"/>
            </a:pPr>
            <a:r>
              <a:rPr lang="en-US" sz="1100" dirty="0">
                <a:solidFill>
                  <a:srgbClr val="2D2D2D"/>
                </a:solidFill>
              </a:rPr>
              <a:t>Remove Duplicates tool applied</a:t>
            </a:r>
            <a:endParaRPr lang="en-US" sz="1100" dirty="0"/>
          </a:p>
          <a:p>
            <a:pPr marL="342900" indent="-342900">
              <a:spcAft>
                <a:spcPts val="500"/>
              </a:spcAft>
              <a:buSzPct val="100000"/>
              <a:buChar char="•"/>
            </a:pPr>
            <a:r>
              <a:rPr lang="en-US" sz="1100" dirty="0">
                <a:solidFill>
                  <a:srgbClr val="2D2D2D"/>
                </a:solidFill>
              </a:rPr>
              <a:t>Null replaced with appropriate values</a:t>
            </a:r>
            <a:endParaRPr lang="en-US" sz="1100" dirty="0"/>
          </a:p>
          <a:p>
            <a:pPr marL="342900" indent="-342900">
              <a:spcAft>
                <a:spcPts val="500"/>
              </a:spcAft>
              <a:buSzPct val="100000"/>
              <a:buChar char="•"/>
            </a:pPr>
            <a:r>
              <a:rPr lang="en-US" sz="1100" dirty="0">
                <a:solidFill>
                  <a:srgbClr val="2D2D2D"/>
                </a:solidFill>
              </a:rPr>
              <a:t>Find &amp; Replace for standardization</a:t>
            </a:r>
            <a:endParaRPr lang="en-US" sz="1100" dirty="0"/>
          </a:p>
          <a:p>
            <a:pPr marL="342900" indent="-342900">
              <a:spcAft>
                <a:spcPts val="500"/>
              </a:spcAft>
              <a:buSzPct val="100000"/>
              <a:buChar char="•"/>
            </a:pPr>
            <a:r>
              <a:rPr lang="en-US" sz="1100" dirty="0">
                <a:solidFill>
                  <a:srgbClr val="2D2D2D"/>
                </a:solidFill>
              </a:rPr>
              <a:t>Data validated across 19 columns</a:t>
            </a:r>
            <a:endParaRPr lang="en-US" sz="1100" dirty="0"/>
          </a:p>
        </p:txBody>
      </p:sp>
      <p:pic>
        <p:nvPicPr>
          <p:cNvPr id="16" name="Image 2" descr="preencoded.png"/>
          <p:cNvPicPr>
            <a:picLocks noChangeAspect="1"/>
          </p:cNvPicPr>
          <p:nvPr/>
        </p:nvPicPr>
        <p:blipFill>
          <a:blip r:embed="rId5"/>
          <a:stretch>
            <a:fillRect/>
          </a:stretch>
        </p:blipFill>
        <p:spPr>
          <a:xfrm>
            <a:off x="4224528" y="2194560"/>
            <a:ext cx="457200" cy="457200"/>
          </a:xfrm>
          <a:prstGeom prst="rect">
            <a:avLst/>
          </a:prstGeom>
        </p:spPr>
      </p:pic>
      <p:sp>
        <p:nvSpPr>
          <p:cNvPr id="18" name="TextBox 17">
            <a:extLst>
              <a:ext uri="{FF2B5EF4-FFF2-40B4-BE49-F238E27FC236}">
                <a16:creationId xmlns:a16="http://schemas.microsoft.com/office/drawing/2014/main" id="{8D5FAF6B-30E5-50AA-606A-838CCFE4E3C8}"/>
              </a:ext>
            </a:extLst>
          </p:cNvPr>
          <p:cNvSpPr txBox="1"/>
          <p:nvPr/>
        </p:nvSpPr>
        <p:spPr>
          <a:xfrm>
            <a:off x="457200" y="4173794"/>
            <a:ext cx="8138160" cy="738664"/>
          </a:xfrm>
          <a:prstGeom prst="rect">
            <a:avLst/>
          </a:prstGeom>
          <a:noFill/>
        </p:spPr>
        <p:txBody>
          <a:bodyPr wrap="square" rtlCol="0">
            <a:spAutoFit/>
          </a:bodyPr>
          <a:lstStyle/>
          <a:p>
            <a:r>
              <a:rPr lang="en-US" sz="1400" dirty="0"/>
              <a:t>This slide shows the data cleaning process performed in Excel. From 82,616 duplicate and inconsistent records, the dataset was cleaned by removing duplicates, handling missing values, and standardizing data formats, resulting in 20,408 accurate records ready for reliable analysis</a:t>
            </a:r>
            <a:endParaRPr lang="en-IN"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72A"/>
          </a:solidFill>
          <a:ln/>
        </p:spPr>
      </p:sp>
      <p:sp>
        <p:nvSpPr>
          <p:cNvPr id="3" name="Text 1"/>
          <p:cNvSpPr/>
          <p:nvPr/>
        </p:nvSpPr>
        <p:spPr>
          <a:xfrm>
            <a:off x="365760" y="0"/>
            <a:ext cx="8229600" cy="594360"/>
          </a:xfrm>
          <a:prstGeom prst="rect">
            <a:avLst/>
          </a:prstGeom>
          <a:noFill/>
          <a:ln/>
        </p:spPr>
        <p:txBody>
          <a:bodyPr wrap="square" rtlCol="0" anchor="ctr"/>
          <a:lstStyle/>
          <a:p>
            <a:pPr marL="0" indent="0">
              <a:buNone/>
            </a:pPr>
            <a:r>
              <a:rPr lang="en-US" sz="1300" b="1" dirty="0">
                <a:solidFill>
                  <a:srgbClr val="FFFFFF"/>
                </a:solidFill>
              </a:rPr>
              <a:t>📗  EXCEL — FINAL CLEAN DATASET</a:t>
            </a:r>
            <a:endParaRPr lang="en-US" sz="1300" dirty="0"/>
          </a:p>
        </p:txBody>
      </p:sp>
      <p:graphicFrame>
        <p:nvGraphicFramePr>
          <p:cNvPr id="4" name="Chart 0"/>
          <p:cNvGraphicFramePr/>
          <p:nvPr/>
        </p:nvGraphicFramePr>
        <p:xfrm>
          <a:off x="274320" y="777240"/>
          <a:ext cx="502920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577840" y="777240"/>
            <a:ext cx="3291840" cy="3840480"/>
          </a:xfrm>
          <a:prstGeom prst="rect">
            <a:avLst/>
          </a:prstGeom>
          <a:solidFill>
            <a:srgbClr val="FFFFFF"/>
          </a:solidFill>
          <a:ln/>
          <a:effectLst>
            <a:outerShdw blurRad="63500" dist="25400" dir="8100000" algn="bl" rotWithShape="0">
              <a:srgbClr val="000000">
                <a:alpha val="10000"/>
              </a:srgbClr>
            </a:outerShdw>
          </a:effectLst>
        </p:spPr>
      </p:sp>
      <p:sp>
        <p:nvSpPr>
          <p:cNvPr id="6" name="Shape 3"/>
          <p:cNvSpPr/>
          <p:nvPr/>
        </p:nvSpPr>
        <p:spPr>
          <a:xfrm>
            <a:off x="5577840" y="777240"/>
            <a:ext cx="3291840" cy="54864"/>
          </a:xfrm>
          <a:prstGeom prst="rect">
            <a:avLst/>
          </a:prstGeom>
          <a:solidFill>
            <a:srgbClr val="1A472A"/>
          </a:solidFill>
          <a:ln/>
        </p:spPr>
      </p:sp>
      <p:sp>
        <p:nvSpPr>
          <p:cNvPr id="7" name="Text 4"/>
          <p:cNvSpPr/>
          <p:nvPr/>
        </p:nvSpPr>
        <p:spPr>
          <a:xfrm>
            <a:off x="5669280" y="914400"/>
            <a:ext cx="3108960" cy="365760"/>
          </a:xfrm>
          <a:prstGeom prst="rect">
            <a:avLst/>
          </a:prstGeom>
          <a:noFill/>
          <a:ln/>
        </p:spPr>
        <p:txBody>
          <a:bodyPr wrap="square" rtlCol="0" anchor="ctr"/>
          <a:lstStyle/>
          <a:p>
            <a:pPr marL="0" indent="0">
              <a:buNone/>
            </a:pPr>
            <a:r>
              <a:rPr lang="en-US" sz="1300" b="1" dirty="0">
                <a:solidFill>
                  <a:srgbClr val="1A1A1A"/>
                </a:solidFill>
              </a:rPr>
              <a:t>Cleaning Summary</a:t>
            </a:r>
            <a:endParaRPr lang="en-US" sz="1300" dirty="0"/>
          </a:p>
        </p:txBody>
      </p:sp>
      <p:sp>
        <p:nvSpPr>
          <p:cNvPr id="8" name="Shape 5"/>
          <p:cNvSpPr/>
          <p:nvPr/>
        </p:nvSpPr>
        <p:spPr>
          <a:xfrm>
            <a:off x="5669280" y="1417320"/>
            <a:ext cx="3017520" cy="475488"/>
          </a:xfrm>
          <a:prstGeom prst="rect">
            <a:avLst/>
          </a:prstGeom>
          <a:solidFill>
            <a:srgbClr val="F9FAFB"/>
          </a:solidFill>
          <a:ln/>
        </p:spPr>
      </p:sp>
      <p:sp>
        <p:nvSpPr>
          <p:cNvPr id="9" name="Text 6"/>
          <p:cNvSpPr/>
          <p:nvPr/>
        </p:nvSpPr>
        <p:spPr>
          <a:xfrm>
            <a:off x="5760720" y="1417320"/>
            <a:ext cx="1828800" cy="475488"/>
          </a:xfrm>
          <a:prstGeom prst="rect">
            <a:avLst/>
          </a:prstGeom>
          <a:noFill/>
          <a:ln/>
        </p:spPr>
        <p:txBody>
          <a:bodyPr wrap="square" rtlCol="0" anchor="ctr"/>
          <a:lstStyle/>
          <a:p>
            <a:pPr marL="0" indent="0">
              <a:buNone/>
            </a:pPr>
            <a:r>
              <a:rPr lang="en-US" sz="1100" dirty="0">
                <a:solidFill>
                  <a:srgbClr val="6B7280"/>
                </a:solidFill>
              </a:rPr>
              <a:t>Original Rows</a:t>
            </a:r>
            <a:endParaRPr lang="en-US" sz="1100" dirty="0"/>
          </a:p>
        </p:txBody>
      </p:sp>
      <p:sp>
        <p:nvSpPr>
          <p:cNvPr id="10" name="Text 7"/>
          <p:cNvSpPr/>
          <p:nvPr/>
        </p:nvSpPr>
        <p:spPr>
          <a:xfrm>
            <a:off x="7315200" y="1417320"/>
            <a:ext cx="1188720" cy="475488"/>
          </a:xfrm>
          <a:prstGeom prst="rect">
            <a:avLst/>
          </a:prstGeom>
          <a:noFill/>
          <a:ln/>
        </p:spPr>
        <p:txBody>
          <a:bodyPr wrap="square" rtlCol="0" anchor="ctr"/>
          <a:lstStyle/>
          <a:p>
            <a:pPr marL="0" indent="0" algn="r">
              <a:buNone/>
            </a:pPr>
            <a:r>
              <a:rPr lang="en-US" sz="1200" b="1" dirty="0">
                <a:solidFill>
                  <a:srgbClr val="1A1A1A"/>
                </a:solidFill>
              </a:rPr>
              <a:t>103,024</a:t>
            </a:r>
            <a:endParaRPr lang="en-US" sz="1200" dirty="0"/>
          </a:p>
        </p:txBody>
      </p:sp>
      <p:sp>
        <p:nvSpPr>
          <p:cNvPr id="11" name="Shape 8"/>
          <p:cNvSpPr/>
          <p:nvPr/>
        </p:nvSpPr>
        <p:spPr>
          <a:xfrm>
            <a:off x="5669280" y="2011680"/>
            <a:ext cx="3017520" cy="475488"/>
          </a:xfrm>
          <a:prstGeom prst="rect">
            <a:avLst/>
          </a:prstGeom>
          <a:solidFill>
            <a:srgbClr val="FFFFFF"/>
          </a:solidFill>
          <a:ln/>
        </p:spPr>
      </p:sp>
      <p:sp>
        <p:nvSpPr>
          <p:cNvPr id="12" name="Text 9"/>
          <p:cNvSpPr/>
          <p:nvPr/>
        </p:nvSpPr>
        <p:spPr>
          <a:xfrm>
            <a:off x="5760720" y="2011680"/>
            <a:ext cx="1828800" cy="475488"/>
          </a:xfrm>
          <a:prstGeom prst="rect">
            <a:avLst/>
          </a:prstGeom>
          <a:noFill/>
          <a:ln/>
        </p:spPr>
        <p:txBody>
          <a:bodyPr wrap="square" rtlCol="0" anchor="ctr"/>
          <a:lstStyle/>
          <a:p>
            <a:pPr marL="0" indent="0">
              <a:buNone/>
            </a:pPr>
            <a:r>
              <a:rPr lang="en-US" sz="1100" dirty="0">
                <a:solidFill>
                  <a:srgbClr val="6B7280"/>
                </a:solidFill>
              </a:rPr>
              <a:t>Duplicates Removed</a:t>
            </a:r>
            <a:endParaRPr lang="en-US" sz="1100" dirty="0"/>
          </a:p>
        </p:txBody>
      </p:sp>
      <p:sp>
        <p:nvSpPr>
          <p:cNvPr id="13" name="Text 10"/>
          <p:cNvSpPr/>
          <p:nvPr/>
        </p:nvSpPr>
        <p:spPr>
          <a:xfrm>
            <a:off x="7315200" y="2011680"/>
            <a:ext cx="1188720" cy="475488"/>
          </a:xfrm>
          <a:prstGeom prst="rect">
            <a:avLst/>
          </a:prstGeom>
          <a:noFill/>
          <a:ln/>
        </p:spPr>
        <p:txBody>
          <a:bodyPr wrap="square" rtlCol="0" anchor="ctr"/>
          <a:lstStyle/>
          <a:p>
            <a:pPr marL="0" indent="0" algn="r">
              <a:buNone/>
            </a:pPr>
            <a:r>
              <a:rPr lang="en-US" sz="1200" b="1" dirty="0">
                <a:solidFill>
                  <a:srgbClr val="1A1A1A"/>
                </a:solidFill>
              </a:rPr>
              <a:t>82,616</a:t>
            </a:r>
            <a:endParaRPr lang="en-US" sz="1200" dirty="0"/>
          </a:p>
        </p:txBody>
      </p:sp>
      <p:sp>
        <p:nvSpPr>
          <p:cNvPr id="14" name="Shape 11"/>
          <p:cNvSpPr/>
          <p:nvPr/>
        </p:nvSpPr>
        <p:spPr>
          <a:xfrm>
            <a:off x="5669280" y="2606040"/>
            <a:ext cx="3017520" cy="475488"/>
          </a:xfrm>
          <a:prstGeom prst="rect">
            <a:avLst/>
          </a:prstGeom>
          <a:solidFill>
            <a:srgbClr val="F9FAFB"/>
          </a:solidFill>
          <a:ln/>
        </p:spPr>
      </p:sp>
      <p:sp>
        <p:nvSpPr>
          <p:cNvPr id="15" name="Text 12"/>
          <p:cNvSpPr/>
          <p:nvPr/>
        </p:nvSpPr>
        <p:spPr>
          <a:xfrm>
            <a:off x="5760720" y="2606040"/>
            <a:ext cx="1828800" cy="475488"/>
          </a:xfrm>
          <a:prstGeom prst="rect">
            <a:avLst/>
          </a:prstGeom>
          <a:noFill/>
          <a:ln/>
        </p:spPr>
        <p:txBody>
          <a:bodyPr wrap="square" rtlCol="0" anchor="ctr"/>
          <a:lstStyle/>
          <a:p>
            <a:pPr marL="0" indent="0">
              <a:buNone/>
            </a:pPr>
            <a:r>
              <a:rPr lang="en-US" sz="1100" dirty="0">
                <a:solidFill>
                  <a:srgbClr val="6B7280"/>
                </a:solidFill>
              </a:rPr>
              <a:t>Final Rows</a:t>
            </a:r>
            <a:endParaRPr lang="en-US" sz="1100" dirty="0"/>
          </a:p>
        </p:txBody>
      </p:sp>
      <p:sp>
        <p:nvSpPr>
          <p:cNvPr id="16" name="Text 13"/>
          <p:cNvSpPr/>
          <p:nvPr/>
        </p:nvSpPr>
        <p:spPr>
          <a:xfrm>
            <a:off x="7315200" y="2606040"/>
            <a:ext cx="1188720" cy="475488"/>
          </a:xfrm>
          <a:prstGeom prst="rect">
            <a:avLst/>
          </a:prstGeom>
          <a:noFill/>
          <a:ln/>
        </p:spPr>
        <p:txBody>
          <a:bodyPr wrap="square" rtlCol="0" anchor="ctr"/>
          <a:lstStyle/>
          <a:p>
            <a:pPr marL="0" indent="0" algn="r">
              <a:buNone/>
            </a:pPr>
            <a:r>
              <a:rPr lang="en-US" sz="1200" b="1" dirty="0">
                <a:solidFill>
                  <a:srgbClr val="1A1A1A"/>
                </a:solidFill>
              </a:rPr>
              <a:t>20,408</a:t>
            </a:r>
            <a:endParaRPr lang="en-US" sz="1200" dirty="0"/>
          </a:p>
        </p:txBody>
      </p:sp>
      <p:sp>
        <p:nvSpPr>
          <p:cNvPr id="17" name="Shape 14"/>
          <p:cNvSpPr/>
          <p:nvPr/>
        </p:nvSpPr>
        <p:spPr>
          <a:xfrm>
            <a:off x="5669280" y="3200400"/>
            <a:ext cx="3017520" cy="475488"/>
          </a:xfrm>
          <a:prstGeom prst="rect">
            <a:avLst/>
          </a:prstGeom>
          <a:solidFill>
            <a:srgbClr val="FFFFFF"/>
          </a:solidFill>
          <a:ln/>
        </p:spPr>
      </p:sp>
      <p:sp>
        <p:nvSpPr>
          <p:cNvPr id="18" name="Text 15"/>
          <p:cNvSpPr/>
          <p:nvPr/>
        </p:nvSpPr>
        <p:spPr>
          <a:xfrm>
            <a:off x="5760720" y="3200400"/>
            <a:ext cx="1828800" cy="475488"/>
          </a:xfrm>
          <a:prstGeom prst="rect">
            <a:avLst/>
          </a:prstGeom>
          <a:noFill/>
          <a:ln/>
        </p:spPr>
        <p:txBody>
          <a:bodyPr wrap="square" rtlCol="0" anchor="ctr"/>
          <a:lstStyle/>
          <a:p>
            <a:pPr marL="0" indent="0">
              <a:buNone/>
            </a:pPr>
            <a:r>
              <a:rPr lang="en-US" sz="1100" dirty="0">
                <a:solidFill>
                  <a:srgbClr val="6B7280"/>
                </a:solidFill>
              </a:rPr>
              <a:t>Data Reduction</a:t>
            </a:r>
            <a:endParaRPr lang="en-US" sz="1100" dirty="0"/>
          </a:p>
        </p:txBody>
      </p:sp>
      <p:sp>
        <p:nvSpPr>
          <p:cNvPr id="19" name="Text 16"/>
          <p:cNvSpPr/>
          <p:nvPr/>
        </p:nvSpPr>
        <p:spPr>
          <a:xfrm>
            <a:off x="7315200" y="3200400"/>
            <a:ext cx="1188720" cy="475488"/>
          </a:xfrm>
          <a:prstGeom prst="rect">
            <a:avLst/>
          </a:prstGeom>
          <a:noFill/>
          <a:ln/>
        </p:spPr>
        <p:txBody>
          <a:bodyPr wrap="square" rtlCol="0" anchor="ctr"/>
          <a:lstStyle/>
          <a:p>
            <a:pPr marL="0" indent="0" algn="r">
              <a:buNone/>
            </a:pPr>
            <a:r>
              <a:rPr lang="en-US" sz="1200" b="1" dirty="0">
                <a:solidFill>
                  <a:srgbClr val="1A1A1A"/>
                </a:solidFill>
              </a:rPr>
              <a:t>80.2%</a:t>
            </a:r>
            <a:endParaRPr lang="en-US" sz="1200" dirty="0"/>
          </a:p>
        </p:txBody>
      </p:sp>
      <p:sp>
        <p:nvSpPr>
          <p:cNvPr id="20" name="Shape 17"/>
          <p:cNvSpPr/>
          <p:nvPr/>
        </p:nvSpPr>
        <p:spPr>
          <a:xfrm>
            <a:off x="5669280" y="3794760"/>
            <a:ext cx="3017520" cy="475488"/>
          </a:xfrm>
          <a:prstGeom prst="rect">
            <a:avLst/>
          </a:prstGeom>
          <a:solidFill>
            <a:srgbClr val="F9FAFB"/>
          </a:solidFill>
          <a:ln/>
        </p:spPr>
      </p:sp>
      <p:sp>
        <p:nvSpPr>
          <p:cNvPr id="21" name="Text 18"/>
          <p:cNvSpPr/>
          <p:nvPr/>
        </p:nvSpPr>
        <p:spPr>
          <a:xfrm>
            <a:off x="5760720" y="3794760"/>
            <a:ext cx="1828800" cy="475488"/>
          </a:xfrm>
          <a:prstGeom prst="rect">
            <a:avLst/>
          </a:prstGeom>
          <a:noFill/>
          <a:ln/>
        </p:spPr>
        <p:txBody>
          <a:bodyPr wrap="square" rtlCol="0" anchor="ctr"/>
          <a:lstStyle/>
          <a:p>
            <a:pPr marL="0" indent="0">
              <a:buNone/>
            </a:pPr>
            <a:r>
              <a:rPr lang="en-US" sz="1100" dirty="0">
                <a:solidFill>
                  <a:srgbClr val="6B7280"/>
                </a:solidFill>
              </a:rPr>
              <a:t>Columns</a:t>
            </a:r>
            <a:endParaRPr lang="en-US" sz="1100" dirty="0"/>
          </a:p>
        </p:txBody>
      </p:sp>
      <p:sp>
        <p:nvSpPr>
          <p:cNvPr id="22" name="Text 19"/>
          <p:cNvSpPr/>
          <p:nvPr/>
        </p:nvSpPr>
        <p:spPr>
          <a:xfrm>
            <a:off x="7315200" y="3794760"/>
            <a:ext cx="1188720" cy="475488"/>
          </a:xfrm>
          <a:prstGeom prst="rect">
            <a:avLst/>
          </a:prstGeom>
          <a:noFill/>
          <a:ln/>
        </p:spPr>
        <p:txBody>
          <a:bodyPr wrap="square" rtlCol="0" anchor="ctr"/>
          <a:lstStyle/>
          <a:p>
            <a:pPr marL="0" indent="0" algn="r">
              <a:buNone/>
            </a:pPr>
            <a:r>
              <a:rPr lang="en-US" sz="1200" b="1" dirty="0">
                <a:solidFill>
                  <a:srgbClr val="1A1A1A"/>
                </a:solidFill>
              </a:rPr>
              <a:t>19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3A5F"/>
          </a:solidFill>
          <a:ln/>
        </p:spPr>
      </p:sp>
      <p:sp>
        <p:nvSpPr>
          <p:cNvPr id="3" name="Text 1"/>
          <p:cNvSpPr/>
          <p:nvPr/>
        </p:nvSpPr>
        <p:spPr>
          <a:xfrm>
            <a:off x="365760" y="0"/>
            <a:ext cx="8229600" cy="594360"/>
          </a:xfrm>
          <a:prstGeom prst="rect">
            <a:avLst/>
          </a:prstGeom>
          <a:noFill/>
          <a:ln/>
        </p:spPr>
        <p:txBody>
          <a:bodyPr wrap="square" rtlCol="0" anchor="ctr"/>
          <a:lstStyle/>
          <a:p>
            <a:pPr marL="0" indent="0">
              <a:buNone/>
            </a:pPr>
            <a:r>
              <a:rPr lang="en-US" sz="1300" b="1" dirty="0">
                <a:solidFill>
                  <a:srgbClr val="F5C518"/>
                </a:solidFill>
              </a:rPr>
              <a:t>🗄  SQL — DATABASE SETUP (PostgreSQL)</a:t>
            </a:r>
            <a:endParaRPr lang="en-US" sz="1300" dirty="0"/>
          </a:p>
        </p:txBody>
      </p:sp>
      <p:sp>
        <p:nvSpPr>
          <p:cNvPr id="4" name="Shape 2"/>
          <p:cNvSpPr/>
          <p:nvPr/>
        </p:nvSpPr>
        <p:spPr>
          <a:xfrm>
            <a:off x="274320" y="731520"/>
            <a:ext cx="1920240" cy="822960"/>
          </a:xfrm>
          <a:prstGeom prst="rect">
            <a:avLst/>
          </a:prstGeom>
          <a:solidFill>
            <a:srgbClr val="1E3A5F"/>
          </a:solidFill>
          <a:ln/>
          <a:effectLst>
            <a:outerShdw blurRad="50800" dist="25400" dir="8100000" algn="bl" rotWithShape="0">
              <a:srgbClr val="000000">
                <a:alpha val="20000"/>
              </a:srgbClr>
            </a:outerShdw>
          </a:effectLst>
        </p:spPr>
      </p:sp>
      <p:sp>
        <p:nvSpPr>
          <p:cNvPr id="5" name="Text 3"/>
          <p:cNvSpPr/>
          <p:nvPr/>
        </p:nvSpPr>
        <p:spPr>
          <a:xfrm>
            <a:off x="274320" y="777240"/>
            <a:ext cx="1920240" cy="320040"/>
          </a:xfrm>
          <a:prstGeom prst="rect">
            <a:avLst/>
          </a:prstGeom>
          <a:noFill/>
          <a:ln/>
        </p:spPr>
        <p:txBody>
          <a:bodyPr wrap="square" rtlCol="0" anchor="ctr"/>
          <a:lstStyle/>
          <a:p>
            <a:pPr marL="0" indent="0" algn="ctr">
              <a:buNone/>
            </a:pPr>
            <a:r>
              <a:rPr lang="en-US" sz="900" dirty="0">
                <a:solidFill>
                  <a:srgbClr val="8B9DC3"/>
                </a:solidFill>
              </a:rPr>
              <a:t>Database</a:t>
            </a:r>
            <a:endParaRPr lang="en-US" sz="900" dirty="0"/>
          </a:p>
        </p:txBody>
      </p:sp>
      <p:sp>
        <p:nvSpPr>
          <p:cNvPr id="6" name="Text 4"/>
          <p:cNvSpPr/>
          <p:nvPr/>
        </p:nvSpPr>
        <p:spPr>
          <a:xfrm>
            <a:off x="274320" y="1097280"/>
            <a:ext cx="1920240" cy="365760"/>
          </a:xfrm>
          <a:prstGeom prst="rect">
            <a:avLst/>
          </a:prstGeom>
          <a:noFill/>
          <a:ln/>
        </p:spPr>
        <p:txBody>
          <a:bodyPr wrap="square" rtlCol="0" anchor="ctr"/>
          <a:lstStyle/>
          <a:p>
            <a:pPr marL="0" indent="0" algn="ctr">
              <a:buNone/>
            </a:pPr>
            <a:r>
              <a:rPr lang="en-US" sz="1300" b="1" dirty="0" err="1">
                <a:solidFill>
                  <a:srgbClr val="F5C518"/>
                </a:solidFill>
              </a:rPr>
              <a:t>ipsar_od_dataset</a:t>
            </a:r>
            <a:endParaRPr lang="en-US" sz="1300" dirty="0"/>
          </a:p>
        </p:txBody>
      </p:sp>
      <p:sp>
        <p:nvSpPr>
          <p:cNvPr id="7" name="Shape 5"/>
          <p:cNvSpPr/>
          <p:nvPr/>
        </p:nvSpPr>
        <p:spPr>
          <a:xfrm>
            <a:off x="2450592" y="731520"/>
            <a:ext cx="1920240" cy="822960"/>
          </a:xfrm>
          <a:prstGeom prst="rect">
            <a:avLst/>
          </a:prstGeom>
          <a:solidFill>
            <a:srgbClr val="1E3A5F"/>
          </a:solidFill>
          <a:ln/>
          <a:effectLst>
            <a:outerShdw blurRad="50800" dist="25400" dir="8100000" algn="bl" rotWithShape="0">
              <a:srgbClr val="000000">
                <a:alpha val="20000"/>
              </a:srgbClr>
            </a:outerShdw>
          </a:effectLst>
        </p:spPr>
      </p:sp>
      <p:sp>
        <p:nvSpPr>
          <p:cNvPr id="8" name="Text 6"/>
          <p:cNvSpPr/>
          <p:nvPr/>
        </p:nvSpPr>
        <p:spPr>
          <a:xfrm>
            <a:off x="2450592" y="777240"/>
            <a:ext cx="1920240" cy="320040"/>
          </a:xfrm>
          <a:prstGeom prst="rect">
            <a:avLst/>
          </a:prstGeom>
          <a:noFill/>
          <a:ln/>
        </p:spPr>
        <p:txBody>
          <a:bodyPr wrap="square" rtlCol="0" anchor="ctr"/>
          <a:lstStyle/>
          <a:p>
            <a:pPr marL="0" indent="0" algn="ctr">
              <a:buNone/>
            </a:pPr>
            <a:r>
              <a:rPr lang="en-US" sz="900" dirty="0">
                <a:solidFill>
                  <a:srgbClr val="8B9DC3"/>
                </a:solidFill>
              </a:rPr>
              <a:t>Table</a:t>
            </a:r>
            <a:endParaRPr lang="en-US" sz="900" dirty="0"/>
          </a:p>
        </p:txBody>
      </p:sp>
      <p:sp>
        <p:nvSpPr>
          <p:cNvPr id="9" name="Text 7"/>
          <p:cNvSpPr/>
          <p:nvPr/>
        </p:nvSpPr>
        <p:spPr>
          <a:xfrm>
            <a:off x="2450592" y="1097280"/>
            <a:ext cx="1920240" cy="365760"/>
          </a:xfrm>
          <a:prstGeom prst="rect">
            <a:avLst/>
          </a:prstGeom>
          <a:noFill/>
          <a:ln/>
        </p:spPr>
        <p:txBody>
          <a:bodyPr wrap="square" rtlCol="0" anchor="ctr"/>
          <a:lstStyle/>
          <a:p>
            <a:pPr marL="0" indent="0" algn="ctr">
              <a:buNone/>
            </a:pPr>
            <a:r>
              <a:rPr lang="en-US" sz="1300" b="1" dirty="0">
                <a:solidFill>
                  <a:srgbClr val="F5C518"/>
                </a:solidFill>
              </a:rPr>
              <a:t>odisha_yatri</a:t>
            </a:r>
            <a:endParaRPr lang="en-US" sz="1300" dirty="0"/>
          </a:p>
        </p:txBody>
      </p:sp>
      <p:sp>
        <p:nvSpPr>
          <p:cNvPr id="10" name="Shape 8"/>
          <p:cNvSpPr/>
          <p:nvPr/>
        </p:nvSpPr>
        <p:spPr>
          <a:xfrm>
            <a:off x="4626864" y="731520"/>
            <a:ext cx="1920240" cy="822960"/>
          </a:xfrm>
          <a:prstGeom prst="rect">
            <a:avLst/>
          </a:prstGeom>
          <a:solidFill>
            <a:srgbClr val="1E3A5F"/>
          </a:solidFill>
          <a:ln/>
          <a:effectLst>
            <a:outerShdw blurRad="50800" dist="25400" dir="8100000" algn="bl" rotWithShape="0">
              <a:srgbClr val="000000">
                <a:alpha val="20000"/>
              </a:srgbClr>
            </a:outerShdw>
          </a:effectLst>
        </p:spPr>
      </p:sp>
      <p:sp>
        <p:nvSpPr>
          <p:cNvPr id="11" name="Text 9"/>
          <p:cNvSpPr/>
          <p:nvPr/>
        </p:nvSpPr>
        <p:spPr>
          <a:xfrm>
            <a:off x="4626864" y="777240"/>
            <a:ext cx="1920240" cy="320040"/>
          </a:xfrm>
          <a:prstGeom prst="rect">
            <a:avLst/>
          </a:prstGeom>
          <a:noFill/>
          <a:ln/>
        </p:spPr>
        <p:txBody>
          <a:bodyPr wrap="square" rtlCol="0" anchor="ctr"/>
          <a:lstStyle/>
          <a:p>
            <a:pPr marL="0" indent="0" algn="ctr">
              <a:buNone/>
            </a:pPr>
            <a:r>
              <a:rPr lang="en-US" sz="900" dirty="0">
                <a:solidFill>
                  <a:srgbClr val="8B9DC3"/>
                </a:solidFill>
              </a:rPr>
              <a:t>Records</a:t>
            </a:r>
            <a:endParaRPr lang="en-US" sz="900" dirty="0"/>
          </a:p>
        </p:txBody>
      </p:sp>
      <p:sp>
        <p:nvSpPr>
          <p:cNvPr id="12" name="Text 10"/>
          <p:cNvSpPr/>
          <p:nvPr/>
        </p:nvSpPr>
        <p:spPr>
          <a:xfrm>
            <a:off x="4626864" y="1097280"/>
            <a:ext cx="1920240" cy="365760"/>
          </a:xfrm>
          <a:prstGeom prst="rect">
            <a:avLst/>
          </a:prstGeom>
          <a:noFill/>
          <a:ln/>
        </p:spPr>
        <p:txBody>
          <a:bodyPr wrap="square" rtlCol="0" anchor="ctr"/>
          <a:lstStyle/>
          <a:p>
            <a:pPr marL="0" indent="0" algn="ctr">
              <a:buNone/>
            </a:pPr>
            <a:r>
              <a:rPr lang="en-US" sz="1300" b="1" dirty="0">
                <a:solidFill>
                  <a:srgbClr val="F5C518"/>
                </a:solidFill>
              </a:rPr>
              <a:t>20,408</a:t>
            </a:r>
            <a:endParaRPr lang="en-US" sz="1300" dirty="0"/>
          </a:p>
        </p:txBody>
      </p:sp>
      <p:sp>
        <p:nvSpPr>
          <p:cNvPr id="13" name="Shape 11"/>
          <p:cNvSpPr/>
          <p:nvPr/>
        </p:nvSpPr>
        <p:spPr>
          <a:xfrm>
            <a:off x="6803136" y="731520"/>
            <a:ext cx="1920240" cy="822960"/>
          </a:xfrm>
          <a:prstGeom prst="rect">
            <a:avLst/>
          </a:prstGeom>
          <a:solidFill>
            <a:srgbClr val="1E3A5F"/>
          </a:solidFill>
          <a:ln/>
          <a:effectLst>
            <a:outerShdw blurRad="50800" dist="25400" dir="8100000" algn="bl" rotWithShape="0">
              <a:srgbClr val="000000">
                <a:alpha val="20000"/>
              </a:srgbClr>
            </a:outerShdw>
          </a:effectLst>
        </p:spPr>
      </p:sp>
      <p:sp>
        <p:nvSpPr>
          <p:cNvPr id="14" name="Text 12"/>
          <p:cNvSpPr/>
          <p:nvPr/>
        </p:nvSpPr>
        <p:spPr>
          <a:xfrm>
            <a:off x="6803136" y="777240"/>
            <a:ext cx="1920240" cy="320040"/>
          </a:xfrm>
          <a:prstGeom prst="rect">
            <a:avLst/>
          </a:prstGeom>
          <a:noFill/>
          <a:ln/>
        </p:spPr>
        <p:txBody>
          <a:bodyPr wrap="square" rtlCol="0" anchor="ctr"/>
          <a:lstStyle/>
          <a:p>
            <a:pPr marL="0" indent="0" algn="ctr">
              <a:buNone/>
            </a:pPr>
            <a:r>
              <a:rPr lang="en-US" sz="900" dirty="0">
                <a:solidFill>
                  <a:srgbClr val="8B9DC3"/>
                </a:solidFill>
              </a:rPr>
              <a:t>Engine</a:t>
            </a:r>
            <a:endParaRPr lang="en-US" sz="900" dirty="0"/>
          </a:p>
        </p:txBody>
      </p:sp>
      <p:sp>
        <p:nvSpPr>
          <p:cNvPr id="15" name="Text 13"/>
          <p:cNvSpPr/>
          <p:nvPr/>
        </p:nvSpPr>
        <p:spPr>
          <a:xfrm>
            <a:off x="6803136" y="1097280"/>
            <a:ext cx="1920240" cy="365760"/>
          </a:xfrm>
          <a:prstGeom prst="rect">
            <a:avLst/>
          </a:prstGeom>
          <a:noFill/>
          <a:ln/>
        </p:spPr>
        <p:txBody>
          <a:bodyPr wrap="square" rtlCol="0" anchor="ctr"/>
          <a:lstStyle/>
          <a:p>
            <a:pPr marL="0" indent="0" algn="ctr">
              <a:buNone/>
            </a:pPr>
            <a:r>
              <a:rPr lang="en-US" sz="1300" b="1" dirty="0">
                <a:solidFill>
                  <a:srgbClr val="F5C518"/>
                </a:solidFill>
              </a:rPr>
              <a:t>PostgreSQL 18</a:t>
            </a:r>
            <a:endParaRPr lang="en-US" sz="1300" dirty="0"/>
          </a:p>
        </p:txBody>
      </p:sp>
      <p:sp>
        <p:nvSpPr>
          <p:cNvPr id="16" name="Shape 14"/>
          <p:cNvSpPr/>
          <p:nvPr/>
        </p:nvSpPr>
        <p:spPr>
          <a:xfrm>
            <a:off x="274320" y="1772756"/>
            <a:ext cx="8595360" cy="3108960"/>
          </a:xfrm>
          <a:prstGeom prst="rect">
            <a:avLst/>
          </a:prstGeom>
          <a:solidFill>
            <a:srgbClr val="161B22"/>
          </a:solidFill>
          <a:ln/>
        </p:spPr>
      </p:sp>
      <p:sp>
        <p:nvSpPr>
          <p:cNvPr id="17" name="Text 15"/>
          <p:cNvSpPr/>
          <p:nvPr/>
        </p:nvSpPr>
        <p:spPr>
          <a:xfrm>
            <a:off x="502920" y="1828800"/>
            <a:ext cx="8229600" cy="274320"/>
          </a:xfrm>
          <a:prstGeom prst="rect">
            <a:avLst/>
          </a:prstGeom>
          <a:noFill/>
          <a:ln/>
        </p:spPr>
        <p:txBody>
          <a:bodyPr wrap="square" rtlCol="0" anchor="ctr"/>
          <a:lstStyle/>
          <a:p>
            <a:pPr marL="0" indent="0">
              <a:buNone/>
            </a:pPr>
            <a:r>
              <a:rPr lang="en-US" sz="1000" i="1" dirty="0">
                <a:solidFill>
                  <a:srgbClr val="6A737D"/>
                </a:solidFill>
              </a:rPr>
              <a:t>-- PostgreSQL Table Definition</a:t>
            </a:r>
            <a:endParaRPr lang="en-US" sz="1000" dirty="0"/>
          </a:p>
        </p:txBody>
      </p:sp>
      <p:sp>
        <p:nvSpPr>
          <p:cNvPr id="18" name="Text 16"/>
          <p:cNvSpPr/>
          <p:nvPr/>
        </p:nvSpPr>
        <p:spPr>
          <a:xfrm>
            <a:off x="502920" y="2148840"/>
            <a:ext cx="8229600" cy="274320"/>
          </a:xfrm>
          <a:prstGeom prst="rect">
            <a:avLst/>
          </a:prstGeom>
          <a:noFill/>
          <a:ln/>
        </p:spPr>
        <p:txBody>
          <a:bodyPr wrap="square" rtlCol="0" anchor="ctr"/>
          <a:lstStyle/>
          <a:p>
            <a:pPr marL="0" indent="0">
              <a:buNone/>
            </a:pPr>
            <a:r>
              <a:rPr lang="en-US" sz="1100" b="1" dirty="0">
                <a:solidFill>
                  <a:srgbClr val="FF7B72"/>
                </a:solidFill>
                <a:latin typeface="Consolas" pitchFamily="34" charset="0"/>
                <a:ea typeface="Consolas" pitchFamily="34" charset="-122"/>
                <a:cs typeface="Consolas" pitchFamily="34" charset="-120"/>
              </a:rPr>
              <a:t>CREATE TABLE </a:t>
            </a:r>
            <a:r>
              <a:rPr lang="en-US" sz="1100" dirty="0">
                <a:solidFill>
                  <a:srgbClr val="79C0FF"/>
                </a:solidFill>
                <a:latin typeface="Consolas" pitchFamily="34" charset="0"/>
                <a:ea typeface="Consolas" pitchFamily="34" charset="-122"/>
                <a:cs typeface="Consolas" pitchFamily="34" charset="-120"/>
              </a:rPr>
              <a:t>odisha_yatri </a:t>
            </a:r>
            <a:r>
              <a:rPr lang="en-US" sz="1100" dirty="0">
                <a:solidFill>
                  <a:srgbClr val="FFFFFF"/>
                </a:solidFill>
                <a:latin typeface="Consolas" pitchFamily="34" charset="0"/>
                <a:ea typeface="Consolas" pitchFamily="34" charset="-122"/>
                <a:cs typeface="Consolas" pitchFamily="34" charset="-120"/>
              </a:rPr>
              <a:t>(</a:t>
            </a:r>
            <a:endParaRPr lang="en-US" sz="1100" dirty="0"/>
          </a:p>
        </p:txBody>
      </p:sp>
      <p:sp>
        <p:nvSpPr>
          <p:cNvPr id="19" name="Text 17"/>
          <p:cNvSpPr/>
          <p:nvPr/>
        </p:nvSpPr>
        <p:spPr>
          <a:xfrm>
            <a:off x="502920" y="2423160"/>
            <a:ext cx="8229600" cy="228600"/>
          </a:xfrm>
          <a:prstGeom prst="rect">
            <a:avLst/>
          </a:prstGeom>
          <a:noFill/>
          <a:ln/>
        </p:spPr>
        <p:txBody>
          <a:bodyPr wrap="square" rtlCol="0" anchor="ctr"/>
          <a:lstStyle/>
          <a:p>
            <a:pPr marL="0" indent="0">
              <a:buNone/>
            </a:pPr>
            <a:r>
              <a:rPr lang="en-US" sz="1000" dirty="0">
                <a:solidFill>
                  <a:srgbClr val="FFA657"/>
                </a:solidFill>
                <a:latin typeface="Consolas" pitchFamily="34" charset="0"/>
                <a:ea typeface="Consolas" pitchFamily="34" charset="-122"/>
                <a:cs typeface="Consolas" pitchFamily="34" charset="-120"/>
              </a:rPr>
              <a:t>  booking_id     VARCHAR(20)  PRIMARY KEY,</a:t>
            </a:r>
            <a:endParaRPr lang="en-US" sz="1000" dirty="0"/>
          </a:p>
        </p:txBody>
      </p:sp>
      <p:sp>
        <p:nvSpPr>
          <p:cNvPr id="20" name="Text 18"/>
          <p:cNvSpPr/>
          <p:nvPr/>
        </p:nvSpPr>
        <p:spPr>
          <a:xfrm>
            <a:off x="502920" y="2651760"/>
            <a:ext cx="8229600" cy="228600"/>
          </a:xfrm>
          <a:prstGeom prst="rect">
            <a:avLst/>
          </a:prstGeom>
          <a:noFill/>
          <a:ln/>
        </p:spPr>
        <p:txBody>
          <a:bodyPr wrap="square" rtlCol="0" anchor="ctr"/>
          <a:lstStyle/>
          <a:p>
            <a:pPr marL="0" indent="0">
              <a:buNone/>
            </a:pPr>
            <a:r>
              <a:rPr lang="en-US" sz="1000" dirty="0">
                <a:solidFill>
                  <a:srgbClr val="A5D6FF"/>
                </a:solidFill>
                <a:latin typeface="Consolas" pitchFamily="34" charset="0"/>
                <a:ea typeface="Consolas" pitchFamily="34" charset="-122"/>
                <a:cs typeface="Consolas" pitchFamily="34" charset="-120"/>
              </a:rPr>
              <a:t>  date           TIMESTAMP    WITHOUT TIME ZONE,</a:t>
            </a:r>
            <a:endParaRPr lang="en-US" sz="1000" dirty="0"/>
          </a:p>
        </p:txBody>
      </p:sp>
      <p:sp>
        <p:nvSpPr>
          <p:cNvPr id="21" name="Text 19"/>
          <p:cNvSpPr/>
          <p:nvPr/>
        </p:nvSpPr>
        <p:spPr>
          <a:xfrm>
            <a:off x="502920" y="2880360"/>
            <a:ext cx="8229600" cy="228600"/>
          </a:xfrm>
          <a:prstGeom prst="rect">
            <a:avLst/>
          </a:prstGeom>
          <a:noFill/>
          <a:ln/>
        </p:spPr>
        <p:txBody>
          <a:bodyPr wrap="square" rtlCol="0" anchor="ctr"/>
          <a:lstStyle/>
          <a:p>
            <a:pPr marL="0" indent="0">
              <a:buNone/>
            </a:pPr>
            <a:r>
              <a:rPr lang="en-US" sz="1000" dirty="0">
                <a:solidFill>
                  <a:srgbClr val="A5D6FF"/>
                </a:solidFill>
                <a:latin typeface="Consolas" pitchFamily="34" charset="0"/>
                <a:ea typeface="Consolas" pitchFamily="34" charset="-122"/>
                <a:cs typeface="Consolas" pitchFamily="34" charset="-120"/>
              </a:rPr>
              <a:t>  booking_status VARCHAR(50),</a:t>
            </a:r>
            <a:endParaRPr lang="en-US" sz="1000" dirty="0"/>
          </a:p>
        </p:txBody>
      </p:sp>
      <p:sp>
        <p:nvSpPr>
          <p:cNvPr id="22" name="Text 20"/>
          <p:cNvSpPr/>
          <p:nvPr/>
        </p:nvSpPr>
        <p:spPr>
          <a:xfrm>
            <a:off x="502920" y="3108960"/>
            <a:ext cx="8229600" cy="228600"/>
          </a:xfrm>
          <a:prstGeom prst="rect">
            <a:avLst/>
          </a:prstGeom>
          <a:noFill/>
          <a:ln/>
        </p:spPr>
        <p:txBody>
          <a:bodyPr wrap="square" rtlCol="0" anchor="ctr"/>
          <a:lstStyle/>
          <a:p>
            <a:pPr marL="0" indent="0">
              <a:buNone/>
            </a:pPr>
            <a:r>
              <a:rPr lang="en-US" sz="1000" dirty="0">
                <a:solidFill>
                  <a:srgbClr val="A5D6FF"/>
                </a:solidFill>
                <a:latin typeface="Consolas" pitchFamily="34" charset="0"/>
                <a:ea typeface="Consolas" pitchFamily="34" charset="-122"/>
                <a:cs typeface="Consolas" pitchFamily="34" charset="-120"/>
              </a:rPr>
              <a:t>  customer_id    VARCHAR(20),</a:t>
            </a:r>
            <a:endParaRPr lang="en-US" sz="1000" dirty="0"/>
          </a:p>
        </p:txBody>
      </p:sp>
      <p:sp>
        <p:nvSpPr>
          <p:cNvPr id="23" name="Text 21"/>
          <p:cNvSpPr/>
          <p:nvPr/>
        </p:nvSpPr>
        <p:spPr>
          <a:xfrm>
            <a:off x="502920" y="3337560"/>
            <a:ext cx="8229600" cy="228600"/>
          </a:xfrm>
          <a:prstGeom prst="rect">
            <a:avLst/>
          </a:prstGeom>
          <a:noFill/>
          <a:ln/>
        </p:spPr>
        <p:txBody>
          <a:bodyPr wrap="square" rtlCol="0" anchor="ctr"/>
          <a:lstStyle/>
          <a:p>
            <a:pPr marL="0" indent="0">
              <a:buNone/>
            </a:pPr>
            <a:r>
              <a:rPr lang="en-US" sz="1000" dirty="0">
                <a:solidFill>
                  <a:srgbClr val="A5D6FF"/>
                </a:solidFill>
                <a:latin typeface="Consolas" pitchFamily="34" charset="0"/>
                <a:ea typeface="Consolas" pitchFamily="34" charset="-122"/>
                <a:cs typeface="Consolas" pitchFamily="34" charset="-120"/>
              </a:rPr>
              <a:t>  vehicle_type   VARCHAR(30),</a:t>
            </a:r>
            <a:endParaRPr lang="en-US" sz="1000" dirty="0"/>
          </a:p>
        </p:txBody>
      </p:sp>
      <p:sp>
        <p:nvSpPr>
          <p:cNvPr id="24" name="Text 22"/>
          <p:cNvSpPr/>
          <p:nvPr/>
        </p:nvSpPr>
        <p:spPr>
          <a:xfrm>
            <a:off x="502920" y="3566160"/>
            <a:ext cx="8229600" cy="228600"/>
          </a:xfrm>
          <a:prstGeom prst="rect">
            <a:avLst/>
          </a:prstGeom>
          <a:noFill/>
          <a:ln/>
        </p:spPr>
        <p:txBody>
          <a:bodyPr wrap="square" rtlCol="0" anchor="ctr"/>
          <a:lstStyle/>
          <a:p>
            <a:pPr marL="0" indent="0">
              <a:buNone/>
            </a:pPr>
            <a:r>
              <a:rPr lang="en-US" sz="1000" dirty="0">
                <a:solidFill>
                  <a:srgbClr val="A5D6FF"/>
                </a:solidFill>
                <a:latin typeface="Consolas" pitchFamily="34" charset="0"/>
                <a:ea typeface="Consolas" pitchFamily="34" charset="-122"/>
                <a:cs typeface="Consolas" pitchFamily="34" charset="-120"/>
              </a:rPr>
              <a:t>  booking_value  INT,</a:t>
            </a:r>
            <a:endParaRPr lang="en-US" sz="1000" dirty="0"/>
          </a:p>
        </p:txBody>
      </p:sp>
      <p:sp>
        <p:nvSpPr>
          <p:cNvPr id="25" name="Text 23"/>
          <p:cNvSpPr/>
          <p:nvPr/>
        </p:nvSpPr>
        <p:spPr>
          <a:xfrm>
            <a:off x="502920" y="3794760"/>
            <a:ext cx="8229600" cy="228600"/>
          </a:xfrm>
          <a:prstGeom prst="rect">
            <a:avLst/>
          </a:prstGeom>
          <a:noFill/>
          <a:ln/>
        </p:spPr>
        <p:txBody>
          <a:bodyPr wrap="square" rtlCol="0" anchor="ctr"/>
          <a:lstStyle/>
          <a:p>
            <a:pPr marL="0" indent="0">
              <a:buNone/>
            </a:pPr>
            <a:r>
              <a:rPr lang="en-US" sz="1000" dirty="0">
                <a:solidFill>
                  <a:srgbClr val="A5D6FF"/>
                </a:solidFill>
                <a:latin typeface="Consolas" pitchFamily="34" charset="0"/>
                <a:ea typeface="Consolas" pitchFamily="34" charset="-122"/>
                <a:cs typeface="Consolas" pitchFamily="34" charset="-120"/>
              </a:rPr>
              <a:t>  ride_distance  INT,</a:t>
            </a:r>
            <a:endParaRPr lang="en-US" sz="1000" dirty="0"/>
          </a:p>
        </p:txBody>
      </p:sp>
      <p:sp>
        <p:nvSpPr>
          <p:cNvPr id="26" name="Text 24"/>
          <p:cNvSpPr/>
          <p:nvPr/>
        </p:nvSpPr>
        <p:spPr>
          <a:xfrm>
            <a:off x="502920" y="4023360"/>
            <a:ext cx="8229600" cy="228600"/>
          </a:xfrm>
          <a:prstGeom prst="rect">
            <a:avLst/>
          </a:prstGeom>
          <a:noFill/>
          <a:ln/>
        </p:spPr>
        <p:txBody>
          <a:bodyPr wrap="square" rtlCol="0" anchor="ctr"/>
          <a:lstStyle/>
          <a:p>
            <a:pPr marL="0" indent="0">
              <a:buNone/>
            </a:pPr>
            <a:r>
              <a:rPr lang="en-US" sz="1000" dirty="0">
                <a:solidFill>
                  <a:srgbClr val="A5D6FF"/>
                </a:solidFill>
                <a:latin typeface="Consolas" pitchFamily="34" charset="0"/>
                <a:ea typeface="Consolas" pitchFamily="34" charset="-122"/>
                <a:cs typeface="Consolas" pitchFamily="34" charset="-120"/>
              </a:rPr>
              <a:t>  driver_ratings DECIMAL(3,2),</a:t>
            </a:r>
            <a:endParaRPr lang="en-US" sz="1000" dirty="0"/>
          </a:p>
        </p:txBody>
      </p:sp>
      <p:sp>
        <p:nvSpPr>
          <p:cNvPr id="27" name="Text 25"/>
          <p:cNvSpPr/>
          <p:nvPr/>
        </p:nvSpPr>
        <p:spPr>
          <a:xfrm>
            <a:off x="502920" y="4251960"/>
            <a:ext cx="8229600" cy="228600"/>
          </a:xfrm>
          <a:prstGeom prst="rect">
            <a:avLst/>
          </a:prstGeom>
          <a:noFill/>
          <a:ln/>
        </p:spPr>
        <p:txBody>
          <a:bodyPr wrap="square" rtlCol="0" anchor="ctr"/>
          <a:lstStyle/>
          <a:p>
            <a:pPr marL="0" indent="0">
              <a:buNone/>
            </a:pPr>
            <a:r>
              <a:rPr lang="en-US" sz="1000" dirty="0">
                <a:solidFill>
                  <a:srgbClr val="A5D6FF"/>
                </a:solidFill>
                <a:latin typeface="Consolas" pitchFamily="34" charset="0"/>
                <a:ea typeface="Consolas" pitchFamily="34" charset="-122"/>
                <a:cs typeface="Consolas" pitchFamily="34" charset="-120"/>
              </a:rPr>
              <a:t>  customer_rating DECIMAL(3,2)</a:t>
            </a:r>
            <a:endParaRPr lang="en-US" sz="1000" dirty="0"/>
          </a:p>
        </p:txBody>
      </p:sp>
      <p:sp>
        <p:nvSpPr>
          <p:cNvPr id="28" name="Text 26"/>
          <p:cNvSpPr/>
          <p:nvPr/>
        </p:nvSpPr>
        <p:spPr>
          <a:xfrm>
            <a:off x="502920" y="4480560"/>
            <a:ext cx="8229600" cy="228600"/>
          </a:xfrm>
          <a:prstGeom prst="rect">
            <a:avLst/>
          </a:prstGeom>
          <a:noFill/>
          <a:ln/>
        </p:spPr>
        <p:txBody>
          <a:bodyPr wrap="square" rtlCol="0" anchor="ctr"/>
          <a:lstStyle/>
          <a:p>
            <a:pPr marL="0" indent="0">
              <a:buNone/>
            </a:pPr>
            <a:r>
              <a:rPr lang="en-US" sz="1000" dirty="0">
                <a:solidFill>
                  <a:srgbClr val="FFFFFF"/>
                </a:solidFill>
                <a:latin typeface="Consolas" pitchFamily="34" charset="0"/>
                <a:ea typeface="Consolas" pitchFamily="34" charset="-122"/>
                <a:cs typeface="Consolas" pitchFamily="34" charset="-120"/>
              </a:rPr>
              <a:t>);</a:t>
            </a:r>
            <a:endParaRPr lang="en-US" sz="1000" dirty="0"/>
          </a:p>
        </p:txBody>
      </p:sp>
      <p:sp>
        <p:nvSpPr>
          <p:cNvPr id="29" name="Text 27"/>
          <p:cNvSpPr/>
          <p:nvPr/>
        </p:nvSpPr>
        <p:spPr>
          <a:xfrm>
            <a:off x="502920" y="4663440"/>
            <a:ext cx="8229600" cy="274320"/>
          </a:xfrm>
          <a:prstGeom prst="rect">
            <a:avLst/>
          </a:prstGeom>
          <a:noFill/>
          <a:ln/>
        </p:spPr>
        <p:txBody>
          <a:bodyPr wrap="square" rtlCol="0" anchor="ctr"/>
          <a:lstStyle/>
          <a:p>
            <a:pPr marL="0" indent="0">
              <a:buNone/>
            </a:pPr>
            <a:endParaRPr lang="en-US" sz="1000" dirty="0"/>
          </a:p>
        </p:txBody>
      </p:sp>
      <p:sp>
        <p:nvSpPr>
          <p:cNvPr id="31" name="TextBox 30">
            <a:extLst>
              <a:ext uri="{FF2B5EF4-FFF2-40B4-BE49-F238E27FC236}">
                <a16:creationId xmlns:a16="http://schemas.microsoft.com/office/drawing/2014/main" id="{0687F0CB-0912-8F81-B318-46851F02DF03}"/>
              </a:ext>
            </a:extLst>
          </p:cNvPr>
          <p:cNvSpPr txBox="1"/>
          <p:nvPr/>
        </p:nvSpPr>
        <p:spPr>
          <a:xfrm>
            <a:off x="4572000" y="2005781"/>
            <a:ext cx="4151376" cy="1846659"/>
          </a:xfrm>
          <a:prstGeom prst="rect">
            <a:avLst/>
          </a:prstGeom>
          <a:noFill/>
        </p:spPr>
        <p:txBody>
          <a:bodyPr wrap="square" rtlCol="0">
            <a:spAutoFit/>
          </a:bodyPr>
          <a:lstStyle/>
          <a:p>
            <a:r>
              <a:rPr lang="en-US" sz="1600" dirty="0">
                <a:solidFill>
                  <a:schemeClr val="bg1"/>
                </a:solidFill>
              </a:rPr>
              <a:t>This slide shows the PostgreSQL database setup for the Odisha Yatri project, including database name, table structure, total records, and SQL table creation query. It highlights how structured data storage was designed to support efficient analysis and querying.</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3A5F"/>
          </a:solidFill>
          <a:ln/>
        </p:spPr>
      </p:sp>
      <p:sp>
        <p:nvSpPr>
          <p:cNvPr id="3" name="Text 1"/>
          <p:cNvSpPr/>
          <p:nvPr/>
        </p:nvSpPr>
        <p:spPr>
          <a:xfrm>
            <a:off x="365760" y="0"/>
            <a:ext cx="8229600" cy="594360"/>
          </a:xfrm>
          <a:prstGeom prst="rect">
            <a:avLst/>
          </a:prstGeom>
          <a:noFill/>
          <a:ln/>
        </p:spPr>
        <p:txBody>
          <a:bodyPr wrap="square" rtlCol="0" anchor="ctr"/>
          <a:lstStyle/>
          <a:p>
            <a:pPr marL="0" indent="0">
              <a:buNone/>
            </a:pPr>
            <a:r>
              <a:rPr lang="en-US" sz="1300" b="1" dirty="0">
                <a:solidFill>
                  <a:srgbClr val="F5C518"/>
                </a:solidFill>
              </a:rPr>
              <a:t>🗄  SQL — ANALYSIS QUERIES (Part 1)</a:t>
            </a:r>
            <a:endParaRPr lang="en-US" sz="1300" dirty="0"/>
          </a:p>
        </p:txBody>
      </p:sp>
      <p:sp>
        <p:nvSpPr>
          <p:cNvPr id="4" name="Shape 2"/>
          <p:cNvSpPr/>
          <p:nvPr/>
        </p:nvSpPr>
        <p:spPr>
          <a:xfrm>
            <a:off x="274320" y="777240"/>
            <a:ext cx="8595360" cy="1280160"/>
          </a:xfrm>
          <a:prstGeom prst="rect">
            <a:avLst/>
          </a:prstGeom>
          <a:solidFill>
            <a:srgbClr val="161B22"/>
          </a:solidFill>
          <a:ln/>
        </p:spPr>
      </p:sp>
      <p:sp>
        <p:nvSpPr>
          <p:cNvPr id="5" name="Shape 3"/>
          <p:cNvSpPr/>
          <p:nvPr/>
        </p:nvSpPr>
        <p:spPr>
          <a:xfrm>
            <a:off x="274320" y="777240"/>
            <a:ext cx="457200" cy="1280160"/>
          </a:xfrm>
          <a:prstGeom prst="rect">
            <a:avLst/>
          </a:prstGeom>
          <a:solidFill>
            <a:srgbClr val="1E3A5F"/>
          </a:solidFill>
          <a:ln/>
        </p:spPr>
      </p:sp>
      <p:sp>
        <p:nvSpPr>
          <p:cNvPr id="6" name="Text 4"/>
          <p:cNvSpPr/>
          <p:nvPr/>
        </p:nvSpPr>
        <p:spPr>
          <a:xfrm>
            <a:off x="274320" y="777240"/>
            <a:ext cx="457200" cy="1280160"/>
          </a:xfrm>
          <a:prstGeom prst="rect">
            <a:avLst/>
          </a:prstGeom>
          <a:noFill/>
          <a:ln/>
        </p:spPr>
        <p:txBody>
          <a:bodyPr wrap="square" rtlCol="0" anchor="ctr"/>
          <a:lstStyle/>
          <a:p>
            <a:pPr marL="0" indent="0" algn="ctr">
              <a:buNone/>
            </a:pPr>
            <a:r>
              <a:rPr lang="en-US" sz="1000" b="1" dirty="0">
                <a:solidFill>
                  <a:srgbClr val="F5C518"/>
                </a:solidFill>
              </a:rPr>
              <a:t>Q1</a:t>
            </a:r>
            <a:endParaRPr lang="en-US" sz="1000" dirty="0"/>
          </a:p>
        </p:txBody>
      </p:sp>
      <p:sp>
        <p:nvSpPr>
          <p:cNvPr id="7" name="Text 5"/>
          <p:cNvSpPr/>
          <p:nvPr/>
        </p:nvSpPr>
        <p:spPr>
          <a:xfrm>
            <a:off x="868680" y="868680"/>
            <a:ext cx="4572000" cy="320040"/>
          </a:xfrm>
          <a:prstGeom prst="rect">
            <a:avLst/>
          </a:prstGeom>
          <a:noFill/>
          <a:ln/>
        </p:spPr>
        <p:txBody>
          <a:bodyPr wrap="square" rtlCol="0" anchor="ctr"/>
          <a:lstStyle/>
          <a:p>
            <a:pPr marL="0" indent="0">
              <a:buNone/>
            </a:pPr>
            <a:r>
              <a:rPr lang="en-US" sz="1200" b="1" dirty="0">
                <a:solidFill>
                  <a:srgbClr val="FFFFFF"/>
                </a:solidFill>
              </a:rPr>
              <a:t>All Successful Bookings</a:t>
            </a:r>
            <a:endParaRPr lang="en-US" sz="1200" dirty="0"/>
          </a:p>
        </p:txBody>
      </p:sp>
      <p:sp>
        <p:nvSpPr>
          <p:cNvPr id="8" name="Shape 6"/>
          <p:cNvSpPr/>
          <p:nvPr/>
        </p:nvSpPr>
        <p:spPr>
          <a:xfrm>
            <a:off x="868680" y="1234440"/>
            <a:ext cx="4114800" cy="256032"/>
          </a:xfrm>
          <a:prstGeom prst="roundRect">
            <a:avLst>
              <a:gd name="adj" fmla="val 21429"/>
            </a:avLst>
          </a:prstGeom>
          <a:solidFill>
            <a:srgbClr val="1A472A"/>
          </a:solidFill>
          <a:ln/>
        </p:spPr>
      </p:sp>
      <p:sp>
        <p:nvSpPr>
          <p:cNvPr id="9" name="Text 7"/>
          <p:cNvSpPr/>
          <p:nvPr/>
        </p:nvSpPr>
        <p:spPr>
          <a:xfrm>
            <a:off x="868680" y="1234440"/>
            <a:ext cx="4114800" cy="256032"/>
          </a:xfrm>
          <a:prstGeom prst="rect">
            <a:avLst/>
          </a:prstGeom>
          <a:noFill/>
          <a:ln/>
        </p:spPr>
        <p:txBody>
          <a:bodyPr wrap="square" rtlCol="0" anchor="ctr"/>
          <a:lstStyle/>
          <a:p>
            <a:pPr marL="0" indent="0" algn="ctr">
              <a:buNone/>
            </a:pPr>
            <a:r>
              <a:rPr lang="en-US" sz="900" dirty="0">
                <a:solidFill>
                  <a:srgbClr val="4ADE80"/>
                </a:solidFill>
              </a:rPr>
              <a:t>→  63,967 records</a:t>
            </a:r>
            <a:endParaRPr lang="en-US" sz="900" dirty="0"/>
          </a:p>
        </p:txBody>
      </p:sp>
      <p:sp>
        <p:nvSpPr>
          <p:cNvPr id="10" name="Text 8"/>
          <p:cNvSpPr/>
          <p:nvPr/>
        </p:nvSpPr>
        <p:spPr>
          <a:xfrm>
            <a:off x="5120640" y="868680"/>
            <a:ext cx="3657600" cy="1097280"/>
          </a:xfrm>
          <a:prstGeom prst="rect">
            <a:avLst/>
          </a:prstGeom>
          <a:noFill/>
          <a:ln/>
        </p:spPr>
        <p:txBody>
          <a:bodyPr wrap="square" rtlCol="0" anchor="t"/>
          <a:lstStyle/>
          <a:p>
            <a:pPr marL="0" indent="0">
              <a:buNone/>
            </a:pPr>
            <a:r>
              <a:rPr lang="en-US" sz="950" dirty="0">
                <a:solidFill>
                  <a:srgbClr val="FF7B72"/>
                </a:solidFill>
                <a:latin typeface="Consolas" pitchFamily="34" charset="0"/>
                <a:ea typeface="Consolas" pitchFamily="34" charset="-122"/>
                <a:cs typeface="Consolas" pitchFamily="34" charset="-120"/>
              </a:rPr>
              <a:t>SELECT </a:t>
            </a:r>
            <a:r>
              <a:rPr lang="en-US" sz="950" dirty="0">
                <a:solidFill>
                  <a:srgbClr val="79C0FF"/>
                </a:solidFill>
                <a:latin typeface="Consolas" pitchFamily="34" charset="0"/>
                <a:ea typeface="Consolas" pitchFamily="34" charset="-122"/>
                <a:cs typeface="Consolas" pitchFamily="34" charset="-120"/>
              </a:rPr>
              <a:t>* </a:t>
            </a:r>
            <a:r>
              <a:rPr lang="en-US" sz="950" dirty="0">
                <a:solidFill>
                  <a:srgbClr val="FF7B72"/>
                </a:solidFill>
                <a:latin typeface="Consolas" pitchFamily="34" charset="0"/>
                <a:ea typeface="Consolas" pitchFamily="34" charset="-122"/>
                <a:cs typeface="Consolas" pitchFamily="34" charset="-120"/>
              </a:rPr>
              <a:t>FROM </a:t>
            </a:r>
            <a:r>
              <a:rPr lang="en-US" sz="950" dirty="0">
                <a:solidFill>
                  <a:srgbClr val="79C0FF"/>
                </a:solidFill>
                <a:latin typeface="Consolas" pitchFamily="34" charset="0"/>
                <a:ea typeface="Consolas" pitchFamily="34" charset="-122"/>
                <a:cs typeface="Consolas" pitchFamily="34" charset="-120"/>
              </a:rPr>
              <a:t>odisha_yatri
</a:t>
            </a:r>
            <a:r>
              <a:rPr lang="en-US" sz="950" dirty="0">
                <a:solidFill>
                  <a:srgbClr val="FF7B72"/>
                </a:solidFill>
                <a:latin typeface="Consolas" pitchFamily="34" charset="0"/>
                <a:ea typeface="Consolas" pitchFamily="34" charset="-122"/>
                <a:cs typeface="Consolas" pitchFamily="34" charset="-120"/>
              </a:rPr>
              <a:t>WHERE </a:t>
            </a:r>
            <a:r>
              <a:rPr lang="en-US" sz="950" dirty="0">
                <a:solidFill>
                  <a:srgbClr val="FFFFFF"/>
                </a:solidFill>
                <a:latin typeface="Consolas" pitchFamily="34" charset="0"/>
                <a:ea typeface="Consolas" pitchFamily="34" charset="-122"/>
                <a:cs typeface="Consolas" pitchFamily="34" charset="-120"/>
              </a:rPr>
              <a:t>booking_status = </a:t>
            </a:r>
            <a:r>
              <a:rPr lang="en-US" sz="950" dirty="0">
                <a:solidFill>
                  <a:srgbClr val="A5D6FF"/>
                </a:solidFill>
                <a:latin typeface="Consolas" pitchFamily="34" charset="0"/>
                <a:ea typeface="Consolas" pitchFamily="34" charset="-122"/>
                <a:cs typeface="Consolas" pitchFamily="34" charset="-120"/>
              </a:rPr>
              <a:t>'Success'</a:t>
            </a:r>
            <a:r>
              <a:rPr lang="en-US" sz="950" dirty="0">
                <a:solidFill>
                  <a:srgbClr val="FFFFFF"/>
                </a:solidFill>
                <a:latin typeface="Consolas" pitchFamily="34" charset="0"/>
                <a:ea typeface="Consolas" pitchFamily="34" charset="-122"/>
                <a:cs typeface="Consolas" pitchFamily="34" charset="-120"/>
              </a:rPr>
              <a:t>;</a:t>
            </a:r>
            <a:endParaRPr lang="en-US" sz="950" dirty="0"/>
          </a:p>
        </p:txBody>
      </p:sp>
      <p:sp>
        <p:nvSpPr>
          <p:cNvPr id="11" name="Shape 9"/>
          <p:cNvSpPr/>
          <p:nvPr/>
        </p:nvSpPr>
        <p:spPr>
          <a:xfrm>
            <a:off x="274320" y="2194560"/>
            <a:ext cx="8595360" cy="1280160"/>
          </a:xfrm>
          <a:prstGeom prst="rect">
            <a:avLst/>
          </a:prstGeom>
          <a:solidFill>
            <a:srgbClr val="161B22"/>
          </a:solidFill>
          <a:ln/>
        </p:spPr>
      </p:sp>
      <p:sp>
        <p:nvSpPr>
          <p:cNvPr id="12" name="Shape 10"/>
          <p:cNvSpPr/>
          <p:nvPr/>
        </p:nvSpPr>
        <p:spPr>
          <a:xfrm>
            <a:off x="274320" y="2194560"/>
            <a:ext cx="457200" cy="1280160"/>
          </a:xfrm>
          <a:prstGeom prst="rect">
            <a:avLst/>
          </a:prstGeom>
          <a:solidFill>
            <a:srgbClr val="1E3A5F"/>
          </a:solidFill>
          <a:ln/>
        </p:spPr>
      </p:sp>
      <p:sp>
        <p:nvSpPr>
          <p:cNvPr id="13" name="Text 11"/>
          <p:cNvSpPr/>
          <p:nvPr/>
        </p:nvSpPr>
        <p:spPr>
          <a:xfrm>
            <a:off x="274320" y="2194560"/>
            <a:ext cx="457200" cy="1280160"/>
          </a:xfrm>
          <a:prstGeom prst="rect">
            <a:avLst/>
          </a:prstGeom>
          <a:noFill/>
          <a:ln/>
        </p:spPr>
        <p:txBody>
          <a:bodyPr wrap="square" rtlCol="0" anchor="ctr"/>
          <a:lstStyle/>
          <a:p>
            <a:pPr marL="0" indent="0" algn="ctr">
              <a:buNone/>
            </a:pPr>
            <a:r>
              <a:rPr lang="en-US" sz="1000" b="1" dirty="0">
                <a:solidFill>
                  <a:srgbClr val="F5C518"/>
                </a:solidFill>
              </a:rPr>
              <a:t>Q2</a:t>
            </a:r>
            <a:endParaRPr lang="en-US" sz="1000" dirty="0"/>
          </a:p>
        </p:txBody>
      </p:sp>
      <p:sp>
        <p:nvSpPr>
          <p:cNvPr id="14" name="Text 12"/>
          <p:cNvSpPr/>
          <p:nvPr/>
        </p:nvSpPr>
        <p:spPr>
          <a:xfrm>
            <a:off x="868680" y="2286000"/>
            <a:ext cx="4572000" cy="320040"/>
          </a:xfrm>
          <a:prstGeom prst="rect">
            <a:avLst/>
          </a:prstGeom>
          <a:noFill/>
          <a:ln/>
        </p:spPr>
        <p:txBody>
          <a:bodyPr wrap="square" rtlCol="0" anchor="ctr"/>
          <a:lstStyle/>
          <a:p>
            <a:pPr marL="0" indent="0">
              <a:buNone/>
            </a:pPr>
            <a:r>
              <a:rPr lang="en-US" sz="1200" b="1" dirty="0">
                <a:solidFill>
                  <a:srgbClr val="FFFFFF"/>
                </a:solidFill>
              </a:rPr>
              <a:t>Avg. Ride Distance per Vehicle Type</a:t>
            </a:r>
            <a:endParaRPr lang="en-US" sz="1200" dirty="0"/>
          </a:p>
        </p:txBody>
      </p:sp>
      <p:sp>
        <p:nvSpPr>
          <p:cNvPr id="15" name="Shape 13"/>
          <p:cNvSpPr/>
          <p:nvPr/>
        </p:nvSpPr>
        <p:spPr>
          <a:xfrm>
            <a:off x="868680" y="2651760"/>
            <a:ext cx="4114800" cy="256032"/>
          </a:xfrm>
          <a:prstGeom prst="roundRect">
            <a:avLst>
              <a:gd name="adj" fmla="val 21429"/>
            </a:avLst>
          </a:prstGeom>
          <a:solidFill>
            <a:srgbClr val="1A472A"/>
          </a:solidFill>
          <a:ln/>
        </p:spPr>
      </p:sp>
      <p:sp>
        <p:nvSpPr>
          <p:cNvPr id="16" name="Text 14"/>
          <p:cNvSpPr/>
          <p:nvPr/>
        </p:nvSpPr>
        <p:spPr>
          <a:xfrm>
            <a:off x="868680" y="2651760"/>
            <a:ext cx="4114800" cy="256032"/>
          </a:xfrm>
          <a:prstGeom prst="rect">
            <a:avLst/>
          </a:prstGeom>
          <a:noFill/>
          <a:ln/>
        </p:spPr>
        <p:txBody>
          <a:bodyPr wrap="square" rtlCol="0" anchor="ctr"/>
          <a:lstStyle/>
          <a:p>
            <a:pPr marL="0" indent="0" algn="ctr">
              <a:buNone/>
            </a:pPr>
            <a:r>
              <a:rPr lang="en-US" sz="900" dirty="0">
                <a:solidFill>
                  <a:srgbClr val="4ADE80"/>
                </a:solidFill>
              </a:rPr>
              <a:t>→  eBike: 13.99 km  |  Auto: 6.24 km  |  Prime SUV: 15.27 km</a:t>
            </a:r>
            <a:endParaRPr lang="en-US" sz="900" dirty="0"/>
          </a:p>
        </p:txBody>
      </p:sp>
      <p:sp>
        <p:nvSpPr>
          <p:cNvPr id="17" name="Text 15"/>
          <p:cNvSpPr/>
          <p:nvPr/>
        </p:nvSpPr>
        <p:spPr>
          <a:xfrm>
            <a:off x="5120640" y="2286000"/>
            <a:ext cx="3657600" cy="1097280"/>
          </a:xfrm>
          <a:prstGeom prst="rect">
            <a:avLst/>
          </a:prstGeom>
          <a:noFill/>
          <a:ln/>
        </p:spPr>
        <p:txBody>
          <a:bodyPr wrap="square" rtlCol="0" anchor="t"/>
          <a:lstStyle/>
          <a:p>
            <a:pPr marL="0" indent="0">
              <a:buNone/>
            </a:pPr>
            <a:r>
              <a:rPr lang="en-US" sz="950" dirty="0">
                <a:solidFill>
                  <a:srgbClr val="FF7B72"/>
                </a:solidFill>
                <a:latin typeface="Consolas" pitchFamily="34" charset="0"/>
                <a:ea typeface="Consolas" pitchFamily="34" charset="-122"/>
                <a:cs typeface="Consolas" pitchFamily="34" charset="-120"/>
              </a:rPr>
              <a:t>SELECT </a:t>
            </a:r>
            <a:r>
              <a:rPr lang="en-US" sz="950" dirty="0">
                <a:solidFill>
                  <a:srgbClr val="FFFFFF"/>
                </a:solidFill>
                <a:latin typeface="Consolas" pitchFamily="34" charset="0"/>
                <a:ea typeface="Consolas" pitchFamily="34" charset="-122"/>
                <a:cs typeface="Consolas" pitchFamily="34" charset="-120"/>
              </a:rPr>
              <a:t>vehicle_type, </a:t>
            </a:r>
            <a:r>
              <a:rPr lang="en-US" sz="950" dirty="0">
                <a:solidFill>
                  <a:srgbClr val="FFA657"/>
                </a:solidFill>
                <a:latin typeface="Consolas" pitchFamily="34" charset="0"/>
                <a:ea typeface="Consolas" pitchFamily="34" charset="-122"/>
                <a:cs typeface="Consolas" pitchFamily="34" charset="-120"/>
              </a:rPr>
              <a:t>AVG</a:t>
            </a:r>
            <a:r>
              <a:rPr lang="en-US" sz="950" dirty="0">
                <a:solidFill>
                  <a:srgbClr val="FFFFFF"/>
                </a:solidFill>
                <a:latin typeface="Consolas" pitchFamily="34" charset="0"/>
                <a:ea typeface="Consolas" pitchFamily="34" charset="-122"/>
                <a:cs typeface="Consolas" pitchFamily="34" charset="-120"/>
              </a:rPr>
              <a:t>(ride_distance) AS avg_distance
</a:t>
            </a:r>
            <a:r>
              <a:rPr lang="en-US" sz="950" dirty="0">
                <a:solidFill>
                  <a:srgbClr val="FF7B72"/>
                </a:solidFill>
                <a:latin typeface="Consolas" pitchFamily="34" charset="0"/>
                <a:ea typeface="Consolas" pitchFamily="34" charset="-122"/>
                <a:cs typeface="Consolas" pitchFamily="34" charset="-120"/>
              </a:rPr>
              <a:t>FROM </a:t>
            </a:r>
            <a:r>
              <a:rPr lang="en-US" sz="950" dirty="0">
                <a:solidFill>
                  <a:srgbClr val="79C0FF"/>
                </a:solidFill>
                <a:latin typeface="Consolas" pitchFamily="34" charset="0"/>
                <a:ea typeface="Consolas" pitchFamily="34" charset="-122"/>
                <a:cs typeface="Consolas" pitchFamily="34" charset="-120"/>
              </a:rPr>
              <a:t>odisha_yatri
</a:t>
            </a:r>
            <a:r>
              <a:rPr lang="en-US" sz="950" dirty="0">
                <a:solidFill>
                  <a:srgbClr val="FF7B72"/>
                </a:solidFill>
                <a:latin typeface="Consolas" pitchFamily="34" charset="0"/>
                <a:ea typeface="Consolas" pitchFamily="34" charset="-122"/>
                <a:cs typeface="Consolas" pitchFamily="34" charset="-120"/>
              </a:rPr>
              <a:t>GROUP BY </a:t>
            </a:r>
            <a:r>
              <a:rPr lang="en-US" sz="950" dirty="0">
                <a:solidFill>
                  <a:srgbClr val="FFFFFF"/>
                </a:solidFill>
                <a:latin typeface="Consolas" pitchFamily="34" charset="0"/>
                <a:ea typeface="Consolas" pitchFamily="34" charset="-122"/>
                <a:cs typeface="Consolas" pitchFamily="34" charset="-120"/>
              </a:rPr>
              <a:t>vehicle_type;</a:t>
            </a:r>
            <a:endParaRPr lang="en-US" sz="950" dirty="0"/>
          </a:p>
        </p:txBody>
      </p:sp>
      <p:sp>
        <p:nvSpPr>
          <p:cNvPr id="18" name="Shape 16"/>
          <p:cNvSpPr/>
          <p:nvPr/>
        </p:nvSpPr>
        <p:spPr>
          <a:xfrm>
            <a:off x="274320" y="3611880"/>
            <a:ext cx="8595360" cy="1280160"/>
          </a:xfrm>
          <a:prstGeom prst="rect">
            <a:avLst/>
          </a:prstGeom>
          <a:solidFill>
            <a:srgbClr val="161B22"/>
          </a:solidFill>
          <a:ln/>
        </p:spPr>
      </p:sp>
      <p:sp>
        <p:nvSpPr>
          <p:cNvPr id="19" name="Shape 17"/>
          <p:cNvSpPr/>
          <p:nvPr/>
        </p:nvSpPr>
        <p:spPr>
          <a:xfrm>
            <a:off x="274320" y="3611880"/>
            <a:ext cx="457200" cy="1280160"/>
          </a:xfrm>
          <a:prstGeom prst="rect">
            <a:avLst/>
          </a:prstGeom>
          <a:solidFill>
            <a:srgbClr val="1E3A5F"/>
          </a:solidFill>
          <a:ln/>
        </p:spPr>
      </p:sp>
      <p:sp>
        <p:nvSpPr>
          <p:cNvPr id="20" name="Text 18"/>
          <p:cNvSpPr/>
          <p:nvPr/>
        </p:nvSpPr>
        <p:spPr>
          <a:xfrm>
            <a:off x="274320" y="3611880"/>
            <a:ext cx="457200" cy="1280160"/>
          </a:xfrm>
          <a:prstGeom prst="rect">
            <a:avLst/>
          </a:prstGeom>
          <a:noFill/>
          <a:ln/>
        </p:spPr>
        <p:txBody>
          <a:bodyPr wrap="square" rtlCol="0" anchor="ctr"/>
          <a:lstStyle/>
          <a:p>
            <a:pPr marL="0" indent="0" algn="ctr">
              <a:buNone/>
            </a:pPr>
            <a:r>
              <a:rPr lang="en-US" sz="1000" b="1" dirty="0">
                <a:solidFill>
                  <a:srgbClr val="F5C518"/>
                </a:solidFill>
              </a:rPr>
              <a:t>Q3</a:t>
            </a:r>
            <a:endParaRPr lang="en-US" sz="1000" dirty="0"/>
          </a:p>
        </p:txBody>
      </p:sp>
      <p:sp>
        <p:nvSpPr>
          <p:cNvPr id="21" name="Text 19"/>
          <p:cNvSpPr/>
          <p:nvPr/>
        </p:nvSpPr>
        <p:spPr>
          <a:xfrm>
            <a:off x="868680" y="3703320"/>
            <a:ext cx="4572000" cy="320040"/>
          </a:xfrm>
          <a:prstGeom prst="rect">
            <a:avLst/>
          </a:prstGeom>
          <a:noFill/>
          <a:ln/>
        </p:spPr>
        <p:txBody>
          <a:bodyPr wrap="square" rtlCol="0" anchor="ctr"/>
          <a:lstStyle/>
          <a:p>
            <a:pPr marL="0" indent="0">
              <a:buNone/>
            </a:pPr>
            <a:r>
              <a:rPr lang="en-US" sz="1200" b="1" dirty="0">
                <a:solidFill>
                  <a:srgbClr val="FFFFFF"/>
                </a:solidFill>
              </a:rPr>
              <a:t>Total Cancelled Rides by Customers</a:t>
            </a:r>
            <a:endParaRPr lang="en-US" sz="1200" dirty="0"/>
          </a:p>
        </p:txBody>
      </p:sp>
      <p:sp>
        <p:nvSpPr>
          <p:cNvPr id="22" name="Shape 20"/>
          <p:cNvSpPr/>
          <p:nvPr/>
        </p:nvSpPr>
        <p:spPr>
          <a:xfrm>
            <a:off x="868680" y="4069080"/>
            <a:ext cx="4114800" cy="256032"/>
          </a:xfrm>
          <a:prstGeom prst="roundRect">
            <a:avLst>
              <a:gd name="adj" fmla="val 21429"/>
            </a:avLst>
          </a:prstGeom>
          <a:solidFill>
            <a:srgbClr val="1A472A"/>
          </a:solidFill>
          <a:ln/>
        </p:spPr>
      </p:sp>
      <p:sp>
        <p:nvSpPr>
          <p:cNvPr id="23" name="Text 21"/>
          <p:cNvSpPr/>
          <p:nvPr/>
        </p:nvSpPr>
        <p:spPr>
          <a:xfrm>
            <a:off x="868680" y="4069080"/>
            <a:ext cx="4114800" cy="256032"/>
          </a:xfrm>
          <a:prstGeom prst="rect">
            <a:avLst/>
          </a:prstGeom>
          <a:noFill/>
          <a:ln/>
        </p:spPr>
        <p:txBody>
          <a:bodyPr wrap="square" rtlCol="0" anchor="ctr"/>
          <a:lstStyle/>
          <a:p>
            <a:pPr marL="0" indent="0" algn="ctr">
              <a:buNone/>
            </a:pPr>
            <a:r>
              <a:rPr lang="en-US" sz="900" dirty="0">
                <a:solidFill>
                  <a:srgbClr val="4ADE80"/>
                </a:solidFill>
              </a:rPr>
              <a:t>→  10,499 customer cancellations</a:t>
            </a:r>
            <a:endParaRPr lang="en-US" sz="900" dirty="0"/>
          </a:p>
        </p:txBody>
      </p:sp>
      <p:sp>
        <p:nvSpPr>
          <p:cNvPr id="24" name="Text 22"/>
          <p:cNvSpPr/>
          <p:nvPr/>
        </p:nvSpPr>
        <p:spPr>
          <a:xfrm>
            <a:off x="5120640" y="3703320"/>
            <a:ext cx="3657600" cy="1097280"/>
          </a:xfrm>
          <a:prstGeom prst="rect">
            <a:avLst/>
          </a:prstGeom>
          <a:noFill/>
          <a:ln/>
        </p:spPr>
        <p:txBody>
          <a:bodyPr wrap="square" rtlCol="0" anchor="t"/>
          <a:lstStyle/>
          <a:p>
            <a:pPr marL="0" indent="0">
              <a:buNone/>
            </a:pPr>
            <a:r>
              <a:rPr lang="en-US" sz="950" dirty="0">
                <a:solidFill>
                  <a:srgbClr val="FF7B72"/>
                </a:solidFill>
                <a:latin typeface="Consolas" pitchFamily="34" charset="0"/>
                <a:ea typeface="Consolas" pitchFamily="34" charset="-122"/>
                <a:cs typeface="Consolas" pitchFamily="34" charset="-120"/>
              </a:rPr>
              <a:t>SELECT </a:t>
            </a:r>
            <a:r>
              <a:rPr lang="en-US" sz="950" dirty="0">
                <a:solidFill>
                  <a:srgbClr val="FFA657"/>
                </a:solidFill>
                <a:latin typeface="Consolas" pitchFamily="34" charset="0"/>
                <a:ea typeface="Consolas" pitchFamily="34" charset="-122"/>
                <a:cs typeface="Consolas" pitchFamily="34" charset="-120"/>
              </a:rPr>
              <a:t>COUNT</a:t>
            </a:r>
            <a:r>
              <a:rPr lang="en-US" sz="950" dirty="0">
                <a:solidFill>
                  <a:srgbClr val="FFFFFF"/>
                </a:solidFill>
                <a:latin typeface="Consolas" pitchFamily="34" charset="0"/>
                <a:ea typeface="Consolas" pitchFamily="34" charset="-122"/>
                <a:cs typeface="Consolas" pitchFamily="34" charset="-120"/>
              </a:rPr>
              <a:t>(*) </a:t>
            </a:r>
            <a:r>
              <a:rPr lang="en-US" sz="950" dirty="0">
                <a:solidFill>
                  <a:srgbClr val="FF7B72"/>
                </a:solidFill>
                <a:latin typeface="Consolas" pitchFamily="34" charset="0"/>
                <a:ea typeface="Consolas" pitchFamily="34" charset="-122"/>
                <a:cs typeface="Consolas" pitchFamily="34" charset="-120"/>
              </a:rPr>
              <a:t>FROM </a:t>
            </a:r>
            <a:r>
              <a:rPr lang="en-US" sz="950" dirty="0">
                <a:solidFill>
                  <a:srgbClr val="79C0FF"/>
                </a:solidFill>
                <a:latin typeface="Consolas" pitchFamily="34" charset="0"/>
                <a:ea typeface="Consolas" pitchFamily="34" charset="-122"/>
                <a:cs typeface="Consolas" pitchFamily="34" charset="-120"/>
              </a:rPr>
              <a:t>odisha_yatri
</a:t>
            </a:r>
            <a:r>
              <a:rPr lang="en-US" sz="950" dirty="0">
                <a:solidFill>
                  <a:srgbClr val="FF7B72"/>
                </a:solidFill>
                <a:latin typeface="Consolas" pitchFamily="34" charset="0"/>
                <a:ea typeface="Consolas" pitchFamily="34" charset="-122"/>
                <a:cs typeface="Consolas" pitchFamily="34" charset="-120"/>
              </a:rPr>
              <a:t>WHERE </a:t>
            </a:r>
            <a:r>
              <a:rPr lang="en-US" sz="950" dirty="0">
                <a:solidFill>
                  <a:srgbClr val="FFFFFF"/>
                </a:solidFill>
                <a:latin typeface="Consolas" pitchFamily="34" charset="0"/>
                <a:ea typeface="Consolas" pitchFamily="34" charset="-122"/>
                <a:cs typeface="Consolas" pitchFamily="34" charset="-120"/>
              </a:rPr>
              <a:t>booking_status = </a:t>
            </a:r>
            <a:r>
              <a:rPr lang="en-US" sz="950" dirty="0">
                <a:solidFill>
                  <a:srgbClr val="A5D6FF"/>
                </a:solidFill>
                <a:latin typeface="Consolas" pitchFamily="34" charset="0"/>
                <a:ea typeface="Consolas" pitchFamily="34" charset="-122"/>
                <a:cs typeface="Consolas" pitchFamily="34" charset="-120"/>
              </a:rPr>
              <a:t>'Canceled by Customer'</a:t>
            </a:r>
            <a:r>
              <a:rPr lang="en-US" sz="950" dirty="0">
                <a:solidFill>
                  <a:srgbClr val="FFFFFF"/>
                </a:solidFill>
                <a:latin typeface="Consolas" pitchFamily="34" charset="0"/>
                <a:ea typeface="Consolas" pitchFamily="34" charset="-122"/>
                <a:cs typeface="Consolas" pitchFamily="34" charset="-120"/>
              </a:rPr>
              <a: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3A5F"/>
          </a:solidFill>
          <a:ln/>
        </p:spPr>
      </p:sp>
      <p:sp>
        <p:nvSpPr>
          <p:cNvPr id="3" name="Text 1"/>
          <p:cNvSpPr/>
          <p:nvPr/>
        </p:nvSpPr>
        <p:spPr>
          <a:xfrm>
            <a:off x="365760" y="0"/>
            <a:ext cx="8229600" cy="594360"/>
          </a:xfrm>
          <a:prstGeom prst="rect">
            <a:avLst/>
          </a:prstGeom>
          <a:noFill/>
          <a:ln/>
        </p:spPr>
        <p:txBody>
          <a:bodyPr wrap="square" rtlCol="0" anchor="ctr"/>
          <a:lstStyle/>
          <a:p>
            <a:pPr marL="0" indent="0">
              <a:buNone/>
            </a:pPr>
            <a:r>
              <a:rPr lang="en-US" sz="1300" b="1" dirty="0">
                <a:solidFill>
                  <a:srgbClr val="F5C518"/>
                </a:solidFill>
              </a:rPr>
              <a:t>🗄  SQL — ANALYSIS QUERIES (Part 2)</a:t>
            </a:r>
            <a:endParaRPr lang="en-US" sz="1300" dirty="0"/>
          </a:p>
        </p:txBody>
      </p:sp>
      <p:sp>
        <p:nvSpPr>
          <p:cNvPr id="4" name="Text 2"/>
          <p:cNvSpPr/>
          <p:nvPr/>
        </p:nvSpPr>
        <p:spPr>
          <a:xfrm>
            <a:off x="274320" y="777240"/>
            <a:ext cx="4572000" cy="320040"/>
          </a:xfrm>
          <a:prstGeom prst="rect">
            <a:avLst/>
          </a:prstGeom>
          <a:noFill/>
          <a:ln/>
        </p:spPr>
        <p:txBody>
          <a:bodyPr wrap="square" rtlCol="0" anchor="ctr"/>
          <a:lstStyle/>
          <a:p>
            <a:pPr marL="0" indent="0">
              <a:buNone/>
            </a:pPr>
            <a:r>
              <a:rPr lang="en-US" sz="1300" b="1" dirty="0">
                <a:solidFill>
                  <a:srgbClr val="FFFFFF"/>
                </a:solidFill>
              </a:rPr>
              <a:t>Key SQL Query Results</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2353389392"/>
              </p:ext>
            </p:extLst>
          </p:nvPr>
        </p:nvGraphicFramePr>
        <p:xfrm>
          <a:off x="213852" y="1188719"/>
          <a:ext cx="8655827" cy="2498376"/>
        </p:xfrm>
        <a:graphic>
          <a:graphicData uri="http://schemas.openxmlformats.org/drawingml/2006/table">
            <a:tbl>
              <a:tblPr/>
              <a:tblGrid>
                <a:gridCol w="368333">
                  <a:extLst>
                    <a:ext uri="{9D8B030D-6E8A-4147-A177-3AD203B41FA5}">
                      <a16:colId xmlns:a16="http://schemas.microsoft.com/office/drawing/2014/main" val="20000"/>
                    </a:ext>
                  </a:extLst>
                </a:gridCol>
                <a:gridCol w="4143747">
                  <a:extLst>
                    <a:ext uri="{9D8B030D-6E8A-4147-A177-3AD203B41FA5}">
                      <a16:colId xmlns:a16="http://schemas.microsoft.com/office/drawing/2014/main" val="20001"/>
                    </a:ext>
                  </a:extLst>
                </a:gridCol>
                <a:gridCol w="4143747">
                  <a:extLst>
                    <a:ext uri="{9D8B030D-6E8A-4147-A177-3AD203B41FA5}">
                      <a16:colId xmlns:a16="http://schemas.microsoft.com/office/drawing/2014/main" val="20002"/>
                    </a:ext>
                  </a:extLst>
                </a:gridCol>
              </a:tblGrid>
              <a:tr h="312297">
                <a:tc>
                  <a:txBody>
                    <a:bodyPr/>
                    <a:lstStyle/>
                    <a:p>
                      <a:pPr marL="0" indent="0">
                        <a:buNone/>
                      </a:pPr>
                      <a:r>
                        <a:rPr lang="en-US" sz="1100" b="1" dirty="0">
                          <a:solidFill>
                            <a:srgbClr val="F5C518"/>
                          </a:solidFill>
                        </a:rPr>
                        <a:t>#</a:t>
                      </a:r>
                      <a:endParaRPr lang="en-US" sz="1100" dirty="0"/>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E3A5F"/>
                    </a:solidFill>
                  </a:tcPr>
                </a:tc>
                <a:tc>
                  <a:txBody>
                    <a:bodyPr/>
                    <a:lstStyle/>
                    <a:p>
                      <a:pPr marL="0" indent="0">
                        <a:buNone/>
                      </a:pPr>
                      <a:r>
                        <a:rPr lang="en-US" sz="1100" b="1" dirty="0">
                          <a:solidFill>
                            <a:srgbClr val="F5C518"/>
                          </a:solidFill>
                        </a:rPr>
                        <a:t>Query</a:t>
                      </a:r>
                      <a:endParaRPr lang="en-US" sz="1100" dirty="0"/>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E3A5F"/>
                    </a:solidFill>
                  </a:tcPr>
                </a:tc>
                <a:tc>
                  <a:txBody>
                    <a:bodyPr/>
                    <a:lstStyle/>
                    <a:p>
                      <a:pPr marL="0" indent="0">
                        <a:buNone/>
                      </a:pPr>
                      <a:r>
                        <a:rPr lang="en-US" sz="1100" b="1" dirty="0">
                          <a:solidFill>
                            <a:srgbClr val="F5C518"/>
                          </a:solidFill>
                        </a:rPr>
                        <a:t>Result</a:t>
                      </a:r>
                      <a:endParaRPr lang="en-US" sz="1100" dirty="0"/>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12297">
                <a:tc>
                  <a:txBody>
                    <a:bodyPr/>
                    <a:lstStyle/>
                    <a:p>
                      <a:pPr marL="0" indent="0">
                        <a:buNone/>
                      </a:pPr>
                      <a:r>
                        <a:rPr lang="en-US" sz="1100" dirty="0">
                          <a:solidFill>
                            <a:schemeClr val="bg1"/>
                          </a:solidFill>
                        </a:rPr>
                        <a:t>4</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chemeClr val="bg1"/>
                          </a:solidFill>
                        </a:rPr>
                        <a:t>Top 5 customers by ride count</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chemeClr val="bg1"/>
                          </a:solidFill>
                        </a:rPr>
                        <a:t>CID954071 (5 rides) leads</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1"/>
                  </a:ext>
                </a:extLst>
              </a:tr>
              <a:tr h="312297">
                <a:tc>
                  <a:txBody>
                    <a:bodyPr/>
                    <a:lstStyle/>
                    <a:p>
                      <a:pPr marL="0" indent="0">
                        <a:buNone/>
                      </a:pPr>
                      <a:r>
                        <a:rPr lang="en-US" sz="1100" dirty="0">
                          <a:solidFill>
                            <a:schemeClr val="bg1"/>
                          </a:solidFill>
                        </a:rPr>
                        <a:t>5</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chemeClr val="bg1"/>
                          </a:solidFill>
                        </a:rPr>
                        <a:t>Driver cancellations - Personal/Car issue</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chemeClr val="bg1"/>
                          </a:solidFill>
                        </a:rPr>
                        <a:t>6,542 rides</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2"/>
                  </a:ext>
                </a:extLst>
              </a:tr>
              <a:tr h="312297">
                <a:tc>
                  <a:txBody>
                    <a:bodyPr/>
                    <a:lstStyle/>
                    <a:p>
                      <a:pPr marL="0" indent="0">
                        <a:buNone/>
                      </a:pPr>
                      <a:r>
                        <a:rPr lang="en-US" sz="1100" dirty="0">
                          <a:solidFill>
                            <a:schemeClr val="bg1"/>
                          </a:solidFill>
                        </a:rPr>
                        <a:t>6</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chemeClr val="bg1"/>
                          </a:solidFill>
                        </a:rPr>
                        <a:t>Max/Min driver ratings (Prime Sedan)</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chemeClr val="bg1"/>
                          </a:solidFill>
                        </a:rPr>
                        <a:t>Max: 5.0  |  Min: 0.0</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3"/>
                  </a:ext>
                </a:extLst>
              </a:tr>
              <a:tr h="312297">
                <a:tc>
                  <a:txBody>
                    <a:bodyPr/>
                    <a:lstStyle/>
                    <a:p>
                      <a:pPr marL="0" indent="0">
                        <a:buNone/>
                      </a:pPr>
                      <a:r>
                        <a:rPr lang="en-US" sz="1100" dirty="0">
                          <a:solidFill>
                            <a:schemeClr val="bg1"/>
                          </a:solidFill>
                        </a:rPr>
                        <a:t>7</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chemeClr val="bg1"/>
                          </a:solidFill>
                        </a:rPr>
                        <a:t>UPI payment rides</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chemeClr val="bg1"/>
                          </a:solidFill>
                        </a:rPr>
                        <a:t>25,881 records</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4"/>
                  </a:ext>
                </a:extLst>
              </a:tr>
              <a:tr h="312297">
                <a:tc>
                  <a:txBody>
                    <a:bodyPr/>
                    <a:lstStyle/>
                    <a:p>
                      <a:pPr marL="0" indent="0">
                        <a:buNone/>
                      </a:pPr>
                      <a:r>
                        <a:rPr lang="en-US" sz="1100" dirty="0">
                          <a:solidFill>
                            <a:schemeClr val="bg1"/>
                          </a:solidFill>
                        </a:rPr>
                        <a:t>8</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chemeClr val="bg1"/>
                          </a:solidFill>
                        </a:rPr>
                        <a:t>Avg customer rating per vehicle type</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chemeClr val="bg1"/>
                          </a:solidFill>
                        </a:rPr>
                        <a:t>Range: 2.45 – 2.53</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5"/>
                  </a:ext>
                </a:extLst>
              </a:tr>
              <a:tr h="312297">
                <a:tc>
                  <a:txBody>
                    <a:bodyPr/>
                    <a:lstStyle/>
                    <a:p>
                      <a:pPr marL="0" indent="0">
                        <a:buNone/>
                      </a:pPr>
                      <a:r>
                        <a:rPr lang="en-US" sz="1100" dirty="0">
                          <a:solidFill>
                            <a:schemeClr val="bg1"/>
                          </a:solidFill>
                        </a:rPr>
                        <a:t>9</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chemeClr val="bg1"/>
                          </a:solidFill>
                        </a:rPr>
                        <a:t>Total booking value (Success rides)</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chemeClr val="bg1"/>
                          </a:solidFill>
                        </a:rPr>
                        <a:t>₹35,080,467</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6"/>
                  </a:ext>
                </a:extLst>
              </a:tr>
              <a:tr h="312297">
                <a:tc>
                  <a:txBody>
                    <a:bodyPr/>
                    <a:lstStyle/>
                    <a:p>
                      <a:pPr marL="0" indent="0">
                        <a:buNone/>
                      </a:pPr>
                      <a:r>
                        <a:rPr lang="en-US" sz="1100" dirty="0">
                          <a:solidFill>
                            <a:schemeClr val="bg1"/>
                          </a:solidFill>
                        </a:rPr>
                        <a:t>10</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chemeClr val="bg1"/>
                          </a:solidFill>
                        </a:rPr>
                        <a:t>Incomplete rides with reason</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1100" dirty="0">
                          <a:solidFill>
                            <a:schemeClr val="bg1"/>
                          </a:solidFill>
                        </a:rPr>
                        <a:t>3,926 records found</a:t>
                      </a:r>
                    </a:p>
                  </a:txBody>
                  <a:tcP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7"/>
                  </a:ext>
                </a:extLst>
              </a:tr>
            </a:tbl>
          </a:graphicData>
        </a:graphic>
      </p:graphicFrame>
      <p:sp>
        <p:nvSpPr>
          <p:cNvPr id="6" name="Text 3"/>
          <p:cNvSpPr/>
          <p:nvPr/>
        </p:nvSpPr>
        <p:spPr>
          <a:xfrm>
            <a:off x="154858" y="3878826"/>
            <a:ext cx="8349062" cy="1150374"/>
          </a:xfrm>
          <a:prstGeom prst="rect">
            <a:avLst/>
          </a:prstGeom>
          <a:noFill/>
          <a:ln/>
        </p:spPr>
        <p:txBody>
          <a:bodyPr wrap="square" rtlCol="0" anchor="ctr"/>
          <a:lstStyle/>
          <a:p>
            <a:r>
              <a:rPr lang="en-US" sz="1400" dirty="0">
                <a:solidFill>
                  <a:schemeClr val="bg1"/>
                </a:solidFill>
              </a:rPr>
              <a:t>This slide presents key SQL analysis results, including top customers, cancellation patterns, ratings, payment trends, and revenue insights. It demonstrates how SQL queries were used to extract meaningful business information from the dataset for better decision-making and performance evaluation.</a:t>
            </a:r>
          </a:p>
          <a:p>
            <a:pPr marL="0" indent="0">
              <a:buNone/>
            </a:pP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A1A"/>
          </a:solidFill>
          <a:ln/>
        </p:spPr>
      </p:sp>
      <p:pic>
        <p:nvPicPr>
          <p:cNvPr id="3" name="Image 0" descr="preencoded.png"/>
          <p:cNvPicPr>
            <a:picLocks noChangeAspect="1"/>
          </p:cNvPicPr>
          <p:nvPr/>
        </p:nvPicPr>
        <p:blipFill>
          <a:blip r:embed="rId3"/>
          <a:stretch>
            <a:fillRect/>
          </a:stretch>
        </p:blipFill>
        <p:spPr>
          <a:xfrm>
            <a:off x="274320" y="109728"/>
            <a:ext cx="365760" cy="365760"/>
          </a:xfrm>
          <a:prstGeom prst="rect">
            <a:avLst/>
          </a:prstGeom>
        </p:spPr>
      </p:pic>
      <p:sp>
        <p:nvSpPr>
          <p:cNvPr id="4" name="Text 1"/>
          <p:cNvSpPr/>
          <p:nvPr/>
        </p:nvSpPr>
        <p:spPr>
          <a:xfrm>
            <a:off x="640080" y="0"/>
            <a:ext cx="8229600" cy="594360"/>
          </a:xfrm>
          <a:prstGeom prst="rect">
            <a:avLst/>
          </a:prstGeom>
          <a:noFill/>
          <a:ln/>
        </p:spPr>
        <p:txBody>
          <a:bodyPr wrap="square" rtlCol="0" anchor="ctr"/>
          <a:lstStyle/>
          <a:p>
            <a:pPr marL="0" indent="0">
              <a:buNone/>
            </a:pPr>
            <a:r>
              <a:rPr lang="en-US" sz="1300" b="1" dirty="0">
                <a:solidFill>
                  <a:srgbClr val="F5C518"/>
                </a:solidFill>
              </a:rPr>
              <a:t>  POWER BI — DASHBOARD OVERVIEW</a:t>
            </a:r>
            <a:endParaRPr lang="en-US" sz="1300" dirty="0"/>
          </a:p>
        </p:txBody>
      </p:sp>
      <p:sp>
        <p:nvSpPr>
          <p:cNvPr id="5" name="Shape 2"/>
          <p:cNvSpPr/>
          <p:nvPr/>
        </p:nvSpPr>
        <p:spPr>
          <a:xfrm>
            <a:off x="274319" y="704087"/>
            <a:ext cx="2760899" cy="1385023"/>
          </a:xfrm>
          <a:prstGeom prst="rect">
            <a:avLst/>
          </a:prstGeom>
          <a:solidFill>
            <a:srgbClr val="1A1A1A"/>
          </a:solidFill>
          <a:ln/>
          <a:effectLst>
            <a:outerShdw blurRad="76200" dist="25400" dir="8100000" algn="bl" rotWithShape="0">
              <a:srgbClr val="000000">
                <a:alpha val="18000"/>
              </a:srgbClr>
            </a:outerShdw>
          </a:effectLst>
        </p:spPr>
      </p:sp>
      <p:pic>
        <p:nvPicPr>
          <p:cNvPr id="6" name="Image 1" descr="preencoded.png"/>
          <p:cNvPicPr>
            <a:picLocks noChangeAspect="1"/>
          </p:cNvPicPr>
          <p:nvPr/>
        </p:nvPicPr>
        <p:blipFill>
          <a:blip r:embed="rId4"/>
          <a:stretch>
            <a:fillRect/>
          </a:stretch>
        </p:blipFill>
        <p:spPr>
          <a:xfrm>
            <a:off x="457200" y="960120"/>
            <a:ext cx="457200" cy="457200"/>
          </a:xfrm>
          <a:prstGeom prst="rect">
            <a:avLst/>
          </a:prstGeom>
        </p:spPr>
      </p:pic>
      <p:sp>
        <p:nvSpPr>
          <p:cNvPr id="7" name="Text 3"/>
          <p:cNvSpPr/>
          <p:nvPr/>
        </p:nvSpPr>
        <p:spPr>
          <a:xfrm>
            <a:off x="274320" y="933573"/>
            <a:ext cx="2651760" cy="411480"/>
          </a:xfrm>
          <a:prstGeom prst="rect">
            <a:avLst/>
          </a:prstGeom>
          <a:noFill/>
          <a:ln/>
        </p:spPr>
        <p:txBody>
          <a:bodyPr wrap="square" rtlCol="0" anchor="ctr"/>
          <a:lstStyle/>
          <a:p>
            <a:pPr marL="0" indent="0" algn="ctr">
              <a:buNone/>
            </a:pPr>
            <a:r>
              <a:rPr lang="en-US" sz="1400" b="1" dirty="0">
                <a:solidFill>
                  <a:srgbClr val="F5C518"/>
                </a:solidFill>
              </a:rPr>
              <a:t>Overall</a:t>
            </a:r>
            <a:endParaRPr lang="en-US" sz="1400" dirty="0"/>
          </a:p>
        </p:txBody>
      </p:sp>
      <p:sp>
        <p:nvSpPr>
          <p:cNvPr id="8" name="Text 4"/>
          <p:cNvSpPr/>
          <p:nvPr/>
        </p:nvSpPr>
        <p:spPr>
          <a:xfrm>
            <a:off x="274320" y="1444605"/>
            <a:ext cx="2651760" cy="457200"/>
          </a:xfrm>
          <a:prstGeom prst="rect">
            <a:avLst/>
          </a:prstGeom>
          <a:noFill/>
          <a:ln/>
        </p:spPr>
        <p:txBody>
          <a:bodyPr wrap="square" rtlCol="0" anchor="ctr"/>
          <a:lstStyle/>
          <a:p>
            <a:pPr marL="0" indent="0" algn="ctr">
              <a:buNone/>
            </a:pPr>
            <a:r>
              <a:rPr lang="en-US" sz="1000" dirty="0">
                <a:solidFill>
                  <a:srgbClr val="CCCCCC"/>
                </a:solidFill>
              </a:rPr>
              <a:t>Bookings, Revenue &amp; Trend</a:t>
            </a:r>
            <a:endParaRPr lang="en-US" sz="1000" dirty="0"/>
          </a:p>
        </p:txBody>
      </p:sp>
      <p:sp>
        <p:nvSpPr>
          <p:cNvPr id="9" name="Shape 5"/>
          <p:cNvSpPr/>
          <p:nvPr/>
        </p:nvSpPr>
        <p:spPr>
          <a:xfrm>
            <a:off x="3154680" y="773552"/>
            <a:ext cx="2760898" cy="1370715"/>
          </a:xfrm>
          <a:prstGeom prst="rect">
            <a:avLst/>
          </a:prstGeom>
          <a:solidFill>
            <a:srgbClr val="1E3A5F"/>
          </a:solidFill>
          <a:ln/>
          <a:effectLst>
            <a:outerShdw blurRad="76200" dist="25400" dir="8100000" algn="bl" rotWithShape="0">
              <a:srgbClr val="000000">
                <a:alpha val="18000"/>
              </a:srgbClr>
            </a:outerShdw>
          </a:effectLst>
        </p:spPr>
      </p:sp>
      <p:pic>
        <p:nvPicPr>
          <p:cNvPr id="10" name="Image 2" descr="preencoded.png"/>
          <p:cNvPicPr>
            <a:picLocks noChangeAspect="1"/>
          </p:cNvPicPr>
          <p:nvPr/>
        </p:nvPicPr>
        <p:blipFill>
          <a:blip r:embed="rId5"/>
          <a:stretch>
            <a:fillRect/>
          </a:stretch>
        </p:blipFill>
        <p:spPr>
          <a:xfrm>
            <a:off x="3337560" y="960120"/>
            <a:ext cx="457200" cy="457200"/>
          </a:xfrm>
          <a:prstGeom prst="rect">
            <a:avLst/>
          </a:prstGeom>
        </p:spPr>
      </p:pic>
      <p:sp>
        <p:nvSpPr>
          <p:cNvPr id="11" name="Text 6"/>
          <p:cNvSpPr/>
          <p:nvPr/>
        </p:nvSpPr>
        <p:spPr>
          <a:xfrm>
            <a:off x="3209249" y="950534"/>
            <a:ext cx="2651760" cy="411480"/>
          </a:xfrm>
          <a:prstGeom prst="rect">
            <a:avLst/>
          </a:prstGeom>
          <a:noFill/>
          <a:ln/>
        </p:spPr>
        <p:txBody>
          <a:bodyPr wrap="square" rtlCol="0" anchor="ctr"/>
          <a:lstStyle/>
          <a:p>
            <a:pPr marL="0" indent="0" algn="ctr">
              <a:buNone/>
            </a:pPr>
            <a:r>
              <a:rPr lang="en-US" sz="1400" b="1" dirty="0">
                <a:solidFill>
                  <a:srgbClr val="F5C518"/>
                </a:solidFill>
              </a:rPr>
              <a:t>Vehicle Type</a:t>
            </a:r>
            <a:endParaRPr lang="en-US" sz="1400" dirty="0"/>
          </a:p>
        </p:txBody>
      </p:sp>
      <p:sp>
        <p:nvSpPr>
          <p:cNvPr id="12" name="Text 7"/>
          <p:cNvSpPr/>
          <p:nvPr/>
        </p:nvSpPr>
        <p:spPr>
          <a:xfrm>
            <a:off x="3209249" y="1531620"/>
            <a:ext cx="2651760" cy="457200"/>
          </a:xfrm>
          <a:prstGeom prst="rect">
            <a:avLst/>
          </a:prstGeom>
          <a:noFill/>
          <a:ln/>
        </p:spPr>
        <p:txBody>
          <a:bodyPr wrap="square" rtlCol="0" anchor="ctr"/>
          <a:lstStyle/>
          <a:p>
            <a:pPr marL="0" indent="0" algn="ctr">
              <a:buNone/>
            </a:pPr>
            <a:r>
              <a:rPr lang="en-US" sz="1000" dirty="0">
                <a:solidFill>
                  <a:srgbClr val="CCCCCC"/>
                </a:solidFill>
              </a:rPr>
              <a:t>Perf. by vehicle category</a:t>
            </a:r>
            <a:endParaRPr lang="en-US" sz="1000" dirty="0"/>
          </a:p>
        </p:txBody>
      </p:sp>
      <p:sp>
        <p:nvSpPr>
          <p:cNvPr id="13" name="Shape 8"/>
          <p:cNvSpPr/>
          <p:nvPr/>
        </p:nvSpPr>
        <p:spPr>
          <a:xfrm>
            <a:off x="3185652" y="3704204"/>
            <a:ext cx="2760898" cy="1370715"/>
          </a:xfrm>
          <a:prstGeom prst="rect">
            <a:avLst/>
          </a:prstGeom>
          <a:solidFill>
            <a:srgbClr val="1A472A"/>
          </a:solidFill>
          <a:ln/>
          <a:effectLst>
            <a:outerShdw blurRad="76200" dist="25400" dir="8100000" algn="bl" rotWithShape="0">
              <a:srgbClr val="000000">
                <a:alpha val="18000"/>
              </a:srgbClr>
            </a:outerShdw>
          </a:effectLst>
        </p:spPr>
      </p:sp>
      <p:pic>
        <p:nvPicPr>
          <p:cNvPr id="14" name="Image 3" descr="preencoded.png"/>
          <p:cNvPicPr>
            <a:picLocks noChangeAspect="1"/>
          </p:cNvPicPr>
          <p:nvPr/>
        </p:nvPicPr>
        <p:blipFill>
          <a:blip r:embed="rId6"/>
          <a:stretch>
            <a:fillRect/>
          </a:stretch>
        </p:blipFill>
        <p:spPr>
          <a:xfrm>
            <a:off x="3368531" y="3854845"/>
            <a:ext cx="476017" cy="476017"/>
          </a:xfrm>
          <a:prstGeom prst="rect">
            <a:avLst/>
          </a:prstGeom>
        </p:spPr>
      </p:pic>
      <p:sp>
        <p:nvSpPr>
          <p:cNvPr id="15" name="Text 9"/>
          <p:cNvSpPr/>
          <p:nvPr/>
        </p:nvSpPr>
        <p:spPr>
          <a:xfrm>
            <a:off x="3185652" y="3948476"/>
            <a:ext cx="2760898" cy="308411"/>
          </a:xfrm>
          <a:prstGeom prst="rect">
            <a:avLst/>
          </a:prstGeom>
          <a:noFill/>
          <a:ln/>
        </p:spPr>
        <p:txBody>
          <a:bodyPr wrap="square" rtlCol="0" anchor="ctr"/>
          <a:lstStyle/>
          <a:p>
            <a:pPr marL="0" indent="0" algn="ctr">
              <a:buNone/>
            </a:pPr>
            <a:r>
              <a:rPr lang="en-US" sz="1400" b="1" dirty="0">
                <a:solidFill>
                  <a:srgbClr val="F5C518"/>
                </a:solidFill>
              </a:rPr>
              <a:t>Revenue</a:t>
            </a:r>
            <a:endParaRPr lang="en-US" sz="1400" dirty="0"/>
          </a:p>
        </p:txBody>
      </p:sp>
      <p:sp>
        <p:nvSpPr>
          <p:cNvPr id="16" name="Text 10"/>
          <p:cNvSpPr/>
          <p:nvPr/>
        </p:nvSpPr>
        <p:spPr>
          <a:xfrm>
            <a:off x="3185652" y="4374517"/>
            <a:ext cx="2760898" cy="342679"/>
          </a:xfrm>
          <a:prstGeom prst="rect">
            <a:avLst/>
          </a:prstGeom>
          <a:noFill/>
          <a:ln/>
        </p:spPr>
        <p:txBody>
          <a:bodyPr wrap="square" rtlCol="0" anchor="ctr"/>
          <a:lstStyle/>
          <a:p>
            <a:pPr marL="0" indent="0" algn="ctr">
              <a:buNone/>
            </a:pPr>
            <a:r>
              <a:rPr lang="en-US" sz="1000" dirty="0">
                <a:solidFill>
                  <a:srgbClr val="CCCCCC"/>
                </a:solidFill>
              </a:rPr>
              <a:t>Payment &amp; customer analysis</a:t>
            </a:r>
            <a:endParaRPr lang="en-US" sz="1000" dirty="0"/>
          </a:p>
        </p:txBody>
      </p:sp>
      <p:sp>
        <p:nvSpPr>
          <p:cNvPr id="17" name="Shape 11"/>
          <p:cNvSpPr/>
          <p:nvPr/>
        </p:nvSpPr>
        <p:spPr>
          <a:xfrm>
            <a:off x="274320" y="3734144"/>
            <a:ext cx="2777121" cy="1340775"/>
          </a:xfrm>
          <a:prstGeom prst="rect">
            <a:avLst/>
          </a:prstGeom>
          <a:solidFill>
            <a:srgbClr val="7A2D00"/>
          </a:solidFill>
          <a:ln/>
          <a:effectLst>
            <a:outerShdw blurRad="76200" dist="25400" dir="8100000" algn="bl" rotWithShape="0">
              <a:srgbClr val="000000">
                <a:alpha val="18000"/>
              </a:srgbClr>
            </a:outerShdw>
          </a:effectLst>
        </p:spPr>
      </p:sp>
      <p:pic>
        <p:nvPicPr>
          <p:cNvPr id="18" name="Image 4" descr="preencoded.png"/>
          <p:cNvPicPr>
            <a:picLocks noChangeAspect="1"/>
          </p:cNvPicPr>
          <p:nvPr/>
        </p:nvPicPr>
        <p:blipFill>
          <a:blip r:embed="rId7"/>
          <a:stretch>
            <a:fillRect/>
          </a:stretch>
        </p:blipFill>
        <p:spPr>
          <a:xfrm>
            <a:off x="331839" y="3863340"/>
            <a:ext cx="457200" cy="457200"/>
          </a:xfrm>
          <a:prstGeom prst="rect">
            <a:avLst/>
          </a:prstGeom>
        </p:spPr>
      </p:pic>
      <p:sp>
        <p:nvSpPr>
          <p:cNvPr id="19" name="Text 12"/>
          <p:cNvSpPr/>
          <p:nvPr/>
        </p:nvSpPr>
        <p:spPr>
          <a:xfrm>
            <a:off x="-594360" y="3931920"/>
            <a:ext cx="4160520" cy="411480"/>
          </a:xfrm>
          <a:prstGeom prst="rect">
            <a:avLst/>
          </a:prstGeom>
          <a:noFill/>
          <a:ln/>
        </p:spPr>
        <p:txBody>
          <a:bodyPr wrap="square" rtlCol="0" anchor="ctr"/>
          <a:lstStyle/>
          <a:p>
            <a:pPr marL="0" indent="0" algn="ctr">
              <a:buNone/>
            </a:pPr>
            <a:r>
              <a:rPr lang="en-US" sz="1400" b="1" dirty="0">
                <a:solidFill>
                  <a:srgbClr val="F5C518"/>
                </a:solidFill>
              </a:rPr>
              <a:t>Cancellation</a:t>
            </a:r>
            <a:endParaRPr lang="en-US" sz="1400" dirty="0"/>
          </a:p>
        </p:txBody>
      </p:sp>
      <p:sp>
        <p:nvSpPr>
          <p:cNvPr id="20" name="Text 13"/>
          <p:cNvSpPr/>
          <p:nvPr/>
        </p:nvSpPr>
        <p:spPr>
          <a:xfrm>
            <a:off x="-584953" y="4277844"/>
            <a:ext cx="4160520" cy="457200"/>
          </a:xfrm>
          <a:prstGeom prst="rect">
            <a:avLst/>
          </a:prstGeom>
          <a:noFill/>
          <a:ln/>
        </p:spPr>
        <p:txBody>
          <a:bodyPr wrap="square" rtlCol="0" anchor="ctr"/>
          <a:lstStyle/>
          <a:p>
            <a:pPr marL="0" indent="0" algn="ctr">
              <a:buNone/>
            </a:pPr>
            <a:r>
              <a:rPr lang="en-US" sz="1000" dirty="0">
                <a:solidFill>
                  <a:srgbClr val="CCCCCC"/>
                </a:solidFill>
              </a:rPr>
              <a:t>Driver &amp; customer reasons</a:t>
            </a:r>
            <a:endParaRPr lang="en-US" sz="1000" dirty="0"/>
          </a:p>
        </p:txBody>
      </p:sp>
      <p:sp>
        <p:nvSpPr>
          <p:cNvPr id="21" name="Shape 14"/>
          <p:cNvSpPr/>
          <p:nvPr/>
        </p:nvSpPr>
        <p:spPr>
          <a:xfrm>
            <a:off x="290543" y="2184237"/>
            <a:ext cx="2760898" cy="1440180"/>
          </a:xfrm>
          <a:prstGeom prst="rect">
            <a:avLst/>
          </a:prstGeom>
          <a:solidFill>
            <a:srgbClr val="4A1A6E"/>
          </a:solidFill>
          <a:ln/>
          <a:effectLst>
            <a:outerShdw blurRad="76200" dist="25400" dir="8100000" algn="bl" rotWithShape="0">
              <a:srgbClr val="000000">
                <a:alpha val="18000"/>
              </a:srgbClr>
            </a:outerShdw>
          </a:effectLst>
        </p:spPr>
      </p:sp>
      <p:pic>
        <p:nvPicPr>
          <p:cNvPr id="22" name="Image 5" descr="preencoded.png"/>
          <p:cNvPicPr>
            <a:picLocks noChangeAspect="1"/>
          </p:cNvPicPr>
          <p:nvPr/>
        </p:nvPicPr>
        <p:blipFill>
          <a:blip r:embed="rId8"/>
          <a:stretch>
            <a:fillRect/>
          </a:stretch>
        </p:blipFill>
        <p:spPr>
          <a:xfrm>
            <a:off x="459412" y="2435697"/>
            <a:ext cx="457200" cy="457200"/>
          </a:xfrm>
          <a:prstGeom prst="rect">
            <a:avLst/>
          </a:prstGeom>
        </p:spPr>
      </p:pic>
      <p:sp>
        <p:nvSpPr>
          <p:cNvPr id="23" name="Text 15"/>
          <p:cNvSpPr/>
          <p:nvPr/>
        </p:nvSpPr>
        <p:spPr>
          <a:xfrm>
            <a:off x="-480060" y="2435697"/>
            <a:ext cx="4160520" cy="411480"/>
          </a:xfrm>
          <a:prstGeom prst="rect">
            <a:avLst/>
          </a:prstGeom>
          <a:noFill/>
          <a:ln/>
        </p:spPr>
        <p:txBody>
          <a:bodyPr wrap="square" rtlCol="0" anchor="ctr"/>
          <a:lstStyle/>
          <a:p>
            <a:pPr marL="0" indent="0" algn="ctr">
              <a:buNone/>
            </a:pPr>
            <a:r>
              <a:rPr lang="en-US" sz="1400" b="1" dirty="0">
                <a:solidFill>
                  <a:srgbClr val="F5C518"/>
                </a:solidFill>
              </a:rPr>
              <a:t>Ratings</a:t>
            </a:r>
            <a:endParaRPr lang="en-US" sz="1400" dirty="0"/>
          </a:p>
        </p:txBody>
      </p:sp>
      <p:sp>
        <p:nvSpPr>
          <p:cNvPr id="24" name="Text 16"/>
          <p:cNvSpPr/>
          <p:nvPr/>
        </p:nvSpPr>
        <p:spPr>
          <a:xfrm>
            <a:off x="-425492" y="2788920"/>
            <a:ext cx="4160520" cy="457200"/>
          </a:xfrm>
          <a:prstGeom prst="rect">
            <a:avLst/>
          </a:prstGeom>
          <a:noFill/>
          <a:ln/>
        </p:spPr>
        <p:txBody>
          <a:bodyPr wrap="square" rtlCol="0" anchor="ctr"/>
          <a:lstStyle/>
          <a:p>
            <a:pPr marL="0" indent="0" algn="ctr">
              <a:buNone/>
            </a:pPr>
            <a:r>
              <a:rPr lang="en-US" sz="1000" dirty="0">
                <a:solidFill>
                  <a:srgbClr val="CCCCCC"/>
                </a:solidFill>
              </a:rPr>
              <a:t>Driver &amp; customer ratings</a:t>
            </a:r>
            <a:endParaRPr lang="en-US" sz="1000" dirty="0"/>
          </a:p>
        </p:txBody>
      </p:sp>
      <p:sp>
        <p:nvSpPr>
          <p:cNvPr id="25" name="TextBox 24">
            <a:extLst>
              <a:ext uri="{FF2B5EF4-FFF2-40B4-BE49-F238E27FC236}">
                <a16:creationId xmlns:a16="http://schemas.microsoft.com/office/drawing/2014/main" id="{B1EF3E13-BC4C-64DD-0DF0-636164FDF50A}"/>
              </a:ext>
            </a:extLst>
          </p:cNvPr>
          <p:cNvSpPr txBox="1"/>
          <p:nvPr/>
        </p:nvSpPr>
        <p:spPr>
          <a:xfrm>
            <a:off x="6142703" y="862780"/>
            <a:ext cx="2912807" cy="4185761"/>
          </a:xfrm>
          <a:prstGeom prst="rect">
            <a:avLst/>
          </a:prstGeom>
          <a:noFill/>
        </p:spPr>
        <p:txBody>
          <a:bodyPr wrap="square" rtlCol="0">
            <a:spAutoFit/>
          </a:bodyPr>
          <a:lstStyle/>
          <a:p>
            <a:r>
              <a:rPr lang="en-US" sz="1400" dirty="0"/>
              <a:t>This slide shows the </a:t>
            </a:r>
            <a:r>
              <a:rPr lang="en-US" sz="1400" b="1" dirty="0"/>
              <a:t>main structure of the Power BI dashboard</a:t>
            </a:r>
            <a:r>
              <a:rPr lang="en-US" sz="1400" dirty="0"/>
              <a:t>. It is divided into five important pages: </a:t>
            </a:r>
            <a:r>
              <a:rPr lang="en-US" sz="1400" b="1" dirty="0"/>
              <a:t>Overall, Vehicle Type, Revenue, Cancellation, and Ratings</a:t>
            </a:r>
            <a:r>
              <a:rPr lang="en-US" sz="1400" dirty="0"/>
              <a:t>. Each page focuses on one specific part of the Odisha Yatri booking data. The </a:t>
            </a:r>
            <a:r>
              <a:rPr lang="en-US" sz="1400" b="1" dirty="0"/>
              <a:t>Overall</a:t>
            </a:r>
            <a:r>
              <a:rPr lang="en-US" sz="1400" dirty="0"/>
              <a:t> page shows total bookings, revenue, and ride trends. The </a:t>
            </a:r>
            <a:r>
              <a:rPr lang="en-US" sz="1400" b="1" dirty="0"/>
              <a:t>Vehicle Type</a:t>
            </a:r>
            <a:r>
              <a:rPr lang="en-US" sz="1400" dirty="0"/>
              <a:t> page compares different vehicles like bike, auto, mini, and sedan. The </a:t>
            </a:r>
            <a:r>
              <a:rPr lang="en-US" sz="1400" b="1" dirty="0"/>
              <a:t>Revenue</a:t>
            </a:r>
            <a:r>
              <a:rPr lang="en-US" sz="1400" dirty="0"/>
              <a:t> page explains payment methods and customer value. The </a:t>
            </a:r>
            <a:r>
              <a:rPr lang="en-US" sz="1400" b="1" dirty="0"/>
              <a:t>Cancellation</a:t>
            </a:r>
            <a:r>
              <a:rPr lang="en-US" sz="1400" dirty="0"/>
              <a:t> page shows why rides were cancelled by customers or drivers. The </a:t>
            </a:r>
            <a:r>
              <a:rPr lang="en-US" sz="1400" b="1" dirty="0"/>
              <a:t>Ratings</a:t>
            </a:r>
            <a:r>
              <a:rPr lang="en-US" sz="1400" dirty="0"/>
              <a:t> page compares driver and customer feedback. This dashboard makes the data easy to understand visually.</a:t>
            </a:r>
            <a:endParaRPr lang="en-IN"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45720"/>
            <a:ext cx="9144000" cy="640080"/>
          </a:xfrm>
          <a:prstGeom prst="rect">
            <a:avLst/>
          </a:prstGeom>
          <a:solidFill>
            <a:srgbClr val="1A1A1A"/>
          </a:solidFill>
          <a:ln/>
        </p:spPr>
      </p:sp>
      <p:sp>
        <p:nvSpPr>
          <p:cNvPr id="3" name="Text 1"/>
          <p:cNvSpPr/>
          <p:nvPr/>
        </p:nvSpPr>
        <p:spPr>
          <a:xfrm>
            <a:off x="365760" y="0"/>
            <a:ext cx="8229600" cy="594360"/>
          </a:xfrm>
          <a:prstGeom prst="rect">
            <a:avLst/>
          </a:prstGeom>
          <a:noFill/>
          <a:ln/>
        </p:spPr>
        <p:txBody>
          <a:bodyPr wrap="square" rtlCol="0" anchor="ctr"/>
          <a:lstStyle/>
          <a:p>
            <a:pPr marL="0" indent="0">
              <a:buNone/>
            </a:pPr>
            <a:r>
              <a:rPr lang="en-US" sz="1300" b="1" dirty="0">
                <a:solidFill>
                  <a:srgbClr val="F5C518"/>
                </a:solidFill>
              </a:rPr>
              <a:t>📊  POWER BI — KEY PERFORMANCE INDICATORS</a:t>
            </a:r>
            <a:endParaRPr lang="en-US" sz="1300" dirty="0"/>
          </a:p>
        </p:txBody>
      </p:sp>
      <p:sp>
        <p:nvSpPr>
          <p:cNvPr id="4" name="Shape 2"/>
          <p:cNvSpPr/>
          <p:nvPr/>
        </p:nvSpPr>
        <p:spPr>
          <a:xfrm>
            <a:off x="274320" y="777240"/>
            <a:ext cx="2743200" cy="2560320"/>
          </a:xfrm>
          <a:prstGeom prst="rect">
            <a:avLst/>
          </a:prstGeom>
          <a:solidFill>
            <a:srgbClr val="1A1A1A"/>
          </a:solidFill>
          <a:ln/>
          <a:effectLst>
            <a:outerShdw blurRad="101600" dist="38100" dir="8100000" algn="bl" rotWithShape="0">
              <a:srgbClr val="000000">
                <a:alpha val="20000"/>
              </a:srgbClr>
            </a:outerShdw>
          </a:effectLst>
        </p:spPr>
      </p:sp>
      <p:pic>
        <p:nvPicPr>
          <p:cNvPr id="5" name="Image 0" descr="preencoded.png"/>
          <p:cNvPicPr>
            <a:picLocks noChangeAspect="1"/>
          </p:cNvPicPr>
          <p:nvPr/>
        </p:nvPicPr>
        <p:blipFill>
          <a:blip r:embed="rId3"/>
          <a:stretch>
            <a:fillRect/>
          </a:stretch>
        </p:blipFill>
        <p:spPr>
          <a:xfrm>
            <a:off x="457200" y="914400"/>
            <a:ext cx="548640" cy="548640"/>
          </a:xfrm>
          <a:prstGeom prst="rect">
            <a:avLst/>
          </a:prstGeom>
        </p:spPr>
      </p:pic>
      <p:sp>
        <p:nvSpPr>
          <p:cNvPr id="6" name="Text 3"/>
          <p:cNvSpPr/>
          <p:nvPr/>
        </p:nvSpPr>
        <p:spPr>
          <a:xfrm>
            <a:off x="274320" y="1554480"/>
            <a:ext cx="2743200" cy="777240"/>
          </a:xfrm>
          <a:prstGeom prst="rect">
            <a:avLst/>
          </a:prstGeom>
          <a:noFill/>
          <a:ln/>
        </p:spPr>
        <p:txBody>
          <a:bodyPr wrap="square" rtlCol="0" anchor="ctr"/>
          <a:lstStyle/>
          <a:p>
            <a:pPr marL="0" indent="0" algn="ctr">
              <a:buNone/>
            </a:pPr>
            <a:r>
              <a:rPr lang="en-US" sz="2800" b="1" dirty="0">
                <a:solidFill>
                  <a:srgbClr val="FFFFFF"/>
                </a:solidFill>
              </a:rPr>
              <a:t>103,024</a:t>
            </a:r>
            <a:endParaRPr lang="en-US" sz="2800" dirty="0"/>
          </a:p>
        </p:txBody>
      </p:sp>
      <p:sp>
        <p:nvSpPr>
          <p:cNvPr id="7" name="Text 4"/>
          <p:cNvSpPr/>
          <p:nvPr/>
        </p:nvSpPr>
        <p:spPr>
          <a:xfrm>
            <a:off x="274320" y="2331720"/>
            <a:ext cx="2743200" cy="411480"/>
          </a:xfrm>
          <a:prstGeom prst="rect">
            <a:avLst/>
          </a:prstGeom>
          <a:noFill/>
          <a:ln/>
        </p:spPr>
        <p:txBody>
          <a:bodyPr wrap="square" rtlCol="0" anchor="ctr"/>
          <a:lstStyle/>
          <a:p>
            <a:pPr marL="0" indent="0" algn="ctr">
              <a:buNone/>
            </a:pPr>
            <a:r>
              <a:rPr lang="en-US" sz="1100" b="1" dirty="0">
                <a:solidFill>
                  <a:srgbClr val="FFFFFF"/>
                </a:solidFill>
              </a:rPr>
              <a:t>TOTAL BOOKINGS</a:t>
            </a:r>
            <a:endParaRPr lang="en-US" sz="1100" dirty="0"/>
          </a:p>
        </p:txBody>
      </p:sp>
      <p:sp>
        <p:nvSpPr>
          <p:cNvPr id="8" name="Text 5"/>
          <p:cNvSpPr/>
          <p:nvPr/>
        </p:nvSpPr>
        <p:spPr>
          <a:xfrm>
            <a:off x="274320" y="2743200"/>
            <a:ext cx="2743200" cy="411480"/>
          </a:xfrm>
          <a:prstGeom prst="rect">
            <a:avLst/>
          </a:prstGeom>
          <a:noFill/>
          <a:ln/>
        </p:spPr>
        <p:txBody>
          <a:bodyPr wrap="square" rtlCol="0" anchor="ctr"/>
          <a:lstStyle/>
          <a:p>
            <a:pPr marL="0" indent="0" algn="ctr">
              <a:buNone/>
            </a:pPr>
            <a:r>
              <a:rPr lang="en-US" sz="900" dirty="0">
                <a:solidFill>
                  <a:schemeClr val="bg1"/>
                </a:solidFill>
              </a:rPr>
              <a:t>July 2024 — Full Month</a:t>
            </a:r>
          </a:p>
        </p:txBody>
      </p:sp>
      <p:sp>
        <p:nvSpPr>
          <p:cNvPr id="9" name="Shape 6"/>
          <p:cNvSpPr/>
          <p:nvPr/>
        </p:nvSpPr>
        <p:spPr>
          <a:xfrm>
            <a:off x="3200400" y="777240"/>
            <a:ext cx="2743200" cy="2560320"/>
          </a:xfrm>
          <a:prstGeom prst="rect">
            <a:avLst/>
          </a:prstGeom>
          <a:solidFill>
            <a:srgbClr val="F5C518"/>
          </a:solidFill>
          <a:ln/>
          <a:effectLst>
            <a:outerShdw blurRad="101600" dist="38100" dir="8100000" algn="bl" rotWithShape="0">
              <a:srgbClr val="000000">
                <a:alpha val="20000"/>
              </a:srgbClr>
            </a:outerShdw>
          </a:effectLst>
        </p:spPr>
      </p:sp>
      <p:pic>
        <p:nvPicPr>
          <p:cNvPr id="10" name="Image 1" descr="preencoded.png"/>
          <p:cNvPicPr>
            <a:picLocks noChangeAspect="1"/>
          </p:cNvPicPr>
          <p:nvPr/>
        </p:nvPicPr>
        <p:blipFill>
          <a:blip r:embed="rId4"/>
          <a:stretch>
            <a:fillRect/>
          </a:stretch>
        </p:blipFill>
        <p:spPr>
          <a:xfrm>
            <a:off x="3383280" y="914400"/>
            <a:ext cx="548640" cy="548640"/>
          </a:xfrm>
          <a:prstGeom prst="rect">
            <a:avLst/>
          </a:prstGeom>
        </p:spPr>
      </p:pic>
      <p:sp>
        <p:nvSpPr>
          <p:cNvPr id="11" name="Text 7"/>
          <p:cNvSpPr/>
          <p:nvPr/>
        </p:nvSpPr>
        <p:spPr>
          <a:xfrm>
            <a:off x="3200400" y="1554480"/>
            <a:ext cx="2743200" cy="777240"/>
          </a:xfrm>
          <a:prstGeom prst="rect">
            <a:avLst/>
          </a:prstGeom>
          <a:noFill/>
          <a:ln/>
        </p:spPr>
        <p:txBody>
          <a:bodyPr wrap="square" rtlCol="0" anchor="ctr"/>
          <a:lstStyle/>
          <a:p>
            <a:pPr marL="0" indent="0" algn="ctr">
              <a:buNone/>
            </a:pPr>
            <a:r>
              <a:rPr lang="en-US" sz="2800" b="1" dirty="0">
                <a:solidFill>
                  <a:srgbClr val="1A1A1A"/>
                </a:solidFill>
              </a:rPr>
              <a:t>₹35.08M</a:t>
            </a:r>
            <a:endParaRPr lang="en-US" sz="2800" dirty="0"/>
          </a:p>
        </p:txBody>
      </p:sp>
      <p:sp>
        <p:nvSpPr>
          <p:cNvPr id="12" name="Text 8"/>
          <p:cNvSpPr/>
          <p:nvPr/>
        </p:nvSpPr>
        <p:spPr>
          <a:xfrm>
            <a:off x="3200400" y="2331720"/>
            <a:ext cx="2743200" cy="411480"/>
          </a:xfrm>
          <a:prstGeom prst="rect">
            <a:avLst/>
          </a:prstGeom>
          <a:noFill/>
          <a:ln/>
        </p:spPr>
        <p:txBody>
          <a:bodyPr wrap="square" rtlCol="0" anchor="ctr"/>
          <a:lstStyle/>
          <a:p>
            <a:pPr marL="0" indent="0" algn="ctr">
              <a:buNone/>
            </a:pPr>
            <a:r>
              <a:rPr lang="en-US" sz="1100" b="1" dirty="0">
                <a:solidFill>
                  <a:srgbClr val="1A1A1A"/>
                </a:solidFill>
              </a:rPr>
              <a:t>TOTAL REVENUE</a:t>
            </a:r>
            <a:endParaRPr lang="en-US" sz="1100" dirty="0"/>
          </a:p>
        </p:txBody>
      </p:sp>
      <p:sp>
        <p:nvSpPr>
          <p:cNvPr id="13" name="Text 9"/>
          <p:cNvSpPr/>
          <p:nvPr/>
        </p:nvSpPr>
        <p:spPr>
          <a:xfrm>
            <a:off x="3200400" y="2743200"/>
            <a:ext cx="2743200" cy="411480"/>
          </a:xfrm>
          <a:prstGeom prst="rect">
            <a:avLst/>
          </a:prstGeom>
          <a:noFill/>
          <a:ln/>
        </p:spPr>
        <p:txBody>
          <a:bodyPr wrap="square" rtlCol="0" anchor="ctr"/>
          <a:lstStyle/>
          <a:p>
            <a:pPr marL="0" indent="0" algn="ctr">
              <a:buNone/>
            </a:pPr>
            <a:r>
              <a:rPr lang="en-US" sz="900" dirty="0">
                <a:solidFill>
                  <a:srgbClr val="555555"/>
                </a:solidFill>
              </a:rPr>
              <a:t>From successful rides only</a:t>
            </a:r>
            <a:endParaRPr lang="en-US" sz="900" dirty="0"/>
          </a:p>
        </p:txBody>
      </p:sp>
      <p:sp>
        <p:nvSpPr>
          <p:cNvPr id="14" name="Shape 10"/>
          <p:cNvSpPr/>
          <p:nvPr/>
        </p:nvSpPr>
        <p:spPr>
          <a:xfrm>
            <a:off x="6126480" y="777240"/>
            <a:ext cx="2743200" cy="2560320"/>
          </a:xfrm>
          <a:prstGeom prst="rect">
            <a:avLst/>
          </a:prstGeom>
          <a:solidFill>
            <a:srgbClr val="10B981"/>
          </a:solidFill>
          <a:ln/>
          <a:effectLst>
            <a:outerShdw blurRad="101600" dist="38100" dir="8100000" algn="bl" rotWithShape="0">
              <a:srgbClr val="000000">
                <a:alpha val="20000"/>
              </a:srgbClr>
            </a:outerShdw>
          </a:effectLst>
        </p:spPr>
      </p:sp>
      <p:pic>
        <p:nvPicPr>
          <p:cNvPr id="15" name="Image 2" descr="preencoded.png"/>
          <p:cNvPicPr>
            <a:picLocks noChangeAspect="1"/>
          </p:cNvPicPr>
          <p:nvPr/>
        </p:nvPicPr>
        <p:blipFill>
          <a:blip r:embed="rId5"/>
          <a:stretch>
            <a:fillRect/>
          </a:stretch>
        </p:blipFill>
        <p:spPr>
          <a:xfrm>
            <a:off x="6309360" y="914400"/>
            <a:ext cx="548640" cy="548640"/>
          </a:xfrm>
          <a:prstGeom prst="rect">
            <a:avLst/>
          </a:prstGeom>
        </p:spPr>
      </p:pic>
      <p:sp>
        <p:nvSpPr>
          <p:cNvPr id="16" name="Text 11"/>
          <p:cNvSpPr/>
          <p:nvPr/>
        </p:nvSpPr>
        <p:spPr>
          <a:xfrm>
            <a:off x="6126480" y="1554480"/>
            <a:ext cx="2743200" cy="777240"/>
          </a:xfrm>
          <a:prstGeom prst="rect">
            <a:avLst/>
          </a:prstGeom>
          <a:noFill/>
          <a:ln/>
        </p:spPr>
        <p:txBody>
          <a:bodyPr wrap="square" rtlCol="0" anchor="ctr"/>
          <a:lstStyle/>
          <a:p>
            <a:pPr marL="0" indent="0" algn="ctr">
              <a:buNone/>
            </a:pPr>
            <a:r>
              <a:rPr lang="en-US" sz="2800" b="1" dirty="0">
                <a:solidFill>
                  <a:srgbClr val="FFFFFF"/>
                </a:solidFill>
              </a:rPr>
              <a:t>63,967</a:t>
            </a:r>
            <a:endParaRPr lang="en-US" sz="2800" dirty="0"/>
          </a:p>
        </p:txBody>
      </p:sp>
      <p:sp>
        <p:nvSpPr>
          <p:cNvPr id="17" name="Text 12"/>
          <p:cNvSpPr/>
          <p:nvPr/>
        </p:nvSpPr>
        <p:spPr>
          <a:xfrm>
            <a:off x="6126480" y="2331720"/>
            <a:ext cx="2743200" cy="411480"/>
          </a:xfrm>
          <a:prstGeom prst="rect">
            <a:avLst/>
          </a:prstGeom>
          <a:noFill/>
          <a:ln/>
        </p:spPr>
        <p:txBody>
          <a:bodyPr wrap="square" rtlCol="0" anchor="ctr"/>
          <a:lstStyle/>
          <a:p>
            <a:pPr marL="0" indent="0" algn="ctr">
              <a:buNone/>
            </a:pPr>
            <a:r>
              <a:rPr lang="en-US" sz="1100" b="1" dirty="0">
                <a:solidFill>
                  <a:srgbClr val="FFFFFF"/>
                </a:solidFill>
              </a:rPr>
              <a:t>SUCCESS RIDES</a:t>
            </a:r>
            <a:endParaRPr lang="en-US" sz="1100" dirty="0"/>
          </a:p>
        </p:txBody>
      </p:sp>
      <p:sp>
        <p:nvSpPr>
          <p:cNvPr id="18" name="Text 13"/>
          <p:cNvSpPr/>
          <p:nvPr/>
        </p:nvSpPr>
        <p:spPr>
          <a:xfrm>
            <a:off x="6126480" y="2743200"/>
            <a:ext cx="2743200" cy="411480"/>
          </a:xfrm>
          <a:prstGeom prst="rect">
            <a:avLst/>
          </a:prstGeom>
          <a:noFill/>
          <a:ln/>
        </p:spPr>
        <p:txBody>
          <a:bodyPr wrap="square" rtlCol="0" anchor="ctr"/>
          <a:lstStyle/>
          <a:p>
            <a:pPr marL="0" indent="0" algn="ctr">
              <a:buNone/>
            </a:pPr>
            <a:r>
              <a:rPr lang="en-US" sz="900" dirty="0">
                <a:solidFill>
                  <a:schemeClr val="bg1"/>
                </a:solidFill>
              </a:rPr>
              <a:t>62.1% booking success rate</a:t>
            </a:r>
          </a:p>
        </p:txBody>
      </p:sp>
      <p:sp>
        <p:nvSpPr>
          <p:cNvPr id="19" name="Shape 14"/>
          <p:cNvSpPr/>
          <p:nvPr/>
        </p:nvSpPr>
        <p:spPr>
          <a:xfrm>
            <a:off x="274320" y="3520440"/>
            <a:ext cx="1920240" cy="1325880"/>
          </a:xfrm>
          <a:prstGeom prst="rect">
            <a:avLst/>
          </a:prstGeom>
          <a:solidFill>
            <a:srgbClr val="EF4444"/>
          </a:solidFill>
          <a:ln/>
          <a:effectLst>
            <a:outerShdw blurRad="63500" dist="25400" dir="8100000" algn="bl" rotWithShape="0">
              <a:srgbClr val="000000">
                <a:alpha val="15000"/>
              </a:srgbClr>
            </a:outerShdw>
          </a:effectLst>
        </p:spPr>
      </p:sp>
      <p:sp>
        <p:nvSpPr>
          <p:cNvPr id="20" name="Text 15"/>
          <p:cNvSpPr/>
          <p:nvPr/>
        </p:nvSpPr>
        <p:spPr>
          <a:xfrm>
            <a:off x="274320" y="3611880"/>
            <a:ext cx="1920240" cy="640080"/>
          </a:xfrm>
          <a:prstGeom prst="rect">
            <a:avLst/>
          </a:prstGeom>
          <a:noFill/>
          <a:ln/>
        </p:spPr>
        <p:txBody>
          <a:bodyPr wrap="square" rtlCol="0" anchor="ctr"/>
          <a:lstStyle/>
          <a:p>
            <a:pPr marL="0" indent="0" algn="ctr">
              <a:buNone/>
            </a:pPr>
            <a:r>
              <a:rPr lang="en-US" sz="2000" b="1" dirty="0">
                <a:solidFill>
                  <a:srgbClr val="FFFFFF"/>
                </a:solidFill>
              </a:rPr>
              <a:t>28,933</a:t>
            </a:r>
            <a:endParaRPr lang="en-US" sz="2000" dirty="0"/>
          </a:p>
        </p:txBody>
      </p:sp>
      <p:sp>
        <p:nvSpPr>
          <p:cNvPr id="21" name="Text 16"/>
          <p:cNvSpPr/>
          <p:nvPr/>
        </p:nvSpPr>
        <p:spPr>
          <a:xfrm>
            <a:off x="274320" y="4251960"/>
            <a:ext cx="1920240" cy="457200"/>
          </a:xfrm>
          <a:prstGeom prst="rect">
            <a:avLst/>
          </a:prstGeom>
          <a:noFill/>
          <a:ln/>
        </p:spPr>
        <p:txBody>
          <a:bodyPr wrap="square" rtlCol="0" anchor="ctr"/>
          <a:lstStyle/>
          <a:p>
            <a:pPr marL="0" indent="0" algn="ctr">
              <a:buNone/>
            </a:pPr>
            <a:r>
              <a:rPr lang="en-US" sz="900" dirty="0">
                <a:solidFill>
                  <a:srgbClr val="DDDDDD"/>
                </a:solidFill>
              </a:rPr>
              <a:t>Cancelled Bookings</a:t>
            </a:r>
            <a:endParaRPr lang="en-US" sz="900" dirty="0"/>
          </a:p>
        </p:txBody>
      </p:sp>
      <p:sp>
        <p:nvSpPr>
          <p:cNvPr id="22" name="Shape 17"/>
          <p:cNvSpPr/>
          <p:nvPr/>
        </p:nvSpPr>
        <p:spPr>
          <a:xfrm>
            <a:off x="2450592" y="3520440"/>
            <a:ext cx="1920240" cy="1325880"/>
          </a:xfrm>
          <a:prstGeom prst="rect">
            <a:avLst/>
          </a:prstGeom>
          <a:solidFill>
            <a:srgbClr val="1A1A1A"/>
          </a:solidFill>
          <a:ln/>
          <a:effectLst>
            <a:outerShdw blurRad="63500" dist="25400" dir="8100000" algn="bl" rotWithShape="0">
              <a:srgbClr val="000000">
                <a:alpha val="15000"/>
              </a:srgbClr>
            </a:outerShdw>
          </a:effectLst>
        </p:spPr>
      </p:sp>
      <p:sp>
        <p:nvSpPr>
          <p:cNvPr id="23" name="Text 18"/>
          <p:cNvSpPr/>
          <p:nvPr/>
        </p:nvSpPr>
        <p:spPr>
          <a:xfrm>
            <a:off x="2450592" y="3611880"/>
            <a:ext cx="1920240" cy="640080"/>
          </a:xfrm>
          <a:prstGeom prst="rect">
            <a:avLst/>
          </a:prstGeom>
          <a:noFill/>
          <a:ln/>
        </p:spPr>
        <p:txBody>
          <a:bodyPr wrap="square" rtlCol="0" anchor="ctr"/>
          <a:lstStyle/>
          <a:p>
            <a:pPr marL="0" indent="0" algn="ctr">
              <a:buNone/>
            </a:pPr>
            <a:r>
              <a:rPr lang="en-US" sz="2000" b="1" dirty="0">
                <a:solidFill>
                  <a:srgbClr val="FFFFFF"/>
                </a:solidFill>
              </a:rPr>
              <a:t>28.08%</a:t>
            </a:r>
            <a:endParaRPr lang="en-US" sz="2000" dirty="0"/>
          </a:p>
        </p:txBody>
      </p:sp>
      <p:sp>
        <p:nvSpPr>
          <p:cNvPr id="24" name="Text 19"/>
          <p:cNvSpPr/>
          <p:nvPr/>
        </p:nvSpPr>
        <p:spPr>
          <a:xfrm>
            <a:off x="2450592" y="4251960"/>
            <a:ext cx="1920240" cy="457200"/>
          </a:xfrm>
          <a:prstGeom prst="rect">
            <a:avLst/>
          </a:prstGeom>
          <a:noFill/>
          <a:ln/>
        </p:spPr>
        <p:txBody>
          <a:bodyPr wrap="square" rtlCol="0" anchor="ctr"/>
          <a:lstStyle/>
          <a:p>
            <a:pPr marL="0" indent="0" algn="ctr">
              <a:buNone/>
            </a:pPr>
            <a:r>
              <a:rPr lang="en-US" sz="900" dirty="0">
                <a:solidFill>
                  <a:srgbClr val="DDDDDD"/>
                </a:solidFill>
              </a:rPr>
              <a:t>Cancellation Rate</a:t>
            </a:r>
            <a:endParaRPr lang="en-US" sz="900" dirty="0"/>
          </a:p>
        </p:txBody>
      </p:sp>
      <p:sp>
        <p:nvSpPr>
          <p:cNvPr id="25" name="Shape 20"/>
          <p:cNvSpPr/>
          <p:nvPr/>
        </p:nvSpPr>
        <p:spPr>
          <a:xfrm>
            <a:off x="4626864" y="3520440"/>
            <a:ext cx="1920240" cy="1325880"/>
          </a:xfrm>
          <a:prstGeom prst="rect">
            <a:avLst/>
          </a:prstGeom>
          <a:solidFill>
            <a:srgbClr val="F59E0B"/>
          </a:solidFill>
          <a:ln/>
          <a:effectLst>
            <a:outerShdw blurRad="63500" dist="25400" dir="8100000" algn="bl" rotWithShape="0">
              <a:srgbClr val="000000">
                <a:alpha val="15000"/>
              </a:srgbClr>
            </a:outerShdw>
          </a:effectLst>
        </p:spPr>
      </p:sp>
      <p:sp>
        <p:nvSpPr>
          <p:cNvPr id="26" name="Text 21"/>
          <p:cNvSpPr/>
          <p:nvPr/>
        </p:nvSpPr>
        <p:spPr>
          <a:xfrm>
            <a:off x="4626864" y="3611880"/>
            <a:ext cx="1920240" cy="640080"/>
          </a:xfrm>
          <a:prstGeom prst="rect">
            <a:avLst/>
          </a:prstGeom>
          <a:noFill/>
          <a:ln/>
        </p:spPr>
        <p:txBody>
          <a:bodyPr wrap="square" rtlCol="0" anchor="ctr"/>
          <a:lstStyle/>
          <a:p>
            <a:pPr marL="0" indent="0" algn="ctr">
              <a:buNone/>
            </a:pPr>
            <a:r>
              <a:rPr lang="en-US" sz="2000" b="1" dirty="0">
                <a:solidFill>
                  <a:srgbClr val="FFFFFF"/>
                </a:solidFill>
              </a:rPr>
              <a:t>10,124</a:t>
            </a:r>
            <a:endParaRPr lang="en-US" sz="2000" dirty="0"/>
          </a:p>
        </p:txBody>
      </p:sp>
      <p:sp>
        <p:nvSpPr>
          <p:cNvPr id="27" name="Text 22"/>
          <p:cNvSpPr/>
          <p:nvPr/>
        </p:nvSpPr>
        <p:spPr>
          <a:xfrm>
            <a:off x="4626864" y="4251960"/>
            <a:ext cx="1920240" cy="457200"/>
          </a:xfrm>
          <a:prstGeom prst="rect">
            <a:avLst/>
          </a:prstGeom>
          <a:noFill/>
          <a:ln/>
        </p:spPr>
        <p:txBody>
          <a:bodyPr wrap="square" rtlCol="0" anchor="ctr"/>
          <a:lstStyle/>
          <a:p>
            <a:pPr marL="0" indent="0" algn="ctr">
              <a:buNone/>
            </a:pPr>
            <a:r>
              <a:rPr lang="en-US" sz="900" dirty="0">
                <a:solidFill>
                  <a:srgbClr val="DDDDDD"/>
                </a:solidFill>
              </a:rPr>
              <a:t>Driver Not Found</a:t>
            </a:r>
            <a:endParaRPr lang="en-US" sz="900" dirty="0"/>
          </a:p>
        </p:txBody>
      </p:sp>
      <p:sp>
        <p:nvSpPr>
          <p:cNvPr id="28" name="Shape 23"/>
          <p:cNvSpPr/>
          <p:nvPr/>
        </p:nvSpPr>
        <p:spPr>
          <a:xfrm>
            <a:off x="6803136" y="3520440"/>
            <a:ext cx="1920240" cy="1325880"/>
          </a:xfrm>
          <a:prstGeom prst="rect">
            <a:avLst/>
          </a:prstGeom>
          <a:solidFill>
            <a:srgbClr val="6B7280"/>
          </a:solidFill>
          <a:ln/>
          <a:effectLst>
            <a:outerShdw blurRad="63500" dist="25400" dir="8100000" algn="bl" rotWithShape="0">
              <a:srgbClr val="000000">
                <a:alpha val="15000"/>
              </a:srgbClr>
            </a:outerShdw>
          </a:effectLst>
        </p:spPr>
      </p:sp>
      <p:sp>
        <p:nvSpPr>
          <p:cNvPr id="29" name="Text 24"/>
          <p:cNvSpPr/>
          <p:nvPr/>
        </p:nvSpPr>
        <p:spPr>
          <a:xfrm>
            <a:off x="6803136" y="3611880"/>
            <a:ext cx="1920240" cy="640080"/>
          </a:xfrm>
          <a:prstGeom prst="rect">
            <a:avLst/>
          </a:prstGeom>
          <a:noFill/>
          <a:ln/>
        </p:spPr>
        <p:txBody>
          <a:bodyPr wrap="square" rtlCol="0" anchor="ctr"/>
          <a:lstStyle/>
          <a:p>
            <a:pPr marL="0" indent="0" algn="ctr">
              <a:buNone/>
            </a:pPr>
            <a:r>
              <a:rPr lang="en-US" sz="2000" b="1" dirty="0">
                <a:solidFill>
                  <a:srgbClr val="FFFFFF"/>
                </a:solidFill>
              </a:rPr>
              <a:t>18,434</a:t>
            </a:r>
            <a:endParaRPr lang="en-US" sz="2000" dirty="0"/>
          </a:p>
        </p:txBody>
      </p:sp>
      <p:sp>
        <p:nvSpPr>
          <p:cNvPr id="30" name="Text 25"/>
          <p:cNvSpPr/>
          <p:nvPr/>
        </p:nvSpPr>
        <p:spPr>
          <a:xfrm>
            <a:off x="6803136" y="4251960"/>
            <a:ext cx="1920240" cy="457200"/>
          </a:xfrm>
          <a:prstGeom prst="rect">
            <a:avLst/>
          </a:prstGeom>
          <a:noFill/>
          <a:ln/>
        </p:spPr>
        <p:txBody>
          <a:bodyPr wrap="square" rtlCol="0" anchor="ctr"/>
          <a:lstStyle/>
          <a:p>
            <a:pPr marL="0" indent="0" algn="ctr">
              <a:buNone/>
            </a:pPr>
            <a:r>
              <a:rPr lang="en-US" sz="900" dirty="0">
                <a:solidFill>
                  <a:srgbClr val="DDDDDD"/>
                </a:solidFill>
              </a:rPr>
              <a:t>Cancelled by Driver</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A1A"/>
          </a:solidFill>
          <a:ln/>
        </p:spPr>
      </p:sp>
      <p:sp>
        <p:nvSpPr>
          <p:cNvPr id="3" name="Text 1"/>
          <p:cNvSpPr/>
          <p:nvPr/>
        </p:nvSpPr>
        <p:spPr>
          <a:xfrm>
            <a:off x="365760" y="0"/>
            <a:ext cx="8229600" cy="594360"/>
          </a:xfrm>
          <a:prstGeom prst="rect">
            <a:avLst/>
          </a:prstGeom>
          <a:noFill/>
          <a:ln/>
        </p:spPr>
        <p:txBody>
          <a:bodyPr wrap="square" rtlCol="0" anchor="ctr"/>
          <a:lstStyle/>
          <a:p>
            <a:pPr marL="0" indent="0">
              <a:buNone/>
            </a:pPr>
            <a:r>
              <a:rPr lang="en-US" sz="1300" b="1" dirty="0">
                <a:solidFill>
                  <a:srgbClr val="F5C518"/>
                </a:solidFill>
              </a:rPr>
              <a:t>📊  POWER BI — BOOKING STATUS BREAKDOWN</a:t>
            </a:r>
            <a:endParaRPr lang="en-US" sz="1300" dirty="0"/>
          </a:p>
        </p:txBody>
      </p:sp>
      <p:graphicFrame>
        <p:nvGraphicFramePr>
          <p:cNvPr id="4" name="Chart 0"/>
          <p:cNvGraphicFramePr/>
          <p:nvPr>
            <p:extLst>
              <p:ext uri="{D42A27DB-BD31-4B8C-83A1-F6EECF244321}">
                <p14:modId xmlns:p14="http://schemas.microsoft.com/office/powerpoint/2010/main" val="466208106"/>
              </p:ext>
            </p:extLst>
          </p:nvPr>
        </p:nvGraphicFramePr>
        <p:xfrm>
          <a:off x="1976284" y="1965960"/>
          <a:ext cx="3327236"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486400" y="1024128"/>
            <a:ext cx="3383280" cy="777240"/>
          </a:xfrm>
          <a:prstGeom prst="rect">
            <a:avLst/>
          </a:prstGeom>
          <a:solidFill>
            <a:srgbClr val="FFFFFF"/>
          </a:solidFill>
          <a:ln/>
          <a:effectLst>
            <a:outerShdw blurRad="50800" dist="25400" dir="8100000" algn="bl" rotWithShape="0">
              <a:srgbClr val="000000">
                <a:alpha val="8000"/>
              </a:srgbClr>
            </a:outerShdw>
          </a:effectLst>
        </p:spPr>
      </p:sp>
      <p:sp>
        <p:nvSpPr>
          <p:cNvPr id="6" name="Shape 3"/>
          <p:cNvSpPr/>
          <p:nvPr/>
        </p:nvSpPr>
        <p:spPr>
          <a:xfrm>
            <a:off x="5486400" y="1005840"/>
            <a:ext cx="73152" cy="777240"/>
          </a:xfrm>
          <a:prstGeom prst="rect">
            <a:avLst/>
          </a:prstGeom>
          <a:solidFill>
            <a:srgbClr val="10B981"/>
          </a:solidFill>
          <a:ln/>
        </p:spPr>
      </p:sp>
      <p:sp>
        <p:nvSpPr>
          <p:cNvPr id="7" name="Text 4"/>
          <p:cNvSpPr/>
          <p:nvPr/>
        </p:nvSpPr>
        <p:spPr>
          <a:xfrm>
            <a:off x="5623560" y="1078992"/>
            <a:ext cx="2103120" cy="320040"/>
          </a:xfrm>
          <a:prstGeom prst="rect">
            <a:avLst/>
          </a:prstGeom>
          <a:noFill/>
          <a:ln/>
        </p:spPr>
        <p:txBody>
          <a:bodyPr wrap="square" rtlCol="0" anchor="ctr"/>
          <a:lstStyle/>
          <a:p>
            <a:pPr marL="0" indent="0">
              <a:buNone/>
            </a:pPr>
            <a:r>
              <a:rPr lang="en-US" sz="1100" dirty="0">
                <a:solidFill>
                  <a:srgbClr val="2D2D2D"/>
                </a:solidFill>
              </a:rPr>
              <a:t>Success</a:t>
            </a:r>
            <a:endParaRPr lang="en-US" sz="1100" dirty="0"/>
          </a:p>
        </p:txBody>
      </p:sp>
      <p:sp>
        <p:nvSpPr>
          <p:cNvPr id="8" name="Text 5"/>
          <p:cNvSpPr/>
          <p:nvPr/>
        </p:nvSpPr>
        <p:spPr>
          <a:xfrm>
            <a:off x="7498080" y="1005840"/>
            <a:ext cx="1280160" cy="384048"/>
          </a:xfrm>
          <a:prstGeom prst="rect">
            <a:avLst/>
          </a:prstGeom>
          <a:noFill/>
          <a:ln/>
        </p:spPr>
        <p:txBody>
          <a:bodyPr wrap="square" rtlCol="0" anchor="ctr"/>
          <a:lstStyle/>
          <a:p>
            <a:pPr marL="0" indent="0" algn="r">
              <a:buNone/>
            </a:pPr>
            <a:r>
              <a:rPr lang="en-US" sz="1600" b="1" dirty="0">
                <a:solidFill>
                  <a:srgbClr val="10B981"/>
                </a:solidFill>
              </a:rPr>
              <a:t>63,967</a:t>
            </a:r>
            <a:endParaRPr lang="en-US" sz="1600" dirty="0"/>
          </a:p>
        </p:txBody>
      </p:sp>
      <p:sp>
        <p:nvSpPr>
          <p:cNvPr id="9" name="Text 6"/>
          <p:cNvSpPr/>
          <p:nvPr/>
        </p:nvSpPr>
        <p:spPr>
          <a:xfrm>
            <a:off x="7498080" y="1399032"/>
            <a:ext cx="1280160" cy="320040"/>
          </a:xfrm>
          <a:prstGeom prst="rect">
            <a:avLst/>
          </a:prstGeom>
          <a:noFill/>
          <a:ln/>
        </p:spPr>
        <p:txBody>
          <a:bodyPr wrap="square" rtlCol="0" anchor="ctr"/>
          <a:lstStyle/>
          <a:p>
            <a:pPr marL="0" indent="0" algn="r">
              <a:buNone/>
            </a:pPr>
            <a:r>
              <a:rPr lang="en-US" sz="1100" dirty="0">
                <a:solidFill>
                  <a:srgbClr val="6B7280"/>
                </a:solidFill>
              </a:rPr>
              <a:t>62.1%</a:t>
            </a:r>
            <a:endParaRPr lang="en-US" sz="1100" dirty="0"/>
          </a:p>
        </p:txBody>
      </p:sp>
      <p:sp>
        <p:nvSpPr>
          <p:cNvPr id="10" name="Shape 7"/>
          <p:cNvSpPr/>
          <p:nvPr/>
        </p:nvSpPr>
        <p:spPr>
          <a:xfrm>
            <a:off x="5486400" y="1965960"/>
            <a:ext cx="3383280" cy="777240"/>
          </a:xfrm>
          <a:prstGeom prst="rect">
            <a:avLst/>
          </a:prstGeom>
          <a:solidFill>
            <a:srgbClr val="FFFFFF"/>
          </a:solidFill>
          <a:ln/>
          <a:effectLst>
            <a:outerShdw blurRad="50800" dist="25400" dir="8100000" algn="bl" rotWithShape="0">
              <a:srgbClr val="000000">
                <a:alpha val="8000"/>
              </a:srgbClr>
            </a:outerShdw>
          </a:effectLst>
        </p:spPr>
      </p:sp>
      <p:sp>
        <p:nvSpPr>
          <p:cNvPr id="11" name="Shape 8"/>
          <p:cNvSpPr/>
          <p:nvPr/>
        </p:nvSpPr>
        <p:spPr>
          <a:xfrm>
            <a:off x="5486400" y="1965960"/>
            <a:ext cx="73152" cy="777240"/>
          </a:xfrm>
          <a:prstGeom prst="rect">
            <a:avLst/>
          </a:prstGeom>
          <a:solidFill>
            <a:srgbClr val="EF4444"/>
          </a:solidFill>
          <a:ln/>
        </p:spPr>
      </p:sp>
      <p:sp>
        <p:nvSpPr>
          <p:cNvPr id="12" name="Text 9"/>
          <p:cNvSpPr/>
          <p:nvPr/>
        </p:nvSpPr>
        <p:spPr>
          <a:xfrm>
            <a:off x="5623560" y="2039112"/>
            <a:ext cx="2103120" cy="320040"/>
          </a:xfrm>
          <a:prstGeom prst="rect">
            <a:avLst/>
          </a:prstGeom>
          <a:noFill/>
          <a:ln/>
        </p:spPr>
        <p:txBody>
          <a:bodyPr wrap="square" rtlCol="0" anchor="ctr"/>
          <a:lstStyle/>
          <a:p>
            <a:pPr marL="0" indent="0">
              <a:buNone/>
            </a:pPr>
            <a:r>
              <a:rPr lang="en-US" sz="1100" dirty="0">
                <a:solidFill>
                  <a:srgbClr val="2D2D2D"/>
                </a:solidFill>
              </a:rPr>
              <a:t>Cancelled by Driver</a:t>
            </a:r>
            <a:endParaRPr lang="en-US" sz="1100" dirty="0"/>
          </a:p>
        </p:txBody>
      </p:sp>
      <p:sp>
        <p:nvSpPr>
          <p:cNvPr id="13" name="Text 10"/>
          <p:cNvSpPr/>
          <p:nvPr/>
        </p:nvSpPr>
        <p:spPr>
          <a:xfrm>
            <a:off x="7498080" y="1965960"/>
            <a:ext cx="1280160" cy="384048"/>
          </a:xfrm>
          <a:prstGeom prst="rect">
            <a:avLst/>
          </a:prstGeom>
          <a:noFill/>
          <a:ln/>
        </p:spPr>
        <p:txBody>
          <a:bodyPr wrap="square" rtlCol="0" anchor="ctr"/>
          <a:lstStyle/>
          <a:p>
            <a:pPr marL="0" indent="0" algn="r">
              <a:buNone/>
            </a:pPr>
            <a:r>
              <a:rPr lang="en-US" sz="1600" b="1" dirty="0">
                <a:solidFill>
                  <a:srgbClr val="EF4444"/>
                </a:solidFill>
              </a:rPr>
              <a:t>18,434</a:t>
            </a:r>
            <a:endParaRPr lang="en-US" sz="1600" dirty="0"/>
          </a:p>
        </p:txBody>
      </p:sp>
      <p:sp>
        <p:nvSpPr>
          <p:cNvPr id="14" name="Text 11"/>
          <p:cNvSpPr/>
          <p:nvPr/>
        </p:nvSpPr>
        <p:spPr>
          <a:xfrm>
            <a:off x="7498080" y="2359152"/>
            <a:ext cx="1280160" cy="320040"/>
          </a:xfrm>
          <a:prstGeom prst="rect">
            <a:avLst/>
          </a:prstGeom>
          <a:noFill/>
          <a:ln/>
        </p:spPr>
        <p:txBody>
          <a:bodyPr wrap="square" rtlCol="0" anchor="ctr"/>
          <a:lstStyle/>
          <a:p>
            <a:pPr marL="0" indent="0" algn="r">
              <a:buNone/>
            </a:pPr>
            <a:r>
              <a:rPr lang="en-US" sz="1100" dirty="0">
                <a:solidFill>
                  <a:srgbClr val="6B7280"/>
                </a:solidFill>
              </a:rPr>
              <a:t>17.9%</a:t>
            </a:r>
            <a:endParaRPr lang="en-US" sz="1100" dirty="0"/>
          </a:p>
        </p:txBody>
      </p:sp>
      <p:sp>
        <p:nvSpPr>
          <p:cNvPr id="15" name="Shape 12"/>
          <p:cNvSpPr/>
          <p:nvPr/>
        </p:nvSpPr>
        <p:spPr>
          <a:xfrm>
            <a:off x="5486400" y="2926080"/>
            <a:ext cx="3383280" cy="777240"/>
          </a:xfrm>
          <a:prstGeom prst="rect">
            <a:avLst/>
          </a:prstGeom>
          <a:solidFill>
            <a:srgbClr val="FFFFFF"/>
          </a:solidFill>
          <a:ln/>
          <a:effectLst>
            <a:outerShdw blurRad="50800" dist="25400" dir="8100000" algn="bl" rotWithShape="0">
              <a:srgbClr val="000000">
                <a:alpha val="8000"/>
              </a:srgbClr>
            </a:outerShdw>
          </a:effectLst>
        </p:spPr>
      </p:sp>
      <p:sp>
        <p:nvSpPr>
          <p:cNvPr id="16" name="Shape 13"/>
          <p:cNvSpPr/>
          <p:nvPr/>
        </p:nvSpPr>
        <p:spPr>
          <a:xfrm>
            <a:off x="5486400" y="2926080"/>
            <a:ext cx="73152" cy="777240"/>
          </a:xfrm>
          <a:prstGeom prst="rect">
            <a:avLst/>
          </a:prstGeom>
          <a:solidFill>
            <a:srgbClr val="F59E0B"/>
          </a:solidFill>
          <a:ln/>
        </p:spPr>
      </p:sp>
      <p:sp>
        <p:nvSpPr>
          <p:cNvPr id="17" name="Text 14"/>
          <p:cNvSpPr/>
          <p:nvPr/>
        </p:nvSpPr>
        <p:spPr>
          <a:xfrm>
            <a:off x="5623560" y="2999232"/>
            <a:ext cx="2103120" cy="320040"/>
          </a:xfrm>
          <a:prstGeom prst="rect">
            <a:avLst/>
          </a:prstGeom>
          <a:noFill/>
          <a:ln/>
        </p:spPr>
        <p:txBody>
          <a:bodyPr wrap="square" rtlCol="0" anchor="ctr"/>
          <a:lstStyle/>
          <a:p>
            <a:pPr marL="0" indent="0">
              <a:buNone/>
            </a:pPr>
            <a:r>
              <a:rPr lang="en-US" sz="1100" dirty="0">
                <a:solidFill>
                  <a:srgbClr val="2D2D2D"/>
                </a:solidFill>
              </a:rPr>
              <a:t>Cancelled by Customer</a:t>
            </a:r>
            <a:endParaRPr lang="en-US" sz="1100" dirty="0"/>
          </a:p>
        </p:txBody>
      </p:sp>
      <p:sp>
        <p:nvSpPr>
          <p:cNvPr id="18" name="Text 15"/>
          <p:cNvSpPr/>
          <p:nvPr/>
        </p:nvSpPr>
        <p:spPr>
          <a:xfrm>
            <a:off x="7498080" y="2926080"/>
            <a:ext cx="1280160" cy="384048"/>
          </a:xfrm>
          <a:prstGeom prst="rect">
            <a:avLst/>
          </a:prstGeom>
          <a:noFill/>
          <a:ln/>
        </p:spPr>
        <p:txBody>
          <a:bodyPr wrap="square" rtlCol="0" anchor="ctr"/>
          <a:lstStyle/>
          <a:p>
            <a:pPr marL="0" indent="0" algn="r">
              <a:buNone/>
            </a:pPr>
            <a:r>
              <a:rPr lang="en-US" sz="1600" b="1" dirty="0">
                <a:solidFill>
                  <a:srgbClr val="F59E0B"/>
                </a:solidFill>
              </a:rPr>
              <a:t>10,499</a:t>
            </a:r>
            <a:endParaRPr lang="en-US" sz="1600" dirty="0"/>
          </a:p>
        </p:txBody>
      </p:sp>
      <p:sp>
        <p:nvSpPr>
          <p:cNvPr id="19" name="Text 16"/>
          <p:cNvSpPr/>
          <p:nvPr/>
        </p:nvSpPr>
        <p:spPr>
          <a:xfrm>
            <a:off x="7498080" y="3319272"/>
            <a:ext cx="1280160" cy="320040"/>
          </a:xfrm>
          <a:prstGeom prst="rect">
            <a:avLst/>
          </a:prstGeom>
          <a:noFill/>
          <a:ln/>
        </p:spPr>
        <p:txBody>
          <a:bodyPr wrap="square" rtlCol="0" anchor="ctr"/>
          <a:lstStyle/>
          <a:p>
            <a:pPr marL="0" indent="0" algn="r">
              <a:buNone/>
            </a:pPr>
            <a:r>
              <a:rPr lang="en-US" sz="1100" dirty="0">
                <a:solidFill>
                  <a:srgbClr val="6B7280"/>
                </a:solidFill>
              </a:rPr>
              <a:t>10.2%</a:t>
            </a:r>
            <a:endParaRPr lang="en-US" sz="1100" dirty="0"/>
          </a:p>
        </p:txBody>
      </p:sp>
      <p:sp>
        <p:nvSpPr>
          <p:cNvPr id="20" name="Shape 17"/>
          <p:cNvSpPr/>
          <p:nvPr/>
        </p:nvSpPr>
        <p:spPr>
          <a:xfrm>
            <a:off x="5486400" y="3886200"/>
            <a:ext cx="3383280" cy="777240"/>
          </a:xfrm>
          <a:prstGeom prst="rect">
            <a:avLst/>
          </a:prstGeom>
          <a:solidFill>
            <a:srgbClr val="FFFFFF"/>
          </a:solidFill>
          <a:ln/>
          <a:effectLst>
            <a:outerShdw blurRad="50800" dist="25400" dir="8100000" algn="bl" rotWithShape="0">
              <a:srgbClr val="000000">
                <a:alpha val="8000"/>
              </a:srgbClr>
            </a:outerShdw>
          </a:effectLst>
        </p:spPr>
      </p:sp>
      <p:sp>
        <p:nvSpPr>
          <p:cNvPr id="21" name="Shape 18"/>
          <p:cNvSpPr/>
          <p:nvPr/>
        </p:nvSpPr>
        <p:spPr>
          <a:xfrm>
            <a:off x="5486400" y="3886200"/>
            <a:ext cx="73152" cy="777240"/>
          </a:xfrm>
          <a:prstGeom prst="rect">
            <a:avLst/>
          </a:prstGeom>
          <a:solidFill>
            <a:srgbClr val="6B7280"/>
          </a:solidFill>
          <a:ln/>
        </p:spPr>
      </p:sp>
      <p:sp>
        <p:nvSpPr>
          <p:cNvPr id="22" name="Text 19"/>
          <p:cNvSpPr/>
          <p:nvPr/>
        </p:nvSpPr>
        <p:spPr>
          <a:xfrm>
            <a:off x="5623560" y="3959352"/>
            <a:ext cx="2103120" cy="320040"/>
          </a:xfrm>
          <a:prstGeom prst="rect">
            <a:avLst/>
          </a:prstGeom>
          <a:noFill/>
          <a:ln/>
        </p:spPr>
        <p:txBody>
          <a:bodyPr wrap="square" rtlCol="0" anchor="ctr"/>
          <a:lstStyle/>
          <a:p>
            <a:pPr marL="0" indent="0">
              <a:buNone/>
            </a:pPr>
            <a:r>
              <a:rPr lang="en-US" sz="1100" dirty="0">
                <a:solidFill>
                  <a:srgbClr val="2D2D2D"/>
                </a:solidFill>
              </a:rPr>
              <a:t>Driver Not Found</a:t>
            </a:r>
            <a:endParaRPr lang="en-US" sz="1100" dirty="0"/>
          </a:p>
        </p:txBody>
      </p:sp>
      <p:sp>
        <p:nvSpPr>
          <p:cNvPr id="23" name="Text 20"/>
          <p:cNvSpPr/>
          <p:nvPr/>
        </p:nvSpPr>
        <p:spPr>
          <a:xfrm>
            <a:off x="7498080" y="3886200"/>
            <a:ext cx="1280160" cy="384048"/>
          </a:xfrm>
          <a:prstGeom prst="rect">
            <a:avLst/>
          </a:prstGeom>
          <a:noFill/>
          <a:ln/>
        </p:spPr>
        <p:txBody>
          <a:bodyPr wrap="square" rtlCol="0" anchor="ctr"/>
          <a:lstStyle/>
          <a:p>
            <a:pPr marL="0" indent="0" algn="r">
              <a:buNone/>
            </a:pPr>
            <a:r>
              <a:rPr lang="en-US" sz="1600" b="1" dirty="0">
                <a:solidFill>
                  <a:srgbClr val="6B7280"/>
                </a:solidFill>
              </a:rPr>
              <a:t>10,124</a:t>
            </a:r>
            <a:endParaRPr lang="en-US" sz="1600" dirty="0"/>
          </a:p>
        </p:txBody>
      </p:sp>
      <p:sp>
        <p:nvSpPr>
          <p:cNvPr id="24" name="Text 21"/>
          <p:cNvSpPr/>
          <p:nvPr/>
        </p:nvSpPr>
        <p:spPr>
          <a:xfrm>
            <a:off x="7498080" y="4279392"/>
            <a:ext cx="1280160" cy="320040"/>
          </a:xfrm>
          <a:prstGeom prst="rect">
            <a:avLst/>
          </a:prstGeom>
          <a:noFill/>
          <a:ln/>
        </p:spPr>
        <p:txBody>
          <a:bodyPr wrap="square" rtlCol="0" anchor="ctr"/>
          <a:lstStyle/>
          <a:p>
            <a:pPr marL="0" indent="0" algn="r">
              <a:buNone/>
            </a:pPr>
            <a:r>
              <a:rPr lang="en-US" sz="1100" dirty="0">
                <a:solidFill>
                  <a:srgbClr val="6B7280"/>
                </a:solidFill>
              </a:rPr>
              <a:t>9.8%</a:t>
            </a:r>
            <a:endParaRPr lang="en-US" sz="1100" dirty="0"/>
          </a:p>
        </p:txBody>
      </p:sp>
      <p:sp>
        <p:nvSpPr>
          <p:cNvPr id="26" name="TextBox 25">
            <a:extLst>
              <a:ext uri="{FF2B5EF4-FFF2-40B4-BE49-F238E27FC236}">
                <a16:creationId xmlns:a16="http://schemas.microsoft.com/office/drawing/2014/main" id="{9048C73E-FE1E-F38F-27AE-F5E825C3F3BF}"/>
              </a:ext>
            </a:extLst>
          </p:cNvPr>
          <p:cNvSpPr txBox="1"/>
          <p:nvPr/>
        </p:nvSpPr>
        <p:spPr>
          <a:xfrm>
            <a:off x="81116" y="759542"/>
            <a:ext cx="5222404" cy="1384995"/>
          </a:xfrm>
          <a:prstGeom prst="rect">
            <a:avLst/>
          </a:prstGeom>
          <a:noFill/>
        </p:spPr>
        <p:txBody>
          <a:bodyPr wrap="square" rtlCol="0">
            <a:spAutoFit/>
          </a:bodyPr>
          <a:lstStyle/>
          <a:p>
            <a:r>
              <a:rPr lang="en-US" sz="1400" dirty="0"/>
              <a:t>This slide explains the </a:t>
            </a:r>
            <a:r>
              <a:rPr lang="en-US" sz="1400" b="1" dirty="0"/>
              <a:t>booking status performance</a:t>
            </a:r>
            <a:r>
              <a:rPr lang="en-US" sz="1400" dirty="0"/>
              <a:t> of Odisha Yatri rides. The pie chart shows that </a:t>
            </a:r>
            <a:r>
              <a:rPr lang="en-US" sz="1400" b="1" dirty="0"/>
              <a:t>62.1% bookings were successful</a:t>
            </a:r>
            <a:r>
              <a:rPr lang="en-US" sz="1400" dirty="0"/>
              <a:t>, which means most customers completed their rides. But the dashboard also shows important problems: </a:t>
            </a:r>
            <a:r>
              <a:rPr lang="en-US" sz="1400" b="1" dirty="0"/>
              <a:t>17.9% rides were cancelled by drivers</a:t>
            </a:r>
            <a:r>
              <a:rPr lang="en-US" sz="1400" dirty="0"/>
              <a:t>, </a:t>
            </a:r>
            <a:r>
              <a:rPr lang="en-US" sz="1400" b="1" dirty="0"/>
              <a:t>10.2% were cancelled by customers</a:t>
            </a:r>
            <a:r>
              <a:rPr lang="en-US" sz="1400" dirty="0"/>
              <a:t>, and </a:t>
            </a:r>
            <a:r>
              <a:rPr lang="en-US" sz="1400" b="1" dirty="0"/>
              <a:t>9.8% failed because drivers were not found</a:t>
            </a:r>
            <a:r>
              <a:rPr lang="en-US" sz="1400" dirty="0"/>
              <a:t>.</a:t>
            </a:r>
            <a:endParaRPr lang="en-IN" sz="1400" dirty="0"/>
          </a:p>
        </p:txBody>
      </p:sp>
      <p:sp>
        <p:nvSpPr>
          <p:cNvPr id="29" name="TextBox 28">
            <a:extLst>
              <a:ext uri="{FF2B5EF4-FFF2-40B4-BE49-F238E27FC236}">
                <a16:creationId xmlns:a16="http://schemas.microsoft.com/office/drawing/2014/main" id="{CFA49861-BC1D-2CD7-DB7D-ADF9976A8485}"/>
              </a:ext>
            </a:extLst>
          </p:cNvPr>
          <p:cNvSpPr txBox="1"/>
          <p:nvPr/>
        </p:nvSpPr>
        <p:spPr>
          <a:xfrm>
            <a:off x="162233" y="2199132"/>
            <a:ext cx="1959176" cy="2893100"/>
          </a:xfrm>
          <a:prstGeom prst="rect">
            <a:avLst/>
          </a:prstGeom>
          <a:noFill/>
        </p:spPr>
        <p:txBody>
          <a:bodyPr wrap="square" rtlCol="0">
            <a:spAutoFit/>
          </a:bodyPr>
          <a:lstStyle/>
          <a:p>
            <a:r>
              <a:rPr lang="en-US" sz="1400" dirty="0"/>
              <a:t>This analysis helps us understand where the service is strong and where improvement is needed. Driver cancellations and driver unavailability are major issues, so the company should improve driver allocation, availability, and response time to increase successful bookings.</a:t>
            </a:r>
            <a:endParaRPr lang="en-IN"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A1A"/>
          </a:solidFill>
          <a:ln/>
        </p:spPr>
      </p:sp>
      <p:sp>
        <p:nvSpPr>
          <p:cNvPr id="3" name="Text 1"/>
          <p:cNvSpPr/>
          <p:nvPr/>
        </p:nvSpPr>
        <p:spPr>
          <a:xfrm>
            <a:off x="365760" y="0"/>
            <a:ext cx="8229600" cy="594360"/>
          </a:xfrm>
          <a:prstGeom prst="rect">
            <a:avLst/>
          </a:prstGeom>
          <a:noFill/>
          <a:ln/>
        </p:spPr>
        <p:txBody>
          <a:bodyPr wrap="square" rtlCol="0" anchor="ctr"/>
          <a:lstStyle/>
          <a:p>
            <a:pPr marL="0" indent="0">
              <a:buNone/>
            </a:pPr>
            <a:r>
              <a:rPr lang="en-US" sz="1300" b="1" dirty="0">
                <a:solidFill>
                  <a:srgbClr val="F5C518"/>
                </a:solidFill>
              </a:rPr>
              <a:t>📊  POWER BI — REVENUE ANALYSIS</a:t>
            </a:r>
            <a:endParaRPr lang="en-US" sz="1300" dirty="0"/>
          </a:p>
        </p:txBody>
      </p:sp>
      <p:graphicFrame>
        <p:nvGraphicFramePr>
          <p:cNvPr id="4" name="Chart 0"/>
          <p:cNvGraphicFramePr/>
          <p:nvPr>
            <p:extLst>
              <p:ext uri="{D42A27DB-BD31-4B8C-83A1-F6EECF244321}">
                <p14:modId xmlns:p14="http://schemas.microsoft.com/office/powerpoint/2010/main" val="4085318283"/>
              </p:ext>
            </p:extLst>
          </p:nvPr>
        </p:nvGraphicFramePr>
        <p:xfrm>
          <a:off x="274320" y="777240"/>
          <a:ext cx="530352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760720" y="777240"/>
            <a:ext cx="3108960" cy="320040"/>
          </a:xfrm>
          <a:prstGeom prst="rect">
            <a:avLst/>
          </a:prstGeom>
          <a:noFill/>
          <a:ln/>
        </p:spPr>
        <p:txBody>
          <a:bodyPr wrap="square" rtlCol="0" anchor="ctr"/>
          <a:lstStyle/>
          <a:p>
            <a:pPr marL="0" indent="0">
              <a:buNone/>
            </a:pPr>
            <a:r>
              <a:rPr lang="en-US" sz="1200" b="1" dirty="0">
                <a:solidFill>
                  <a:srgbClr val="1A1A1A"/>
                </a:solidFill>
              </a:rPr>
              <a:t>Top 5 Customers by Revenue</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421359139"/>
              </p:ext>
            </p:extLst>
          </p:nvPr>
        </p:nvGraphicFramePr>
        <p:xfrm>
          <a:off x="5760720" y="1188720"/>
          <a:ext cx="3108960" cy="1495485"/>
        </p:xfrm>
        <a:graphic>
          <a:graphicData uri="http://schemas.openxmlformats.org/drawingml/2006/table">
            <a:tbl>
              <a:tblPr/>
              <a:tblGrid>
                <a:gridCol w="18288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299097">
                <a:tc>
                  <a:txBody>
                    <a:bodyPr/>
                    <a:lstStyle/>
                    <a:p>
                      <a:pPr marL="0" indent="0">
                        <a:buNone/>
                      </a:pPr>
                      <a:r>
                        <a:rPr lang="en-US" sz="1000" b="1" dirty="0">
                          <a:solidFill>
                            <a:srgbClr val="FFFFFF"/>
                          </a:solidFill>
                        </a:rPr>
                        <a:t>Customer</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1A1A"/>
                    </a:solidFill>
                  </a:tcPr>
                </a:tc>
                <a:tc>
                  <a:txBody>
                    <a:bodyPr/>
                    <a:lstStyle/>
                    <a:p>
                      <a:pPr marL="0" indent="0">
                        <a:buNone/>
                      </a:pPr>
                      <a:r>
                        <a:rPr lang="en-US" sz="1000" b="1" dirty="0">
                          <a:solidFill>
                            <a:srgbClr val="FFFFFF"/>
                          </a:solidFill>
                        </a:rPr>
                        <a:t>Revenue</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299097">
                <a:tc>
                  <a:txBody>
                    <a:bodyPr/>
                    <a:lstStyle/>
                    <a:p>
                      <a:pPr marL="0" indent="0">
                        <a:buNone/>
                      </a:pPr>
                      <a:r>
                        <a:rPr lang="en-US" sz="1000" dirty="0">
                          <a:solidFill>
                            <a:srgbClr val="000000"/>
                          </a:solidFill>
                        </a:rPr>
                        <a:t>CID785112</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₹8,025</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9097">
                <a:tc>
                  <a:txBody>
                    <a:bodyPr/>
                    <a:lstStyle/>
                    <a:p>
                      <a:pPr marL="0" indent="0">
                        <a:buNone/>
                      </a:pPr>
                      <a:r>
                        <a:rPr lang="en-US" sz="1000" dirty="0">
                          <a:solidFill>
                            <a:srgbClr val="000000"/>
                          </a:solidFill>
                        </a:rPr>
                        <a:t>CID308763</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₹6,281</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9097">
                <a:tc>
                  <a:txBody>
                    <a:bodyPr/>
                    <a:lstStyle/>
                    <a:p>
                      <a:pPr marL="0" indent="0">
                        <a:buNone/>
                      </a:pPr>
                      <a:r>
                        <a:rPr lang="en-US" sz="1000" dirty="0">
                          <a:solidFill>
                            <a:srgbClr val="000000"/>
                          </a:solidFill>
                        </a:rPr>
                        <a:t>CID734557</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₹6,177</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9097">
                <a:tc>
                  <a:txBody>
                    <a:bodyPr/>
                    <a:lstStyle/>
                    <a:p>
                      <a:pPr marL="0" indent="0">
                        <a:buNone/>
                      </a:pPr>
                      <a:r>
                        <a:rPr lang="en-US" sz="1000" dirty="0">
                          <a:solidFill>
                            <a:srgbClr val="000000"/>
                          </a:solidFill>
                        </a:rPr>
                        <a:t>CID353074</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₹6,110</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3"/>
          <p:cNvSpPr/>
          <p:nvPr/>
        </p:nvSpPr>
        <p:spPr>
          <a:xfrm>
            <a:off x="274320" y="2926080"/>
            <a:ext cx="201168" cy="365760"/>
          </a:xfrm>
          <a:prstGeom prst="rect">
            <a:avLst/>
          </a:prstGeom>
          <a:solidFill>
            <a:srgbClr val="F5C518"/>
          </a:solidFill>
          <a:ln/>
        </p:spPr>
      </p:sp>
      <p:sp>
        <p:nvSpPr>
          <p:cNvPr id="8" name="Text 4"/>
          <p:cNvSpPr/>
          <p:nvPr/>
        </p:nvSpPr>
        <p:spPr>
          <a:xfrm>
            <a:off x="594360" y="2926080"/>
            <a:ext cx="2286000" cy="365760"/>
          </a:xfrm>
          <a:prstGeom prst="rect">
            <a:avLst/>
          </a:prstGeom>
          <a:noFill/>
          <a:ln/>
        </p:spPr>
        <p:txBody>
          <a:bodyPr wrap="square" rtlCol="0" anchor="ctr"/>
          <a:lstStyle/>
          <a:p>
            <a:pPr marL="0" indent="0">
              <a:buNone/>
            </a:pPr>
            <a:r>
              <a:rPr lang="en-US" sz="1100" dirty="0">
                <a:solidFill>
                  <a:srgbClr val="2D2D2D"/>
                </a:solidFill>
              </a:rPr>
              <a:t>Cash</a:t>
            </a:r>
            <a:endParaRPr lang="en-US" sz="1100" dirty="0"/>
          </a:p>
        </p:txBody>
      </p:sp>
      <p:sp>
        <p:nvSpPr>
          <p:cNvPr id="9" name="Text 5"/>
          <p:cNvSpPr/>
          <p:nvPr/>
        </p:nvSpPr>
        <p:spPr>
          <a:xfrm>
            <a:off x="3200400" y="2926080"/>
            <a:ext cx="1097280" cy="365760"/>
          </a:xfrm>
          <a:prstGeom prst="rect">
            <a:avLst/>
          </a:prstGeom>
          <a:noFill/>
          <a:ln/>
        </p:spPr>
        <p:txBody>
          <a:bodyPr wrap="square" rtlCol="0" anchor="ctr"/>
          <a:lstStyle/>
          <a:p>
            <a:pPr marL="0" indent="0">
              <a:buNone/>
            </a:pPr>
            <a:r>
              <a:rPr lang="en-US" sz="1100" b="1" dirty="0">
                <a:solidFill>
                  <a:srgbClr val="1A1A1A"/>
                </a:solidFill>
              </a:rPr>
              <a:t>₹17.5M</a:t>
            </a:r>
            <a:endParaRPr lang="en-US" sz="1100" dirty="0"/>
          </a:p>
        </p:txBody>
      </p:sp>
      <p:sp>
        <p:nvSpPr>
          <p:cNvPr id="10" name="Text 6"/>
          <p:cNvSpPr/>
          <p:nvPr/>
        </p:nvSpPr>
        <p:spPr>
          <a:xfrm>
            <a:off x="4389120" y="2926080"/>
            <a:ext cx="914400" cy="365760"/>
          </a:xfrm>
          <a:prstGeom prst="rect">
            <a:avLst/>
          </a:prstGeom>
          <a:noFill/>
          <a:ln/>
        </p:spPr>
        <p:txBody>
          <a:bodyPr wrap="square" rtlCol="0" anchor="ctr"/>
          <a:lstStyle/>
          <a:p>
            <a:pPr marL="0" indent="0">
              <a:buNone/>
            </a:pPr>
            <a:r>
              <a:rPr lang="en-US" sz="1000" dirty="0">
                <a:solidFill>
                  <a:srgbClr val="6B7280"/>
                </a:solidFill>
              </a:rPr>
              <a:t>49.9%</a:t>
            </a:r>
            <a:endParaRPr lang="en-US" sz="1000" dirty="0"/>
          </a:p>
        </p:txBody>
      </p:sp>
      <p:sp>
        <p:nvSpPr>
          <p:cNvPr id="11" name="Shape 7"/>
          <p:cNvSpPr/>
          <p:nvPr/>
        </p:nvSpPr>
        <p:spPr>
          <a:xfrm>
            <a:off x="274320" y="3429000"/>
            <a:ext cx="201168" cy="365760"/>
          </a:xfrm>
          <a:prstGeom prst="rect">
            <a:avLst/>
          </a:prstGeom>
          <a:solidFill>
            <a:srgbClr val="3B82F6"/>
          </a:solidFill>
          <a:ln/>
        </p:spPr>
      </p:sp>
      <p:sp>
        <p:nvSpPr>
          <p:cNvPr id="12" name="Text 8"/>
          <p:cNvSpPr/>
          <p:nvPr/>
        </p:nvSpPr>
        <p:spPr>
          <a:xfrm>
            <a:off x="594360" y="3429000"/>
            <a:ext cx="2286000" cy="365760"/>
          </a:xfrm>
          <a:prstGeom prst="rect">
            <a:avLst/>
          </a:prstGeom>
          <a:noFill/>
          <a:ln/>
        </p:spPr>
        <p:txBody>
          <a:bodyPr wrap="square" rtlCol="0" anchor="ctr"/>
          <a:lstStyle/>
          <a:p>
            <a:pPr marL="0" indent="0">
              <a:buNone/>
            </a:pPr>
            <a:r>
              <a:rPr lang="en-US" sz="1100" dirty="0">
                <a:solidFill>
                  <a:srgbClr val="2D2D2D"/>
                </a:solidFill>
              </a:rPr>
              <a:t>UPI</a:t>
            </a:r>
            <a:endParaRPr lang="en-US" sz="1100" dirty="0"/>
          </a:p>
        </p:txBody>
      </p:sp>
      <p:sp>
        <p:nvSpPr>
          <p:cNvPr id="13" name="Text 9"/>
          <p:cNvSpPr/>
          <p:nvPr/>
        </p:nvSpPr>
        <p:spPr>
          <a:xfrm>
            <a:off x="3200400" y="3429000"/>
            <a:ext cx="1097280" cy="365760"/>
          </a:xfrm>
          <a:prstGeom prst="rect">
            <a:avLst/>
          </a:prstGeom>
          <a:noFill/>
          <a:ln/>
        </p:spPr>
        <p:txBody>
          <a:bodyPr wrap="square" rtlCol="0" anchor="ctr"/>
          <a:lstStyle/>
          <a:p>
            <a:pPr marL="0" indent="0">
              <a:buNone/>
            </a:pPr>
            <a:r>
              <a:rPr lang="en-US" sz="1100" b="1" dirty="0">
                <a:solidFill>
                  <a:srgbClr val="1A1A1A"/>
                </a:solidFill>
              </a:rPr>
              <a:t>₹12.0M</a:t>
            </a:r>
            <a:endParaRPr lang="en-US" sz="1100" dirty="0"/>
          </a:p>
        </p:txBody>
      </p:sp>
      <p:sp>
        <p:nvSpPr>
          <p:cNvPr id="6" name="Text 10"/>
          <p:cNvSpPr/>
          <p:nvPr/>
        </p:nvSpPr>
        <p:spPr>
          <a:xfrm>
            <a:off x="4389120" y="3429000"/>
            <a:ext cx="914400" cy="365760"/>
          </a:xfrm>
          <a:prstGeom prst="rect">
            <a:avLst/>
          </a:prstGeom>
          <a:noFill/>
          <a:ln/>
        </p:spPr>
        <p:txBody>
          <a:bodyPr wrap="square" rtlCol="0" anchor="ctr"/>
          <a:lstStyle/>
          <a:p>
            <a:pPr marL="0" indent="0">
              <a:buNone/>
            </a:pPr>
            <a:r>
              <a:rPr lang="en-US" sz="1000" dirty="0">
                <a:solidFill>
                  <a:srgbClr val="6B7280"/>
                </a:solidFill>
              </a:rPr>
              <a:t>34.2%</a:t>
            </a:r>
            <a:endParaRPr lang="en-US" sz="1000" dirty="0"/>
          </a:p>
        </p:txBody>
      </p:sp>
      <p:sp>
        <p:nvSpPr>
          <p:cNvPr id="15" name="Shape 11"/>
          <p:cNvSpPr/>
          <p:nvPr/>
        </p:nvSpPr>
        <p:spPr>
          <a:xfrm>
            <a:off x="274320" y="3931920"/>
            <a:ext cx="201168" cy="365760"/>
          </a:xfrm>
          <a:prstGeom prst="rect">
            <a:avLst/>
          </a:prstGeom>
          <a:solidFill>
            <a:srgbClr val="10B981"/>
          </a:solidFill>
          <a:ln/>
        </p:spPr>
      </p:sp>
      <p:sp>
        <p:nvSpPr>
          <p:cNvPr id="16" name="Text 12"/>
          <p:cNvSpPr/>
          <p:nvPr/>
        </p:nvSpPr>
        <p:spPr>
          <a:xfrm>
            <a:off x="594360" y="3931920"/>
            <a:ext cx="2286000" cy="365760"/>
          </a:xfrm>
          <a:prstGeom prst="rect">
            <a:avLst/>
          </a:prstGeom>
          <a:noFill/>
          <a:ln/>
        </p:spPr>
        <p:txBody>
          <a:bodyPr wrap="square" rtlCol="0" anchor="ctr"/>
          <a:lstStyle/>
          <a:p>
            <a:pPr marL="0" indent="0">
              <a:buNone/>
            </a:pPr>
            <a:r>
              <a:rPr lang="en-US" sz="1100" dirty="0">
                <a:solidFill>
                  <a:srgbClr val="2D2D2D"/>
                </a:solidFill>
              </a:rPr>
              <a:t>Credit Card</a:t>
            </a:r>
            <a:endParaRPr lang="en-US" sz="1100" dirty="0"/>
          </a:p>
        </p:txBody>
      </p:sp>
      <p:sp>
        <p:nvSpPr>
          <p:cNvPr id="17" name="Text 13"/>
          <p:cNvSpPr/>
          <p:nvPr/>
        </p:nvSpPr>
        <p:spPr>
          <a:xfrm>
            <a:off x="3200400" y="3931920"/>
            <a:ext cx="1097280" cy="365760"/>
          </a:xfrm>
          <a:prstGeom prst="rect">
            <a:avLst/>
          </a:prstGeom>
          <a:noFill/>
          <a:ln/>
        </p:spPr>
        <p:txBody>
          <a:bodyPr wrap="square" rtlCol="0" anchor="ctr"/>
          <a:lstStyle/>
          <a:p>
            <a:pPr marL="0" indent="0">
              <a:buNone/>
            </a:pPr>
            <a:r>
              <a:rPr lang="en-US" sz="1100" b="1" dirty="0">
                <a:solidFill>
                  <a:srgbClr val="1A1A1A"/>
                </a:solidFill>
              </a:rPr>
              <a:t>₹3.5M</a:t>
            </a:r>
            <a:endParaRPr lang="en-US" sz="1100" dirty="0"/>
          </a:p>
        </p:txBody>
      </p:sp>
      <p:sp>
        <p:nvSpPr>
          <p:cNvPr id="18" name="Text 14"/>
          <p:cNvSpPr/>
          <p:nvPr/>
        </p:nvSpPr>
        <p:spPr>
          <a:xfrm>
            <a:off x="4389120" y="3931920"/>
            <a:ext cx="914400" cy="365760"/>
          </a:xfrm>
          <a:prstGeom prst="rect">
            <a:avLst/>
          </a:prstGeom>
          <a:noFill/>
          <a:ln/>
        </p:spPr>
        <p:txBody>
          <a:bodyPr wrap="square" rtlCol="0" anchor="ctr"/>
          <a:lstStyle/>
          <a:p>
            <a:pPr marL="0" indent="0">
              <a:buNone/>
            </a:pPr>
            <a:r>
              <a:rPr lang="en-US" sz="1000" dirty="0">
                <a:solidFill>
                  <a:srgbClr val="6B7280"/>
                </a:solidFill>
              </a:rPr>
              <a:t>10.0%</a:t>
            </a:r>
            <a:endParaRPr lang="en-US" sz="1000" dirty="0"/>
          </a:p>
        </p:txBody>
      </p:sp>
      <p:sp>
        <p:nvSpPr>
          <p:cNvPr id="19" name="Shape 15"/>
          <p:cNvSpPr/>
          <p:nvPr/>
        </p:nvSpPr>
        <p:spPr>
          <a:xfrm>
            <a:off x="274320" y="4434840"/>
            <a:ext cx="201168" cy="365760"/>
          </a:xfrm>
          <a:prstGeom prst="rect">
            <a:avLst/>
          </a:prstGeom>
          <a:solidFill>
            <a:srgbClr val="6B7280"/>
          </a:solidFill>
          <a:ln/>
        </p:spPr>
      </p:sp>
      <p:sp>
        <p:nvSpPr>
          <p:cNvPr id="20" name="Text 16"/>
          <p:cNvSpPr/>
          <p:nvPr/>
        </p:nvSpPr>
        <p:spPr>
          <a:xfrm>
            <a:off x="594360" y="4434840"/>
            <a:ext cx="2286000" cy="365760"/>
          </a:xfrm>
          <a:prstGeom prst="rect">
            <a:avLst/>
          </a:prstGeom>
          <a:noFill/>
          <a:ln/>
        </p:spPr>
        <p:txBody>
          <a:bodyPr wrap="square" rtlCol="0" anchor="ctr"/>
          <a:lstStyle/>
          <a:p>
            <a:pPr marL="0" indent="0">
              <a:buNone/>
            </a:pPr>
            <a:r>
              <a:rPr lang="en-US" sz="1100" dirty="0">
                <a:solidFill>
                  <a:srgbClr val="2D2D2D"/>
                </a:solidFill>
              </a:rPr>
              <a:t>Debit Card</a:t>
            </a:r>
            <a:endParaRPr lang="en-US" sz="1100" dirty="0"/>
          </a:p>
        </p:txBody>
      </p:sp>
      <p:sp>
        <p:nvSpPr>
          <p:cNvPr id="21" name="Text 17"/>
          <p:cNvSpPr/>
          <p:nvPr/>
        </p:nvSpPr>
        <p:spPr>
          <a:xfrm>
            <a:off x="3200400" y="4434840"/>
            <a:ext cx="1097280" cy="365760"/>
          </a:xfrm>
          <a:prstGeom prst="rect">
            <a:avLst/>
          </a:prstGeom>
          <a:noFill/>
          <a:ln/>
        </p:spPr>
        <p:txBody>
          <a:bodyPr wrap="square" rtlCol="0" anchor="ctr"/>
          <a:lstStyle/>
          <a:p>
            <a:pPr marL="0" indent="0">
              <a:buNone/>
            </a:pPr>
            <a:r>
              <a:rPr lang="en-US" sz="1100" b="1" dirty="0">
                <a:solidFill>
                  <a:srgbClr val="1A1A1A"/>
                </a:solidFill>
              </a:rPr>
              <a:t>₹2.1M</a:t>
            </a:r>
            <a:endParaRPr lang="en-US" sz="1100" dirty="0"/>
          </a:p>
        </p:txBody>
      </p:sp>
      <p:sp>
        <p:nvSpPr>
          <p:cNvPr id="22" name="Text 18"/>
          <p:cNvSpPr/>
          <p:nvPr/>
        </p:nvSpPr>
        <p:spPr>
          <a:xfrm>
            <a:off x="4389120" y="4434840"/>
            <a:ext cx="914400" cy="365760"/>
          </a:xfrm>
          <a:prstGeom prst="rect">
            <a:avLst/>
          </a:prstGeom>
          <a:noFill/>
          <a:ln/>
        </p:spPr>
        <p:txBody>
          <a:bodyPr wrap="square" rtlCol="0" anchor="ctr"/>
          <a:lstStyle/>
          <a:p>
            <a:pPr marL="0" indent="0">
              <a:buNone/>
            </a:pPr>
            <a:r>
              <a:rPr lang="en-US" sz="1000" dirty="0">
                <a:solidFill>
                  <a:srgbClr val="6B7280"/>
                </a:solidFill>
              </a:rPr>
              <a:t>6.0%</a:t>
            </a:r>
            <a:endParaRPr lang="en-US" sz="1000" dirty="0"/>
          </a:p>
        </p:txBody>
      </p:sp>
      <p:graphicFrame>
        <p:nvGraphicFramePr>
          <p:cNvPr id="23" name="Chart 1"/>
          <p:cNvGraphicFramePr/>
          <p:nvPr>
            <p:extLst>
              <p:ext uri="{D42A27DB-BD31-4B8C-83A1-F6EECF244321}">
                <p14:modId xmlns:p14="http://schemas.microsoft.com/office/powerpoint/2010/main" val="4005817692"/>
              </p:ext>
            </p:extLst>
          </p:nvPr>
        </p:nvGraphicFramePr>
        <p:xfrm>
          <a:off x="172556" y="3639312"/>
          <a:ext cx="5303520" cy="1280160"/>
        </p:xfrm>
        <a:graphic>
          <a:graphicData uri="http://schemas.openxmlformats.org/drawingml/2006/chart">
            <c:chart xmlns:c="http://schemas.openxmlformats.org/drawingml/2006/chart" xmlns:r="http://schemas.openxmlformats.org/officeDocument/2006/relationships" r:id="rId4"/>
          </a:graphicData>
        </a:graphic>
      </p:graphicFrame>
      <p:sp>
        <p:nvSpPr>
          <p:cNvPr id="24" name="TextBox 23">
            <a:extLst>
              <a:ext uri="{FF2B5EF4-FFF2-40B4-BE49-F238E27FC236}">
                <a16:creationId xmlns:a16="http://schemas.microsoft.com/office/drawing/2014/main" id="{99565AFC-0F86-7F8B-CB67-B52F39F05061}"/>
              </a:ext>
            </a:extLst>
          </p:cNvPr>
          <p:cNvSpPr txBox="1"/>
          <p:nvPr/>
        </p:nvSpPr>
        <p:spPr>
          <a:xfrm>
            <a:off x="5679604" y="2713813"/>
            <a:ext cx="3228422" cy="2123658"/>
          </a:xfrm>
          <a:prstGeom prst="rect">
            <a:avLst/>
          </a:prstGeom>
          <a:noFill/>
        </p:spPr>
        <p:txBody>
          <a:bodyPr wrap="square" rtlCol="0">
            <a:spAutoFit/>
          </a:bodyPr>
          <a:lstStyle/>
          <a:p>
            <a:r>
              <a:rPr lang="en-US" sz="1200" dirty="0">
                <a:solidFill>
                  <a:schemeClr val="bg2">
                    <a:lumMod val="10000"/>
                  </a:schemeClr>
                </a:solidFill>
              </a:rPr>
              <a:t>This slide presents the revenue analysis using Power BI, showing revenue distribution across different payment methods and identifying top customers by contribution. Cash generates the highest revenue, followed by UPI, while card payments contribute less. The ride distance trend also indicates consistent travel patterns over time, helping understand customer behavior, payment preferences, and overall business performance for better strategic decisions.</a:t>
            </a:r>
            <a:endParaRPr lang="en-IN" sz="1200" dirty="0">
              <a:solidFill>
                <a:schemeClr val="bg2">
                  <a:lumMod val="1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A1A"/>
          </a:solidFill>
          <a:ln/>
        </p:spPr>
      </p:sp>
      <p:sp>
        <p:nvSpPr>
          <p:cNvPr id="3" name="Text 1"/>
          <p:cNvSpPr/>
          <p:nvPr/>
        </p:nvSpPr>
        <p:spPr>
          <a:xfrm>
            <a:off x="365760" y="0"/>
            <a:ext cx="8229600" cy="594360"/>
          </a:xfrm>
          <a:prstGeom prst="rect">
            <a:avLst/>
          </a:prstGeom>
          <a:noFill/>
          <a:ln/>
        </p:spPr>
        <p:txBody>
          <a:bodyPr wrap="square" rtlCol="0" anchor="ctr"/>
          <a:lstStyle/>
          <a:p>
            <a:pPr marL="0" indent="0">
              <a:buNone/>
            </a:pPr>
            <a:r>
              <a:rPr lang="en-US" sz="1300" b="1" dirty="0">
                <a:solidFill>
                  <a:srgbClr val="F5C518"/>
                </a:solidFill>
              </a:rPr>
              <a:t>📊  POWER BI — VEHICLE TYPE PERFORMANCE</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3200400"/>
        </p:xfrm>
        <a:graphic>
          <a:graphicData uri="http://schemas.openxmlformats.org/drawingml/2006/table">
            <a:tbl>
              <a:tblPr/>
              <a:tblGrid>
                <a:gridCol w="14630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00050">
                <a:tc>
                  <a:txBody>
                    <a:bodyPr/>
                    <a:lstStyle/>
                    <a:p>
                      <a:pPr marL="0" indent="0">
                        <a:buNone/>
                      </a:pPr>
                      <a:r>
                        <a:rPr lang="en-US" sz="1100" b="1" dirty="0">
                          <a:solidFill>
                            <a:srgbClr val="FFFFFF"/>
                          </a:solidFill>
                        </a:rPr>
                        <a:t>Vehicle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1A1A"/>
                    </a:solidFill>
                  </a:tcPr>
                </a:tc>
                <a:tc>
                  <a:txBody>
                    <a:bodyPr/>
                    <a:lstStyle/>
                    <a:p>
                      <a:pPr marL="0" indent="0">
                        <a:buNone/>
                      </a:pPr>
                      <a:r>
                        <a:rPr lang="en-US" sz="1100" b="1" dirty="0">
                          <a:solidFill>
                            <a:srgbClr val="FFFFFF"/>
                          </a:solidFill>
                        </a:rPr>
                        <a:t>Total Booking ₹</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1A1A"/>
                    </a:solidFill>
                  </a:tcPr>
                </a:tc>
                <a:tc>
                  <a:txBody>
                    <a:bodyPr/>
                    <a:lstStyle/>
                    <a:p>
                      <a:pPr marL="0" indent="0">
                        <a:buNone/>
                      </a:pPr>
                      <a:r>
                        <a:rPr lang="en-US" sz="1100" b="1" dirty="0">
                          <a:solidFill>
                            <a:srgbClr val="FFFFFF"/>
                          </a:solidFill>
                        </a:rPr>
                        <a:t>Success Booking ₹</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1A1A"/>
                    </a:solidFill>
                  </a:tcPr>
                </a:tc>
                <a:tc>
                  <a:txBody>
                    <a:bodyPr/>
                    <a:lstStyle/>
                    <a:p>
                      <a:pPr marL="0" indent="0">
                        <a:buNone/>
                      </a:pPr>
                      <a:r>
                        <a:rPr lang="en-US" sz="1100" b="1" dirty="0">
                          <a:solidFill>
                            <a:srgbClr val="FFFFFF"/>
                          </a:solidFill>
                        </a:rPr>
                        <a:t>Avg Distance (km)</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1A1A"/>
                    </a:solidFill>
                  </a:tcPr>
                </a:tc>
                <a:tc>
                  <a:txBody>
                    <a:bodyPr/>
                    <a:lstStyle/>
                    <a:p>
                      <a:pPr marL="0" indent="0">
                        <a:buNone/>
                      </a:pPr>
                      <a:r>
                        <a:rPr lang="en-US" sz="1100" b="1" dirty="0">
                          <a:solidFill>
                            <a:srgbClr val="FFFFFF"/>
                          </a:solidFill>
                        </a:rPr>
                        <a:t>Total Distance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400050">
                <a:tc>
                  <a:txBody>
                    <a:bodyPr/>
                    <a:lstStyle/>
                    <a:p>
                      <a:pPr marL="0" indent="0">
                        <a:buNone/>
                      </a:pPr>
                      <a:r>
                        <a:rPr lang="en-US" sz="1100" dirty="0">
                          <a:solidFill>
                            <a:srgbClr val="000000"/>
                          </a:solidFill>
                        </a:rPr>
                        <a:t>Prime Sedan</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252.69K</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155.20K</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24.96</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7,314</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0050">
                <a:tc>
                  <a:txBody>
                    <a:bodyPr/>
                    <a:lstStyle/>
                    <a:p>
                      <a:pPr marL="0" indent="0">
                        <a:buNone/>
                      </a:pPr>
                      <a:r>
                        <a:rPr lang="en-US" sz="1100" dirty="0">
                          <a:solidFill>
                            <a:srgbClr val="000000"/>
                          </a:solidFill>
                        </a:rPr>
                        <a:t>Prime SUV</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264.00K</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146.67K</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25.25</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6,818</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0050">
                <a:tc>
                  <a:txBody>
                    <a:bodyPr/>
                    <a:lstStyle/>
                    <a:p>
                      <a:pPr marL="0" indent="0">
                        <a:buNone/>
                      </a:pPr>
                      <a:r>
                        <a:rPr lang="en-US" sz="1100" dirty="0">
                          <a:solidFill>
                            <a:srgbClr val="000000"/>
                          </a:solidFill>
                        </a:rPr>
                        <a:t>Prime Plus</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271.48K</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167.57K</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24.38</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7,241</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0050">
                <a:tc>
                  <a:txBody>
                    <a:bodyPr/>
                    <a:lstStyle/>
                    <a:p>
                      <a:pPr marL="0" indent="0">
                        <a:buNone/>
                      </a:pPr>
                      <a:r>
                        <a:rPr lang="en-US" sz="1100" dirty="0">
                          <a:solidFill>
                            <a:srgbClr val="000000"/>
                          </a:solidFill>
                        </a:rPr>
                        <a:t>Mini</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250.06K</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152.57K</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23.95</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6,586</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0050">
                <a:tc>
                  <a:txBody>
                    <a:bodyPr/>
                    <a:lstStyle/>
                    <a:p>
                      <a:pPr marL="0" indent="0">
                        <a:buNone/>
                      </a:pPr>
                      <a:r>
                        <a:rPr lang="en-US" sz="1100" dirty="0">
                          <a:solidFill>
                            <a:srgbClr val="000000"/>
                          </a:solidFill>
                        </a:rPr>
                        <a:t>Auto</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250.06K</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154.37K</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10.27</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2,732</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0050">
                <a:tc>
                  <a:txBody>
                    <a:bodyPr/>
                    <a:lstStyle/>
                    <a:p>
                      <a:pPr marL="0" indent="0">
                        <a:buNone/>
                      </a:pPr>
                      <a:r>
                        <a:rPr lang="en-US" sz="1100" dirty="0">
                          <a:solidFill>
                            <a:srgbClr val="000000"/>
                          </a:solidFill>
                        </a:rPr>
                        <a:t>Bike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280.13K</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154.37K</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23.85</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7,774</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0050">
                <a:tc>
                  <a:txBody>
                    <a:bodyPr/>
                    <a:lstStyle/>
                    <a:p>
                      <a:pPr marL="0" indent="0">
                        <a:buNone/>
                      </a:pPr>
                      <a:r>
                        <a:rPr lang="en-US" sz="1100" dirty="0">
                          <a:solidFill>
                            <a:srgbClr val="000000"/>
                          </a:solidFill>
                        </a:rPr>
                        <a:t>E-Bike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290.03K</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173.26K</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25.40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8,154</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274320" y="4114800"/>
            <a:ext cx="4114800" cy="777240"/>
          </a:xfrm>
          <a:prstGeom prst="rect">
            <a:avLst/>
          </a:prstGeom>
          <a:solidFill>
            <a:srgbClr val="F5C518"/>
          </a:solidFill>
          <a:ln/>
          <a:effectLst>
            <a:outerShdw blurRad="63500" dist="25400" dir="8100000" algn="bl" rotWithShape="0">
              <a:srgbClr val="000000">
                <a:alpha val="15000"/>
              </a:srgbClr>
            </a:outerShdw>
          </a:effectLst>
        </p:spPr>
      </p:sp>
      <p:pic>
        <p:nvPicPr>
          <p:cNvPr id="6" name="Image 0" descr="preencoded.png"/>
          <p:cNvPicPr>
            <a:picLocks noChangeAspect="1"/>
          </p:cNvPicPr>
          <p:nvPr/>
        </p:nvPicPr>
        <p:blipFill>
          <a:blip r:embed="rId3"/>
          <a:stretch>
            <a:fillRect/>
          </a:stretch>
        </p:blipFill>
        <p:spPr>
          <a:xfrm>
            <a:off x="411480" y="4224528"/>
            <a:ext cx="411480" cy="411480"/>
          </a:xfrm>
          <a:prstGeom prst="rect">
            <a:avLst/>
          </a:prstGeom>
        </p:spPr>
      </p:pic>
      <p:sp>
        <p:nvSpPr>
          <p:cNvPr id="7" name="Text 3"/>
          <p:cNvSpPr/>
          <p:nvPr/>
        </p:nvSpPr>
        <p:spPr>
          <a:xfrm>
            <a:off x="914400" y="4160520"/>
            <a:ext cx="3291840" cy="640080"/>
          </a:xfrm>
          <a:prstGeom prst="rect">
            <a:avLst/>
          </a:prstGeom>
          <a:noFill/>
          <a:ln/>
        </p:spPr>
        <p:txBody>
          <a:bodyPr wrap="square" rtlCol="0" anchor="ctr"/>
          <a:lstStyle/>
          <a:p>
            <a:pPr marL="0" indent="0">
              <a:buNone/>
            </a:pPr>
            <a:r>
              <a:rPr lang="en-US" sz="1000" b="1" dirty="0">
                <a:solidFill>
                  <a:srgbClr val="1A1A1A"/>
                </a:solidFill>
              </a:rPr>
              <a:t>🏆  E-Bike leads with highest revenue: ₹290K total &amp; ₹173K success bookings</a:t>
            </a:r>
            <a:endParaRPr lang="en-US" sz="1000" dirty="0"/>
          </a:p>
        </p:txBody>
      </p:sp>
      <p:sp>
        <p:nvSpPr>
          <p:cNvPr id="8" name="Shape 4"/>
          <p:cNvSpPr/>
          <p:nvPr/>
        </p:nvSpPr>
        <p:spPr>
          <a:xfrm>
            <a:off x="4663440" y="4114800"/>
            <a:ext cx="4206240" cy="777240"/>
          </a:xfrm>
          <a:prstGeom prst="rect">
            <a:avLst/>
          </a:prstGeom>
          <a:solidFill>
            <a:srgbClr val="1A1A1A"/>
          </a:solidFill>
          <a:ln/>
          <a:effectLst>
            <a:outerShdw blurRad="63500" dist="25400" dir="8100000" algn="bl" rotWithShape="0">
              <a:srgbClr val="000000">
                <a:alpha val="15000"/>
              </a:srgbClr>
            </a:outerShdw>
          </a:effectLst>
        </p:spPr>
      </p:sp>
      <p:sp>
        <p:nvSpPr>
          <p:cNvPr id="9" name="Text 5"/>
          <p:cNvSpPr/>
          <p:nvPr/>
        </p:nvSpPr>
        <p:spPr>
          <a:xfrm>
            <a:off x="4800600" y="4160520"/>
            <a:ext cx="3840480" cy="640080"/>
          </a:xfrm>
          <a:prstGeom prst="rect">
            <a:avLst/>
          </a:prstGeom>
          <a:noFill/>
          <a:ln/>
        </p:spPr>
        <p:txBody>
          <a:bodyPr wrap="square" rtlCol="0" anchor="ctr"/>
          <a:lstStyle/>
          <a:p>
            <a:pPr marL="0" indent="0">
              <a:buNone/>
            </a:pPr>
            <a:r>
              <a:rPr lang="en-US" sz="1000" b="1" dirty="0">
                <a:solidFill>
                  <a:srgbClr val="FFFFFF"/>
                </a:solidFill>
              </a:rPr>
              <a:t>⚠️  Auto has lowest avg distance (10.27 km) — short urban trips dominant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A1A"/>
          </a:solidFill>
          <a:ln/>
        </p:spPr>
      </p:sp>
      <p:sp>
        <p:nvSpPr>
          <p:cNvPr id="3" name="Text 1"/>
          <p:cNvSpPr/>
          <p:nvPr/>
        </p:nvSpPr>
        <p:spPr>
          <a:xfrm>
            <a:off x="365760" y="0"/>
            <a:ext cx="8229600" cy="594360"/>
          </a:xfrm>
          <a:prstGeom prst="rect">
            <a:avLst/>
          </a:prstGeom>
          <a:noFill/>
          <a:ln/>
        </p:spPr>
        <p:txBody>
          <a:bodyPr wrap="square" rtlCol="0" anchor="ctr"/>
          <a:lstStyle/>
          <a:p>
            <a:pPr marL="0" indent="0">
              <a:buNone/>
            </a:pPr>
            <a:r>
              <a:rPr lang="en-US" sz="1300" b="1" dirty="0">
                <a:solidFill>
                  <a:srgbClr val="F5C518"/>
                </a:solidFill>
              </a:rPr>
              <a:t>📊  POWER BI — CANCELLATION ANALYSIS</a:t>
            </a:r>
            <a:endParaRPr lang="en-US" sz="1300" dirty="0"/>
          </a:p>
        </p:txBody>
      </p:sp>
      <p:graphicFrame>
        <p:nvGraphicFramePr>
          <p:cNvPr id="4" name="Chart 0"/>
          <p:cNvGraphicFramePr/>
          <p:nvPr>
            <p:extLst>
              <p:ext uri="{D42A27DB-BD31-4B8C-83A1-F6EECF244321}">
                <p14:modId xmlns:p14="http://schemas.microsoft.com/office/powerpoint/2010/main" val="1842063923"/>
              </p:ext>
            </p:extLst>
          </p:nvPr>
        </p:nvGraphicFramePr>
        <p:xfrm>
          <a:off x="0" y="777240"/>
          <a:ext cx="3383280" cy="27203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extLst>
              <p:ext uri="{D42A27DB-BD31-4B8C-83A1-F6EECF244321}">
                <p14:modId xmlns:p14="http://schemas.microsoft.com/office/powerpoint/2010/main" val="1952011867"/>
              </p:ext>
            </p:extLst>
          </p:nvPr>
        </p:nvGraphicFramePr>
        <p:xfrm>
          <a:off x="5978768" y="685800"/>
          <a:ext cx="2968283"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274320" y="3824654"/>
            <a:ext cx="1920240" cy="1097280"/>
          </a:xfrm>
          <a:prstGeom prst="rect">
            <a:avLst/>
          </a:prstGeom>
          <a:solidFill>
            <a:srgbClr val="EF4444"/>
          </a:solidFill>
          <a:ln/>
          <a:effectLst>
            <a:outerShdw blurRad="63500" dist="25400" dir="8100000" algn="bl" rotWithShape="0">
              <a:srgbClr val="000000">
                <a:alpha val="15000"/>
              </a:srgbClr>
            </a:outerShdw>
          </a:effectLst>
        </p:spPr>
      </p:sp>
      <p:sp>
        <p:nvSpPr>
          <p:cNvPr id="7" name="Text 3"/>
          <p:cNvSpPr/>
          <p:nvPr/>
        </p:nvSpPr>
        <p:spPr>
          <a:xfrm>
            <a:off x="274320" y="3916094"/>
            <a:ext cx="1920240" cy="548640"/>
          </a:xfrm>
          <a:prstGeom prst="rect">
            <a:avLst/>
          </a:prstGeom>
          <a:noFill/>
          <a:ln/>
        </p:spPr>
        <p:txBody>
          <a:bodyPr wrap="square" rtlCol="0" anchor="ctr"/>
          <a:lstStyle/>
          <a:p>
            <a:pPr marL="0" indent="0" algn="ctr">
              <a:buNone/>
            </a:pPr>
            <a:r>
              <a:rPr lang="en-US" sz="2000" b="1" dirty="0">
                <a:solidFill>
                  <a:srgbClr val="FFFFFF"/>
                </a:solidFill>
              </a:rPr>
              <a:t>28,933</a:t>
            </a:r>
            <a:endParaRPr lang="en-US" sz="2000" dirty="0"/>
          </a:p>
        </p:txBody>
      </p:sp>
      <p:sp>
        <p:nvSpPr>
          <p:cNvPr id="8" name="Text 4"/>
          <p:cNvSpPr/>
          <p:nvPr/>
        </p:nvSpPr>
        <p:spPr>
          <a:xfrm>
            <a:off x="274320" y="4464734"/>
            <a:ext cx="1920240" cy="365760"/>
          </a:xfrm>
          <a:prstGeom prst="rect">
            <a:avLst/>
          </a:prstGeom>
          <a:noFill/>
          <a:ln/>
        </p:spPr>
        <p:txBody>
          <a:bodyPr wrap="square" rtlCol="0" anchor="ctr"/>
          <a:lstStyle/>
          <a:p>
            <a:pPr marL="0" indent="0" algn="ctr">
              <a:buNone/>
            </a:pPr>
            <a:r>
              <a:rPr lang="en-US" sz="900" dirty="0">
                <a:solidFill>
                  <a:srgbClr val="CCCCCC"/>
                </a:solidFill>
              </a:rPr>
              <a:t>Total Cancellations</a:t>
            </a:r>
            <a:endParaRPr lang="en-US" sz="900" dirty="0"/>
          </a:p>
        </p:txBody>
      </p:sp>
      <p:sp>
        <p:nvSpPr>
          <p:cNvPr id="9" name="Shape 5"/>
          <p:cNvSpPr/>
          <p:nvPr/>
        </p:nvSpPr>
        <p:spPr>
          <a:xfrm>
            <a:off x="2447075" y="3824654"/>
            <a:ext cx="1920240" cy="1097280"/>
          </a:xfrm>
          <a:prstGeom prst="rect">
            <a:avLst/>
          </a:prstGeom>
          <a:solidFill>
            <a:srgbClr val="F59E0B"/>
          </a:solidFill>
          <a:ln/>
          <a:effectLst>
            <a:outerShdw blurRad="63500" dist="25400" dir="8100000" algn="bl" rotWithShape="0">
              <a:srgbClr val="000000">
                <a:alpha val="15000"/>
              </a:srgbClr>
            </a:outerShdw>
          </a:effectLst>
        </p:spPr>
      </p:sp>
      <p:sp>
        <p:nvSpPr>
          <p:cNvPr id="10" name="Text 6"/>
          <p:cNvSpPr/>
          <p:nvPr/>
        </p:nvSpPr>
        <p:spPr>
          <a:xfrm>
            <a:off x="2474507" y="3916094"/>
            <a:ext cx="1920240" cy="548640"/>
          </a:xfrm>
          <a:prstGeom prst="rect">
            <a:avLst/>
          </a:prstGeom>
          <a:noFill/>
          <a:ln/>
        </p:spPr>
        <p:txBody>
          <a:bodyPr wrap="square" rtlCol="0" anchor="ctr"/>
          <a:lstStyle/>
          <a:p>
            <a:pPr marL="0" indent="0" algn="ctr">
              <a:buNone/>
            </a:pPr>
            <a:r>
              <a:rPr lang="en-US" sz="2000" b="1" dirty="0">
                <a:solidFill>
                  <a:srgbClr val="FFFFFF"/>
                </a:solidFill>
              </a:rPr>
              <a:t>10,499</a:t>
            </a:r>
            <a:endParaRPr lang="en-US" sz="2000" dirty="0"/>
          </a:p>
        </p:txBody>
      </p:sp>
      <p:sp>
        <p:nvSpPr>
          <p:cNvPr id="11" name="Text 7"/>
          <p:cNvSpPr/>
          <p:nvPr/>
        </p:nvSpPr>
        <p:spPr>
          <a:xfrm>
            <a:off x="2474507" y="4464734"/>
            <a:ext cx="1920240" cy="365760"/>
          </a:xfrm>
          <a:prstGeom prst="rect">
            <a:avLst/>
          </a:prstGeom>
          <a:noFill/>
          <a:ln/>
        </p:spPr>
        <p:txBody>
          <a:bodyPr wrap="square" rtlCol="0" anchor="ctr"/>
          <a:lstStyle/>
          <a:p>
            <a:pPr marL="0" indent="0" algn="ctr">
              <a:buNone/>
            </a:pPr>
            <a:r>
              <a:rPr lang="en-US" sz="900" dirty="0">
                <a:solidFill>
                  <a:srgbClr val="CCCCCC"/>
                </a:solidFill>
              </a:rPr>
              <a:t>By Customer</a:t>
            </a:r>
            <a:endParaRPr lang="en-US" sz="900" dirty="0"/>
          </a:p>
        </p:txBody>
      </p:sp>
      <p:sp>
        <p:nvSpPr>
          <p:cNvPr id="12" name="Shape 8"/>
          <p:cNvSpPr/>
          <p:nvPr/>
        </p:nvSpPr>
        <p:spPr>
          <a:xfrm>
            <a:off x="4626864" y="3824654"/>
            <a:ext cx="1920240" cy="1097280"/>
          </a:xfrm>
          <a:prstGeom prst="rect">
            <a:avLst/>
          </a:prstGeom>
          <a:solidFill>
            <a:srgbClr val="6B7280"/>
          </a:solidFill>
          <a:ln/>
          <a:effectLst>
            <a:outerShdw blurRad="63500" dist="25400" dir="8100000" algn="bl" rotWithShape="0">
              <a:srgbClr val="000000">
                <a:alpha val="15000"/>
              </a:srgbClr>
            </a:outerShdw>
          </a:effectLst>
        </p:spPr>
      </p:sp>
      <p:sp>
        <p:nvSpPr>
          <p:cNvPr id="13" name="Text 9"/>
          <p:cNvSpPr/>
          <p:nvPr/>
        </p:nvSpPr>
        <p:spPr>
          <a:xfrm>
            <a:off x="4626864" y="3916094"/>
            <a:ext cx="1920240" cy="548640"/>
          </a:xfrm>
          <a:prstGeom prst="rect">
            <a:avLst/>
          </a:prstGeom>
          <a:noFill/>
          <a:ln/>
        </p:spPr>
        <p:txBody>
          <a:bodyPr wrap="square" rtlCol="0" anchor="ctr"/>
          <a:lstStyle/>
          <a:p>
            <a:pPr marL="0" indent="0" algn="ctr">
              <a:buNone/>
            </a:pPr>
            <a:r>
              <a:rPr lang="en-US" sz="2000" b="1" dirty="0">
                <a:solidFill>
                  <a:srgbClr val="FFFFFF"/>
                </a:solidFill>
              </a:rPr>
              <a:t>18,434</a:t>
            </a:r>
            <a:endParaRPr lang="en-US" sz="2000" dirty="0"/>
          </a:p>
        </p:txBody>
      </p:sp>
      <p:sp>
        <p:nvSpPr>
          <p:cNvPr id="14" name="Text 10"/>
          <p:cNvSpPr/>
          <p:nvPr/>
        </p:nvSpPr>
        <p:spPr>
          <a:xfrm>
            <a:off x="4626864" y="4464734"/>
            <a:ext cx="1920240" cy="365760"/>
          </a:xfrm>
          <a:prstGeom prst="rect">
            <a:avLst/>
          </a:prstGeom>
          <a:noFill/>
          <a:ln/>
        </p:spPr>
        <p:txBody>
          <a:bodyPr wrap="square" rtlCol="0" anchor="ctr"/>
          <a:lstStyle/>
          <a:p>
            <a:pPr marL="0" indent="0" algn="ctr">
              <a:buNone/>
            </a:pPr>
            <a:r>
              <a:rPr lang="en-US" sz="900" dirty="0">
                <a:solidFill>
                  <a:srgbClr val="CCCCCC"/>
                </a:solidFill>
              </a:rPr>
              <a:t>By Driver</a:t>
            </a:r>
            <a:endParaRPr lang="en-US" sz="900" dirty="0"/>
          </a:p>
        </p:txBody>
      </p:sp>
      <p:sp>
        <p:nvSpPr>
          <p:cNvPr id="15" name="Shape 11"/>
          <p:cNvSpPr/>
          <p:nvPr/>
        </p:nvSpPr>
        <p:spPr>
          <a:xfrm>
            <a:off x="6751789" y="3824654"/>
            <a:ext cx="1920240" cy="1097280"/>
          </a:xfrm>
          <a:prstGeom prst="rect">
            <a:avLst/>
          </a:prstGeom>
          <a:solidFill>
            <a:srgbClr val="1A1A1A"/>
          </a:solidFill>
          <a:ln/>
          <a:effectLst>
            <a:outerShdw blurRad="63500" dist="25400" dir="8100000" algn="bl" rotWithShape="0">
              <a:srgbClr val="000000">
                <a:alpha val="15000"/>
              </a:srgbClr>
            </a:outerShdw>
          </a:effectLst>
        </p:spPr>
      </p:sp>
      <p:sp>
        <p:nvSpPr>
          <p:cNvPr id="16" name="Text 12"/>
          <p:cNvSpPr/>
          <p:nvPr/>
        </p:nvSpPr>
        <p:spPr>
          <a:xfrm>
            <a:off x="6751789" y="3916094"/>
            <a:ext cx="1920240" cy="548640"/>
          </a:xfrm>
          <a:prstGeom prst="rect">
            <a:avLst/>
          </a:prstGeom>
          <a:noFill/>
          <a:ln/>
        </p:spPr>
        <p:txBody>
          <a:bodyPr wrap="square" rtlCol="0" anchor="ctr"/>
          <a:lstStyle/>
          <a:p>
            <a:pPr marL="0" indent="0" algn="ctr">
              <a:buNone/>
            </a:pPr>
            <a:r>
              <a:rPr lang="en-US" sz="2000" b="1" dirty="0">
                <a:solidFill>
                  <a:srgbClr val="FFFFFF"/>
                </a:solidFill>
              </a:rPr>
              <a:t>28.08%</a:t>
            </a:r>
            <a:endParaRPr lang="en-US" sz="2000" dirty="0"/>
          </a:p>
        </p:txBody>
      </p:sp>
      <p:sp>
        <p:nvSpPr>
          <p:cNvPr id="17" name="Text 13"/>
          <p:cNvSpPr/>
          <p:nvPr/>
        </p:nvSpPr>
        <p:spPr>
          <a:xfrm>
            <a:off x="6751789" y="4464734"/>
            <a:ext cx="1920240" cy="365760"/>
          </a:xfrm>
          <a:prstGeom prst="rect">
            <a:avLst/>
          </a:prstGeom>
          <a:noFill/>
          <a:ln/>
        </p:spPr>
        <p:txBody>
          <a:bodyPr wrap="square" rtlCol="0" anchor="ctr"/>
          <a:lstStyle/>
          <a:p>
            <a:pPr marL="0" indent="0" algn="ctr">
              <a:buNone/>
            </a:pPr>
            <a:r>
              <a:rPr lang="en-US" sz="900" dirty="0">
                <a:solidFill>
                  <a:srgbClr val="CCCCCC"/>
                </a:solidFill>
              </a:rPr>
              <a:t>Cancellation Rate</a:t>
            </a:r>
            <a:endParaRPr lang="en-US" sz="900" dirty="0"/>
          </a:p>
        </p:txBody>
      </p:sp>
      <p:sp>
        <p:nvSpPr>
          <p:cNvPr id="18" name="TextBox 17">
            <a:extLst>
              <a:ext uri="{FF2B5EF4-FFF2-40B4-BE49-F238E27FC236}">
                <a16:creationId xmlns:a16="http://schemas.microsoft.com/office/drawing/2014/main" id="{F7DA22A8-0D65-0FAD-2E3C-69985EAD33F8}"/>
              </a:ext>
            </a:extLst>
          </p:cNvPr>
          <p:cNvSpPr txBox="1"/>
          <p:nvPr/>
        </p:nvSpPr>
        <p:spPr>
          <a:xfrm>
            <a:off x="3434627" y="683538"/>
            <a:ext cx="2602523" cy="3385542"/>
          </a:xfrm>
          <a:prstGeom prst="rect">
            <a:avLst/>
          </a:prstGeom>
          <a:noFill/>
        </p:spPr>
        <p:txBody>
          <a:bodyPr wrap="square" rtlCol="0">
            <a:spAutoFit/>
          </a:bodyPr>
          <a:lstStyle/>
          <a:p>
            <a:r>
              <a:rPr lang="en-US" sz="1400" dirty="0"/>
              <a:t>This slide analyzes ride cancellations using Power BI, showing reasons from both customers and drivers. Most cancellations are due to driver-related issues like personal or car problems, while customers cancel due to delays or plan changes. The dashboard highlights a total of 28,933 cancellations with a 28.08% rate, helping identify service gaps and improve ride reliability and customer satisfaction.</a:t>
            </a:r>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1A1A"/>
          </a:solidFill>
          <a:ln/>
        </p:spPr>
      </p:sp>
      <p:sp>
        <p:nvSpPr>
          <p:cNvPr id="3" name="Text 1"/>
          <p:cNvSpPr/>
          <p:nvPr/>
        </p:nvSpPr>
        <p:spPr>
          <a:xfrm>
            <a:off x="365760" y="0"/>
            <a:ext cx="8229600" cy="594360"/>
          </a:xfrm>
          <a:prstGeom prst="rect">
            <a:avLst/>
          </a:prstGeom>
          <a:noFill/>
          <a:ln/>
        </p:spPr>
        <p:txBody>
          <a:bodyPr wrap="square" rtlCol="0" anchor="ctr"/>
          <a:lstStyle/>
          <a:p>
            <a:pPr marL="0" indent="0">
              <a:buNone/>
            </a:pPr>
            <a:r>
              <a:rPr lang="en-US" sz="1300" b="1" dirty="0">
                <a:solidFill>
                  <a:srgbClr val="F5C518"/>
                </a:solidFill>
              </a:rPr>
              <a:t>📊  POWER BI — RATINGS ANALYSIS</a:t>
            </a:r>
            <a:endParaRPr lang="en-US" sz="1300" dirty="0"/>
          </a:p>
        </p:txBody>
      </p:sp>
      <p:sp>
        <p:nvSpPr>
          <p:cNvPr id="4" name="Text 2"/>
          <p:cNvSpPr/>
          <p:nvPr/>
        </p:nvSpPr>
        <p:spPr>
          <a:xfrm>
            <a:off x="274320" y="777240"/>
            <a:ext cx="8229600" cy="320040"/>
          </a:xfrm>
          <a:prstGeom prst="rect">
            <a:avLst/>
          </a:prstGeom>
          <a:noFill/>
          <a:ln/>
        </p:spPr>
        <p:txBody>
          <a:bodyPr wrap="square" rtlCol="0" anchor="ctr"/>
          <a:lstStyle/>
          <a:p>
            <a:pPr marL="0" indent="0">
              <a:buNone/>
            </a:pPr>
            <a:r>
              <a:rPr lang="en-US" sz="1300" b="1" dirty="0">
                <a:solidFill>
                  <a:srgbClr val="1A1A1A"/>
                </a:solidFill>
              </a:rPr>
              <a:t>Ratings by Drivers (per Vehicle)</a:t>
            </a:r>
            <a:endParaRPr lang="en-US" sz="1300" dirty="0"/>
          </a:p>
        </p:txBody>
      </p:sp>
      <p:sp>
        <p:nvSpPr>
          <p:cNvPr id="5" name="Shape 3"/>
          <p:cNvSpPr/>
          <p:nvPr/>
        </p:nvSpPr>
        <p:spPr>
          <a:xfrm>
            <a:off x="274320" y="1188720"/>
            <a:ext cx="1097280" cy="1463040"/>
          </a:xfrm>
          <a:prstGeom prst="rect">
            <a:avLst/>
          </a:prstGeom>
          <a:solidFill>
            <a:srgbClr val="FFFFFF"/>
          </a:solidFill>
          <a:ln/>
          <a:effectLst>
            <a:outerShdw blurRad="50800" dist="25400" dir="8100000" algn="bl" rotWithShape="0">
              <a:srgbClr val="000000">
                <a:alpha val="10000"/>
              </a:srgbClr>
            </a:outerShdw>
          </a:effectLst>
        </p:spPr>
      </p:sp>
      <p:sp>
        <p:nvSpPr>
          <p:cNvPr id="6" name="Shape 4"/>
          <p:cNvSpPr/>
          <p:nvPr/>
        </p:nvSpPr>
        <p:spPr>
          <a:xfrm>
            <a:off x="274320" y="1188720"/>
            <a:ext cx="1097280" cy="54864"/>
          </a:xfrm>
          <a:prstGeom prst="rect">
            <a:avLst/>
          </a:prstGeom>
          <a:solidFill>
            <a:srgbClr val="F5C518"/>
          </a:solidFill>
          <a:ln/>
        </p:spPr>
      </p:sp>
      <p:sp>
        <p:nvSpPr>
          <p:cNvPr id="7" name="Text 5"/>
          <p:cNvSpPr/>
          <p:nvPr/>
        </p:nvSpPr>
        <p:spPr>
          <a:xfrm>
            <a:off x="274320" y="1261872"/>
            <a:ext cx="1097280" cy="411480"/>
          </a:xfrm>
          <a:prstGeom prst="rect">
            <a:avLst/>
          </a:prstGeom>
          <a:noFill/>
          <a:ln/>
        </p:spPr>
        <p:txBody>
          <a:bodyPr wrap="square" rtlCol="0" anchor="ctr"/>
          <a:lstStyle/>
          <a:p>
            <a:pPr marL="0" indent="0" algn="ctr">
              <a:buNone/>
            </a:pPr>
            <a:r>
              <a:rPr lang="en-US" sz="800" dirty="0">
                <a:solidFill>
                  <a:srgbClr val="6B7280"/>
                </a:solidFill>
              </a:rPr>
              <a:t>Prime Sedan</a:t>
            </a:r>
            <a:endParaRPr lang="en-US" sz="800" dirty="0"/>
          </a:p>
        </p:txBody>
      </p:sp>
      <p:sp>
        <p:nvSpPr>
          <p:cNvPr id="8" name="Text 6"/>
          <p:cNvSpPr/>
          <p:nvPr/>
        </p:nvSpPr>
        <p:spPr>
          <a:xfrm>
            <a:off x="274320" y="1691640"/>
            <a:ext cx="1097280" cy="548640"/>
          </a:xfrm>
          <a:prstGeom prst="rect">
            <a:avLst/>
          </a:prstGeom>
          <a:noFill/>
          <a:ln/>
        </p:spPr>
        <p:txBody>
          <a:bodyPr wrap="square" rtlCol="0" anchor="ctr"/>
          <a:lstStyle/>
          <a:p>
            <a:pPr marL="0" indent="0" algn="ctr">
              <a:buNone/>
            </a:pPr>
            <a:r>
              <a:rPr lang="en-US" sz="2000" b="1" dirty="0">
                <a:solidFill>
                  <a:srgbClr val="1A1A1A"/>
                </a:solidFill>
              </a:rPr>
              <a:t>2.52</a:t>
            </a:r>
            <a:endParaRPr lang="en-US" sz="2000" dirty="0"/>
          </a:p>
        </p:txBody>
      </p:sp>
      <p:pic>
        <p:nvPicPr>
          <p:cNvPr id="9" name="Image 0" descr="preencoded.png"/>
          <p:cNvPicPr>
            <a:picLocks noChangeAspect="1"/>
          </p:cNvPicPr>
          <p:nvPr/>
        </p:nvPicPr>
        <p:blipFill>
          <a:blip r:embed="rId3"/>
          <a:stretch>
            <a:fillRect/>
          </a:stretch>
        </p:blipFill>
        <p:spPr>
          <a:xfrm>
            <a:off x="594360" y="2286000"/>
            <a:ext cx="201168" cy="201168"/>
          </a:xfrm>
          <a:prstGeom prst="rect">
            <a:avLst/>
          </a:prstGeom>
        </p:spPr>
      </p:pic>
      <p:sp>
        <p:nvSpPr>
          <p:cNvPr id="10" name="Shape 7"/>
          <p:cNvSpPr/>
          <p:nvPr/>
        </p:nvSpPr>
        <p:spPr>
          <a:xfrm>
            <a:off x="274320" y="2834640"/>
            <a:ext cx="1097280" cy="1463040"/>
          </a:xfrm>
          <a:prstGeom prst="rect">
            <a:avLst/>
          </a:prstGeom>
          <a:solidFill>
            <a:srgbClr val="FFFFFF"/>
          </a:solidFill>
          <a:ln/>
          <a:effectLst>
            <a:outerShdw blurRad="50800" dist="25400" dir="8100000" algn="bl" rotWithShape="0">
              <a:srgbClr val="000000">
                <a:alpha val="10000"/>
              </a:srgbClr>
            </a:outerShdw>
          </a:effectLst>
        </p:spPr>
      </p:sp>
      <p:sp>
        <p:nvSpPr>
          <p:cNvPr id="11" name="Shape 8"/>
          <p:cNvSpPr/>
          <p:nvPr/>
        </p:nvSpPr>
        <p:spPr>
          <a:xfrm>
            <a:off x="274320" y="2834640"/>
            <a:ext cx="1097280" cy="54864"/>
          </a:xfrm>
          <a:prstGeom prst="rect">
            <a:avLst/>
          </a:prstGeom>
          <a:solidFill>
            <a:srgbClr val="6B7280"/>
          </a:solidFill>
          <a:ln/>
        </p:spPr>
      </p:sp>
      <p:sp>
        <p:nvSpPr>
          <p:cNvPr id="12" name="Text 9"/>
          <p:cNvSpPr/>
          <p:nvPr/>
        </p:nvSpPr>
        <p:spPr>
          <a:xfrm>
            <a:off x="274320" y="2907792"/>
            <a:ext cx="1097280" cy="411480"/>
          </a:xfrm>
          <a:prstGeom prst="rect">
            <a:avLst/>
          </a:prstGeom>
          <a:noFill/>
          <a:ln/>
        </p:spPr>
        <p:txBody>
          <a:bodyPr wrap="square" rtlCol="0" anchor="ctr"/>
          <a:lstStyle/>
          <a:p>
            <a:pPr marL="0" indent="0" algn="ctr">
              <a:buNone/>
            </a:pPr>
            <a:r>
              <a:rPr lang="en-US" sz="800" dirty="0">
                <a:solidFill>
                  <a:srgbClr val="6B7280"/>
                </a:solidFill>
              </a:rPr>
              <a:t>Prime Sedan</a:t>
            </a:r>
            <a:endParaRPr lang="en-US" sz="800" dirty="0"/>
          </a:p>
        </p:txBody>
      </p:sp>
      <p:sp>
        <p:nvSpPr>
          <p:cNvPr id="13" name="Text 10"/>
          <p:cNvSpPr/>
          <p:nvPr/>
        </p:nvSpPr>
        <p:spPr>
          <a:xfrm>
            <a:off x="274320" y="3337560"/>
            <a:ext cx="1097280" cy="548640"/>
          </a:xfrm>
          <a:prstGeom prst="rect">
            <a:avLst/>
          </a:prstGeom>
          <a:noFill/>
          <a:ln/>
        </p:spPr>
        <p:txBody>
          <a:bodyPr wrap="square" rtlCol="0" anchor="ctr"/>
          <a:lstStyle/>
          <a:p>
            <a:pPr marL="0" indent="0" algn="ctr">
              <a:buNone/>
            </a:pPr>
            <a:r>
              <a:rPr lang="en-US" sz="2000" b="1" dirty="0">
                <a:solidFill>
                  <a:srgbClr val="2D2D2D"/>
                </a:solidFill>
              </a:rPr>
              <a:t>2.53</a:t>
            </a:r>
            <a:endParaRPr lang="en-US" sz="2000" dirty="0"/>
          </a:p>
        </p:txBody>
      </p:sp>
      <p:pic>
        <p:nvPicPr>
          <p:cNvPr id="14" name="Image 1" descr="preencoded.png"/>
          <p:cNvPicPr>
            <a:picLocks noChangeAspect="1"/>
          </p:cNvPicPr>
          <p:nvPr/>
        </p:nvPicPr>
        <p:blipFill>
          <a:blip r:embed="rId3"/>
          <a:stretch>
            <a:fillRect/>
          </a:stretch>
        </p:blipFill>
        <p:spPr>
          <a:xfrm>
            <a:off x="594360" y="3931920"/>
            <a:ext cx="201168" cy="201168"/>
          </a:xfrm>
          <a:prstGeom prst="rect">
            <a:avLst/>
          </a:prstGeom>
        </p:spPr>
      </p:pic>
      <p:sp>
        <p:nvSpPr>
          <p:cNvPr id="15" name="Shape 11"/>
          <p:cNvSpPr/>
          <p:nvPr/>
        </p:nvSpPr>
        <p:spPr>
          <a:xfrm>
            <a:off x="1517904" y="1188720"/>
            <a:ext cx="1097280" cy="1463040"/>
          </a:xfrm>
          <a:prstGeom prst="rect">
            <a:avLst/>
          </a:prstGeom>
          <a:solidFill>
            <a:srgbClr val="FFFFFF"/>
          </a:solidFill>
          <a:ln/>
          <a:effectLst>
            <a:outerShdw blurRad="50800" dist="25400" dir="8100000" algn="bl" rotWithShape="0">
              <a:srgbClr val="000000">
                <a:alpha val="10000"/>
              </a:srgbClr>
            </a:outerShdw>
          </a:effectLst>
        </p:spPr>
      </p:sp>
      <p:sp>
        <p:nvSpPr>
          <p:cNvPr id="16" name="Shape 12"/>
          <p:cNvSpPr/>
          <p:nvPr/>
        </p:nvSpPr>
        <p:spPr>
          <a:xfrm>
            <a:off x="1517904" y="1188720"/>
            <a:ext cx="1097280" cy="54864"/>
          </a:xfrm>
          <a:prstGeom prst="rect">
            <a:avLst/>
          </a:prstGeom>
          <a:solidFill>
            <a:srgbClr val="F5C518"/>
          </a:solidFill>
          <a:ln/>
        </p:spPr>
      </p:sp>
      <p:sp>
        <p:nvSpPr>
          <p:cNvPr id="17" name="Text 13"/>
          <p:cNvSpPr/>
          <p:nvPr/>
        </p:nvSpPr>
        <p:spPr>
          <a:xfrm>
            <a:off x="1517904" y="1261872"/>
            <a:ext cx="1097280" cy="411480"/>
          </a:xfrm>
          <a:prstGeom prst="rect">
            <a:avLst/>
          </a:prstGeom>
          <a:noFill/>
          <a:ln/>
        </p:spPr>
        <p:txBody>
          <a:bodyPr wrap="square" rtlCol="0" anchor="ctr"/>
          <a:lstStyle/>
          <a:p>
            <a:pPr marL="0" indent="0" algn="ctr">
              <a:buNone/>
            </a:pPr>
            <a:r>
              <a:rPr lang="en-US" sz="800" dirty="0">
                <a:solidFill>
                  <a:srgbClr val="6B7280"/>
                </a:solidFill>
              </a:rPr>
              <a:t>Prime SUV</a:t>
            </a:r>
            <a:endParaRPr lang="en-US" sz="800" dirty="0"/>
          </a:p>
        </p:txBody>
      </p:sp>
      <p:sp>
        <p:nvSpPr>
          <p:cNvPr id="18" name="Text 14"/>
          <p:cNvSpPr/>
          <p:nvPr/>
        </p:nvSpPr>
        <p:spPr>
          <a:xfrm>
            <a:off x="1517904" y="1691640"/>
            <a:ext cx="1097280" cy="548640"/>
          </a:xfrm>
          <a:prstGeom prst="rect">
            <a:avLst/>
          </a:prstGeom>
          <a:noFill/>
          <a:ln/>
        </p:spPr>
        <p:txBody>
          <a:bodyPr wrap="square" rtlCol="0" anchor="ctr"/>
          <a:lstStyle/>
          <a:p>
            <a:pPr marL="0" indent="0" algn="ctr">
              <a:buNone/>
            </a:pPr>
            <a:r>
              <a:rPr lang="en-US" sz="2000" b="1" dirty="0">
                <a:solidFill>
                  <a:srgbClr val="1A1A1A"/>
                </a:solidFill>
              </a:rPr>
              <a:t>2.46</a:t>
            </a:r>
            <a:endParaRPr lang="en-US" sz="2000" dirty="0"/>
          </a:p>
        </p:txBody>
      </p:sp>
      <p:pic>
        <p:nvPicPr>
          <p:cNvPr id="19" name="Image 2" descr="preencoded.png"/>
          <p:cNvPicPr>
            <a:picLocks noChangeAspect="1"/>
          </p:cNvPicPr>
          <p:nvPr/>
        </p:nvPicPr>
        <p:blipFill>
          <a:blip r:embed="rId3"/>
          <a:stretch>
            <a:fillRect/>
          </a:stretch>
        </p:blipFill>
        <p:spPr>
          <a:xfrm>
            <a:off x="1837944" y="2286000"/>
            <a:ext cx="201168" cy="201168"/>
          </a:xfrm>
          <a:prstGeom prst="rect">
            <a:avLst/>
          </a:prstGeom>
        </p:spPr>
      </p:pic>
      <p:sp>
        <p:nvSpPr>
          <p:cNvPr id="20" name="Shape 15"/>
          <p:cNvSpPr/>
          <p:nvPr/>
        </p:nvSpPr>
        <p:spPr>
          <a:xfrm>
            <a:off x="1517904" y="2834640"/>
            <a:ext cx="1097280" cy="1463040"/>
          </a:xfrm>
          <a:prstGeom prst="rect">
            <a:avLst/>
          </a:prstGeom>
          <a:solidFill>
            <a:srgbClr val="FFFFFF"/>
          </a:solidFill>
          <a:ln/>
          <a:effectLst>
            <a:outerShdw blurRad="50800" dist="25400" dir="8100000" algn="bl" rotWithShape="0">
              <a:srgbClr val="000000">
                <a:alpha val="10000"/>
              </a:srgbClr>
            </a:outerShdw>
          </a:effectLst>
        </p:spPr>
      </p:sp>
      <p:sp>
        <p:nvSpPr>
          <p:cNvPr id="21" name="Shape 16"/>
          <p:cNvSpPr/>
          <p:nvPr/>
        </p:nvSpPr>
        <p:spPr>
          <a:xfrm>
            <a:off x="1517904" y="2834640"/>
            <a:ext cx="1097280" cy="54864"/>
          </a:xfrm>
          <a:prstGeom prst="rect">
            <a:avLst/>
          </a:prstGeom>
          <a:solidFill>
            <a:srgbClr val="6B7280"/>
          </a:solidFill>
          <a:ln/>
        </p:spPr>
      </p:sp>
      <p:sp>
        <p:nvSpPr>
          <p:cNvPr id="22" name="Text 17"/>
          <p:cNvSpPr/>
          <p:nvPr/>
        </p:nvSpPr>
        <p:spPr>
          <a:xfrm>
            <a:off x="1517904" y="2907792"/>
            <a:ext cx="1097280" cy="411480"/>
          </a:xfrm>
          <a:prstGeom prst="rect">
            <a:avLst/>
          </a:prstGeom>
          <a:noFill/>
          <a:ln/>
        </p:spPr>
        <p:txBody>
          <a:bodyPr wrap="square" rtlCol="0" anchor="ctr"/>
          <a:lstStyle/>
          <a:p>
            <a:pPr marL="0" indent="0" algn="ctr">
              <a:buNone/>
            </a:pPr>
            <a:r>
              <a:rPr lang="en-US" sz="800" dirty="0">
                <a:solidFill>
                  <a:srgbClr val="6B7280"/>
                </a:solidFill>
              </a:rPr>
              <a:t>Prime SUV</a:t>
            </a:r>
            <a:endParaRPr lang="en-US" sz="800" dirty="0"/>
          </a:p>
        </p:txBody>
      </p:sp>
      <p:sp>
        <p:nvSpPr>
          <p:cNvPr id="23" name="Text 18"/>
          <p:cNvSpPr/>
          <p:nvPr/>
        </p:nvSpPr>
        <p:spPr>
          <a:xfrm>
            <a:off x="1517904" y="3337560"/>
            <a:ext cx="1097280" cy="548640"/>
          </a:xfrm>
          <a:prstGeom prst="rect">
            <a:avLst/>
          </a:prstGeom>
          <a:noFill/>
          <a:ln/>
        </p:spPr>
        <p:txBody>
          <a:bodyPr wrap="square" rtlCol="0" anchor="ctr"/>
          <a:lstStyle/>
          <a:p>
            <a:pPr marL="0" indent="0" algn="ctr">
              <a:buNone/>
            </a:pPr>
            <a:r>
              <a:rPr lang="en-US" sz="2000" b="1" dirty="0">
                <a:solidFill>
                  <a:srgbClr val="2D2D2D"/>
                </a:solidFill>
              </a:rPr>
              <a:t>2.46</a:t>
            </a:r>
            <a:endParaRPr lang="en-US" sz="2000" dirty="0"/>
          </a:p>
        </p:txBody>
      </p:sp>
      <p:pic>
        <p:nvPicPr>
          <p:cNvPr id="24" name="Image 3" descr="preencoded.png"/>
          <p:cNvPicPr>
            <a:picLocks noChangeAspect="1"/>
          </p:cNvPicPr>
          <p:nvPr/>
        </p:nvPicPr>
        <p:blipFill>
          <a:blip r:embed="rId3"/>
          <a:stretch>
            <a:fillRect/>
          </a:stretch>
        </p:blipFill>
        <p:spPr>
          <a:xfrm>
            <a:off x="1837944" y="3931920"/>
            <a:ext cx="201168" cy="201168"/>
          </a:xfrm>
          <a:prstGeom prst="rect">
            <a:avLst/>
          </a:prstGeom>
        </p:spPr>
      </p:pic>
      <p:sp>
        <p:nvSpPr>
          <p:cNvPr id="25" name="Shape 19"/>
          <p:cNvSpPr/>
          <p:nvPr/>
        </p:nvSpPr>
        <p:spPr>
          <a:xfrm>
            <a:off x="2761488" y="1188720"/>
            <a:ext cx="1097280" cy="1463040"/>
          </a:xfrm>
          <a:prstGeom prst="rect">
            <a:avLst/>
          </a:prstGeom>
          <a:solidFill>
            <a:srgbClr val="FFFFFF"/>
          </a:solidFill>
          <a:ln/>
          <a:effectLst>
            <a:outerShdw blurRad="50800" dist="25400" dir="8100000" algn="bl" rotWithShape="0">
              <a:srgbClr val="000000">
                <a:alpha val="10000"/>
              </a:srgbClr>
            </a:outerShdw>
          </a:effectLst>
        </p:spPr>
      </p:sp>
      <p:sp>
        <p:nvSpPr>
          <p:cNvPr id="26" name="Shape 20"/>
          <p:cNvSpPr/>
          <p:nvPr/>
        </p:nvSpPr>
        <p:spPr>
          <a:xfrm>
            <a:off x="2761488" y="1188720"/>
            <a:ext cx="1097280" cy="54864"/>
          </a:xfrm>
          <a:prstGeom prst="rect">
            <a:avLst/>
          </a:prstGeom>
          <a:solidFill>
            <a:srgbClr val="F5C518"/>
          </a:solidFill>
          <a:ln/>
        </p:spPr>
      </p:sp>
      <p:sp>
        <p:nvSpPr>
          <p:cNvPr id="27" name="Text 21"/>
          <p:cNvSpPr/>
          <p:nvPr/>
        </p:nvSpPr>
        <p:spPr>
          <a:xfrm>
            <a:off x="2761488" y="1261872"/>
            <a:ext cx="1097280" cy="411480"/>
          </a:xfrm>
          <a:prstGeom prst="rect">
            <a:avLst/>
          </a:prstGeom>
          <a:noFill/>
          <a:ln/>
        </p:spPr>
        <p:txBody>
          <a:bodyPr wrap="square" rtlCol="0" anchor="ctr"/>
          <a:lstStyle/>
          <a:p>
            <a:pPr marL="0" indent="0" algn="ctr">
              <a:buNone/>
            </a:pPr>
            <a:r>
              <a:rPr lang="en-US" sz="800" dirty="0">
                <a:solidFill>
                  <a:srgbClr val="6B7280"/>
                </a:solidFill>
              </a:rPr>
              <a:t>Prime Plus</a:t>
            </a:r>
            <a:endParaRPr lang="en-US" sz="800" dirty="0"/>
          </a:p>
        </p:txBody>
      </p:sp>
      <p:sp>
        <p:nvSpPr>
          <p:cNvPr id="28" name="Text 22"/>
          <p:cNvSpPr/>
          <p:nvPr/>
        </p:nvSpPr>
        <p:spPr>
          <a:xfrm>
            <a:off x="2761488" y="1691640"/>
            <a:ext cx="1097280" cy="548640"/>
          </a:xfrm>
          <a:prstGeom prst="rect">
            <a:avLst/>
          </a:prstGeom>
          <a:noFill/>
          <a:ln/>
        </p:spPr>
        <p:txBody>
          <a:bodyPr wrap="square" rtlCol="0" anchor="ctr"/>
          <a:lstStyle/>
          <a:p>
            <a:pPr marL="0" indent="0" algn="ctr">
              <a:buNone/>
            </a:pPr>
            <a:r>
              <a:rPr lang="en-US" sz="2000" b="1" dirty="0">
                <a:solidFill>
                  <a:srgbClr val="1A1A1A"/>
                </a:solidFill>
              </a:rPr>
              <a:t>2.52</a:t>
            </a:r>
            <a:endParaRPr lang="en-US" sz="2000" dirty="0"/>
          </a:p>
        </p:txBody>
      </p:sp>
      <p:pic>
        <p:nvPicPr>
          <p:cNvPr id="29" name="Image 4" descr="preencoded.png"/>
          <p:cNvPicPr>
            <a:picLocks noChangeAspect="1"/>
          </p:cNvPicPr>
          <p:nvPr/>
        </p:nvPicPr>
        <p:blipFill>
          <a:blip r:embed="rId3"/>
          <a:stretch>
            <a:fillRect/>
          </a:stretch>
        </p:blipFill>
        <p:spPr>
          <a:xfrm>
            <a:off x="3081528" y="2286000"/>
            <a:ext cx="201168" cy="201168"/>
          </a:xfrm>
          <a:prstGeom prst="rect">
            <a:avLst/>
          </a:prstGeom>
        </p:spPr>
      </p:pic>
      <p:sp>
        <p:nvSpPr>
          <p:cNvPr id="30" name="Shape 23"/>
          <p:cNvSpPr/>
          <p:nvPr/>
        </p:nvSpPr>
        <p:spPr>
          <a:xfrm>
            <a:off x="2761488" y="2834640"/>
            <a:ext cx="1097280" cy="1463040"/>
          </a:xfrm>
          <a:prstGeom prst="rect">
            <a:avLst/>
          </a:prstGeom>
          <a:solidFill>
            <a:srgbClr val="FFFFFF"/>
          </a:solidFill>
          <a:ln/>
          <a:effectLst>
            <a:outerShdw blurRad="50800" dist="25400" dir="8100000" algn="bl" rotWithShape="0">
              <a:srgbClr val="000000">
                <a:alpha val="10000"/>
              </a:srgbClr>
            </a:outerShdw>
          </a:effectLst>
        </p:spPr>
      </p:sp>
      <p:sp>
        <p:nvSpPr>
          <p:cNvPr id="31" name="Shape 24"/>
          <p:cNvSpPr/>
          <p:nvPr/>
        </p:nvSpPr>
        <p:spPr>
          <a:xfrm>
            <a:off x="2761488" y="2834640"/>
            <a:ext cx="1097280" cy="54864"/>
          </a:xfrm>
          <a:prstGeom prst="rect">
            <a:avLst/>
          </a:prstGeom>
          <a:solidFill>
            <a:srgbClr val="6B7280"/>
          </a:solidFill>
          <a:ln/>
        </p:spPr>
      </p:sp>
      <p:sp>
        <p:nvSpPr>
          <p:cNvPr id="32" name="Text 25"/>
          <p:cNvSpPr/>
          <p:nvPr/>
        </p:nvSpPr>
        <p:spPr>
          <a:xfrm>
            <a:off x="2761488" y="2907792"/>
            <a:ext cx="1097280" cy="411480"/>
          </a:xfrm>
          <a:prstGeom prst="rect">
            <a:avLst/>
          </a:prstGeom>
          <a:noFill/>
          <a:ln/>
        </p:spPr>
        <p:txBody>
          <a:bodyPr wrap="square" rtlCol="0" anchor="ctr"/>
          <a:lstStyle/>
          <a:p>
            <a:pPr marL="0" indent="0" algn="ctr">
              <a:buNone/>
            </a:pPr>
            <a:r>
              <a:rPr lang="en-US" sz="800" dirty="0">
                <a:solidFill>
                  <a:srgbClr val="6B7280"/>
                </a:solidFill>
              </a:rPr>
              <a:t>Prime Plus</a:t>
            </a:r>
            <a:endParaRPr lang="en-US" sz="800" dirty="0"/>
          </a:p>
        </p:txBody>
      </p:sp>
      <p:sp>
        <p:nvSpPr>
          <p:cNvPr id="33" name="Text 26"/>
          <p:cNvSpPr/>
          <p:nvPr/>
        </p:nvSpPr>
        <p:spPr>
          <a:xfrm>
            <a:off x="2761488" y="3337560"/>
            <a:ext cx="1097280" cy="548640"/>
          </a:xfrm>
          <a:prstGeom prst="rect">
            <a:avLst/>
          </a:prstGeom>
          <a:noFill/>
          <a:ln/>
        </p:spPr>
        <p:txBody>
          <a:bodyPr wrap="square" rtlCol="0" anchor="ctr"/>
          <a:lstStyle/>
          <a:p>
            <a:pPr marL="0" indent="0" algn="ctr">
              <a:buNone/>
            </a:pPr>
            <a:r>
              <a:rPr lang="en-US" sz="2000" b="1" dirty="0">
                <a:solidFill>
                  <a:srgbClr val="2D2D2D"/>
                </a:solidFill>
              </a:rPr>
              <a:t>2.48</a:t>
            </a:r>
            <a:endParaRPr lang="en-US" sz="2000" dirty="0"/>
          </a:p>
        </p:txBody>
      </p:sp>
      <p:pic>
        <p:nvPicPr>
          <p:cNvPr id="34" name="Image 5" descr="preencoded.png"/>
          <p:cNvPicPr>
            <a:picLocks noChangeAspect="1"/>
          </p:cNvPicPr>
          <p:nvPr/>
        </p:nvPicPr>
        <p:blipFill>
          <a:blip r:embed="rId3"/>
          <a:stretch>
            <a:fillRect/>
          </a:stretch>
        </p:blipFill>
        <p:spPr>
          <a:xfrm>
            <a:off x="3081528" y="3931920"/>
            <a:ext cx="201168" cy="201168"/>
          </a:xfrm>
          <a:prstGeom prst="rect">
            <a:avLst/>
          </a:prstGeom>
        </p:spPr>
      </p:pic>
      <p:sp>
        <p:nvSpPr>
          <p:cNvPr id="35" name="Shape 27"/>
          <p:cNvSpPr/>
          <p:nvPr/>
        </p:nvSpPr>
        <p:spPr>
          <a:xfrm>
            <a:off x="4005072" y="1188720"/>
            <a:ext cx="1097280" cy="1463040"/>
          </a:xfrm>
          <a:prstGeom prst="rect">
            <a:avLst/>
          </a:prstGeom>
          <a:solidFill>
            <a:srgbClr val="FFFFFF"/>
          </a:solidFill>
          <a:ln/>
          <a:effectLst>
            <a:outerShdw blurRad="50800" dist="25400" dir="8100000" algn="bl" rotWithShape="0">
              <a:srgbClr val="000000">
                <a:alpha val="10000"/>
              </a:srgbClr>
            </a:outerShdw>
          </a:effectLst>
        </p:spPr>
      </p:sp>
      <p:sp>
        <p:nvSpPr>
          <p:cNvPr id="36" name="Shape 28"/>
          <p:cNvSpPr/>
          <p:nvPr/>
        </p:nvSpPr>
        <p:spPr>
          <a:xfrm>
            <a:off x="4005072" y="1188720"/>
            <a:ext cx="1097280" cy="54864"/>
          </a:xfrm>
          <a:prstGeom prst="rect">
            <a:avLst/>
          </a:prstGeom>
          <a:solidFill>
            <a:srgbClr val="F5C518"/>
          </a:solidFill>
          <a:ln/>
        </p:spPr>
      </p:sp>
      <p:sp>
        <p:nvSpPr>
          <p:cNvPr id="37" name="Text 29"/>
          <p:cNvSpPr/>
          <p:nvPr/>
        </p:nvSpPr>
        <p:spPr>
          <a:xfrm>
            <a:off x="4005072" y="1261872"/>
            <a:ext cx="1097280" cy="411480"/>
          </a:xfrm>
          <a:prstGeom prst="rect">
            <a:avLst/>
          </a:prstGeom>
          <a:noFill/>
          <a:ln/>
        </p:spPr>
        <p:txBody>
          <a:bodyPr wrap="square" rtlCol="0" anchor="ctr"/>
          <a:lstStyle/>
          <a:p>
            <a:pPr marL="0" indent="0" algn="ctr">
              <a:buNone/>
            </a:pPr>
            <a:r>
              <a:rPr lang="en-US" sz="800" dirty="0">
                <a:solidFill>
                  <a:srgbClr val="6B7280"/>
                </a:solidFill>
              </a:rPr>
              <a:t>Mini</a:t>
            </a:r>
            <a:endParaRPr lang="en-US" sz="800" dirty="0"/>
          </a:p>
        </p:txBody>
      </p:sp>
      <p:sp>
        <p:nvSpPr>
          <p:cNvPr id="38" name="Text 30"/>
          <p:cNvSpPr/>
          <p:nvPr/>
        </p:nvSpPr>
        <p:spPr>
          <a:xfrm>
            <a:off x="4005072" y="1691640"/>
            <a:ext cx="1097280" cy="548640"/>
          </a:xfrm>
          <a:prstGeom prst="rect">
            <a:avLst/>
          </a:prstGeom>
          <a:noFill/>
          <a:ln/>
        </p:spPr>
        <p:txBody>
          <a:bodyPr wrap="square" rtlCol="0" anchor="ctr"/>
          <a:lstStyle/>
          <a:p>
            <a:pPr marL="0" indent="0" algn="ctr">
              <a:buNone/>
            </a:pPr>
            <a:r>
              <a:rPr lang="en-US" sz="2000" b="1" dirty="0">
                <a:solidFill>
                  <a:srgbClr val="1A1A1A"/>
                </a:solidFill>
              </a:rPr>
              <a:t>2.47</a:t>
            </a:r>
            <a:endParaRPr lang="en-US" sz="2000" dirty="0"/>
          </a:p>
        </p:txBody>
      </p:sp>
      <p:pic>
        <p:nvPicPr>
          <p:cNvPr id="39" name="Image 6" descr="preencoded.png"/>
          <p:cNvPicPr>
            <a:picLocks noChangeAspect="1"/>
          </p:cNvPicPr>
          <p:nvPr/>
        </p:nvPicPr>
        <p:blipFill>
          <a:blip r:embed="rId3"/>
          <a:stretch>
            <a:fillRect/>
          </a:stretch>
        </p:blipFill>
        <p:spPr>
          <a:xfrm>
            <a:off x="4325112" y="2286000"/>
            <a:ext cx="201168" cy="201168"/>
          </a:xfrm>
          <a:prstGeom prst="rect">
            <a:avLst/>
          </a:prstGeom>
        </p:spPr>
      </p:pic>
      <p:sp>
        <p:nvSpPr>
          <p:cNvPr id="40" name="Shape 31"/>
          <p:cNvSpPr/>
          <p:nvPr/>
        </p:nvSpPr>
        <p:spPr>
          <a:xfrm>
            <a:off x="4005072" y="2834640"/>
            <a:ext cx="1097280" cy="1463040"/>
          </a:xfrm>
          <a:prstGeom prst="rect">
            <a:avLst/>
          </a:prstGeom>
          <a:solidFill>
            <a:srgbClr val="FFFFFF"/>
          </a:solidFill>
          <a:ln/>
          <a:effectLst>
            <a:outerShdw blurRad="50800" dist="25400" dir="8100000" algn="bl" rotWithShape="0">
              <a:srgbClr val="000000">
                <a:alpha val="10000"/>
              </a:srgbClr>
            </a:outerShdw>
          </a:effectLst>
        </p:spPr>
      </p:sp>
      <p:sp>
        <p:nvSpPr>
          <p:cNvPr id="41" name="Shape 32"/>
          <p:cNvSpPr/>
          <p:nvPr/>
        </p:nvSpPr>
        <p:spPr>
          <a:xfrm>
            <a:off x="4005072" y="2834640"/>
            <a:ext cx="1097280" cy="54864"/>
          </a:xfrm>
          <a:prstGeom prst="rect">
            <a:avLst/>
          </a:prstGeom>
          <a:solidFill>
            <a:srgbClr val="6B7280"/>
          </a:solidFill>
          <a:ln/>
        </p:spPr>
      </p:sp>
      <p:sp>
        <p:nvSpPr>
          <p:cNvPr id="42" name="Text 33"/>
          <p:cNvSpPr/>
          <p:nvPr/>
        </p:nvSpPr>
        <p:spPr>
          <a:xfrm>
            <a:off x="4005072" y="2907792"/>
            <a:ext cx="1097280" cy="411480"/>
          </a:xfrm>
          <a:prstGeom prst="rect">
            <a:avLst/>
          </a:prstGeom>
          <a:noFill/>
          <a:ln/>
        </p:spPr>
        <p:txBody>
          <a:bodyPr wrap="square" rtlCol="0" anchor="ctr"/>
          <a:lstStyle/>
          <a:p>
            <a:pPr marL="0" indent="0" algn="ctr">
              <a:buNone/>
            </a:pPr>
            <a:r>
              <a:rPr lang="en-US" sz="800" dirty="0">
                <a:solidFill>
                  <a:srgbClr val="6B7280"/>
                </a:solidFill>
              </a:rPr>
              <a:t>Mini</a:t>
            </a:r>
            <a:endParaRPr lang="en-US" sz="800" dirty="0"/>
          </a:p>
        </p:txBody>
      </p:sp>
      <p:sp>
        <p:nvSpPr>
          <p:cNvPr id="43" name="Text 34"/>
          <p:cNvSpPr/>
          <p:nvPr/>
        </p:nvSpPr>
        <p:spPr>
          <a:xfrm>
            <a:off x="4005072" y="3337560"/>
            <a:ext cx="1097280" cy="548640"/>
          </a:xfrm>
          <a:prstGeom prst="rect">
            <a:avLst/>
          </a:prstGeom>
          <a:noFill/>
          <a:ln/>
        </p:spPr>
        <p:txBody>
          <a:bodyPr wrap="square" rtlCol="0" anchor="ctr"/>
          <a:lstStyle/>
          <a:p>
            <a:pPr marL="0" indent="0" algn="ctr">
              <a:buNone/>
            </a:pPr>
            <a:r>
              <a:rPr lang="en-US" sz="2000" b="1" dirty="0">
                <a:solidFill>
                  <a:srgbClr val="2D2D2D"/>
                </a:solidFill>
              </a:rPr>
              <a:t>2.47</a:t>
            </a:r>
            <a:endParaRPr lang="en-US" sz="2000" dirty="0"/>
          </a:p>
        </p:txBody>
      </p:sp>
      <p:pic>
        <p:nvPicPr>
          <p:cNvPr id="44" name="Image 7" descr="preencoded.png"/>
          <p:cNvPicPr>
            <a:picLocks noChangeAspect="1"/>
          </p:cNvPicPr>
          <p:nvPr/>
        </p:nvPicPr>
        <p:blipFill>
          <a:blip r:embed="rId3"/>
          <a:stretch>
            <a:fillRect/>
          </a:stretch>
        </p:blipFill>
        <p:spPr>
          <a:xfrm>
            <a:off x="4325112" y="3931920"/>
            <a:ext cx="201168" cy="201168"/>
          </a:xfrm>
          <a:prstGeom prst="rect">
            <a:avLst/>
          </a:prstGeom>
        </p:spPr>
      </p:pic>
      <p:sp>
        <p:nvSpPr>
          <p:cNvPr id="45" name="Shape 35"/>
          <p:cNvSpPr/>
          <p:nvPr/>
        </p:nvSpPr>
        <p:spPr>
          <a:xfrm>
            <a:off x="5248656" y="1188720"/>
            <a:ext cx="1097280" cy="1463040"/>
          </a:xfrm>
          <a:prstGeom prst="rect">
            <a:avLst/>
          </a:prstGeom>
          <a:solidFill>
            <a:srgbClr val="FFFFFF"/>
          </a:solidFill>
          <a:ln/>
          <a:effectLst>
            <a:outerShdw blurRad="50800" dist="25400" dir="8100000" algn="bl" rotWithShape="0">
              <a:srgbClr val="000000">
                <a:alpha val="10000"/>
              </a:srgbClr>
            </a:outerShdw>
          </a:effectLst>
        </p:spPr>
      </p:sp>
      <p:sp>
        <p:nvSpPr>
          <p:cNvPr id="46" name="Shape 36"/>
          <p:cNvSpPr/>
          <p:nvPr/>
        </p:nvSpPr>
        <p:spPr>
          <a:xfrm>
            <a:off x="5248656" y="1188720"/>
            <a:ext cx="1097280" cy="54864"/>
          </a:xfrm>
          <a:prstGeom prst="rect">
            <a:avLst/>
          </a:prstGeom>
          <a:solidFill>
            <a:srgbClr val="F5C518"/>
          </a:solidFill>
          <a:ln/>
        </p:spPr>
      </p:sp>
      <p:sp>
        <p:nvSpPr>
          <p:cNvPr id="47" name="Text 37"/>
          <p:cNvSpPr/>
          <p:nvPr/>
        </p:nvSpPr>
        <p:spPr>
          <a:xfrm>
            <a:off x="5248656" y="1261872"/>
            <a:ext cx="1097280" cy="411480"/>
          </a:xfrm>
          <a:prstGeom prst="rect">
            <a:avLst/>
          </a:prstGeom>
          <a:noFill/>
          <a:ln/>
        </p:spPr>
        <p:txBody>
          <a:bodyPr wrap="square" rtlCol="0" anchor="ctr"/>
          <a:lstStyle/>
          <a:p>
            <a:pPr marL="0" indent="0" algn="ctr">
              <a:buNone/>
            </a:pPr>
            <a:r>
              <a:rPr lang="en-US" sz="800" dirty="0">
                <a:solidFill>
                  <a:srgbClr val="6B7280"/>
                </a:solidFill>
              </a:rPr>
              <a:t>Auto</a:t>
            </a:r>
            <a:endParaRPr lang="en-US" sz="800" dirty="0"/>
          </a:p>
        </p:txBody>
      </p:sp>
      <p:sp>
        <p:nvSpPr>
          <p:cNvPr id="48" name="Text 38"/>
          <p:cNvSpPr/>
          <p:nvPr/>
        </p:nvSpPr>
        <p:spPr>
          <a:xfrm>
            <a:off x="5248656" y="1691640"/>
            <a:ext cx="1097280" cy="548640"/>
          </a:xfrm>
          <a:prstGeom prst="rect">
            <a:avLst/>
          </a:prstGeom>
          <a:noFill/>
          <a:ln/>
        </p:spPr>
        <p:txBody>
          <a:bodyPr wrap="square" rtlCol="0" anchor="ctr"/>
          <a:lstStyle/>
          <a:p>
            <a:pPr marL="0" indent="0" algn="ctr">
              <a:buNone/>
            </a:pPr>
            <a:r>
              <a:rPr lang="en-US" sz="2000" b="1" dirty="0">
                <a:solidFill>
                  <a:srgbClr val="1A1A1A"/>
                </a:solidFill>
              </a:rPr>
              <a:t>2.48</a:t>
            </a:r>
            <a:endParaRPr lang="en-US" sz="2000" dirty="0"/>
          </a:p>
        </p:txBody>
      </p:sp>
      <p:pic>
        <p:nvPicPr>
          <p:cNvPr id="49" name="Image 8" descr="preencoded.png"/>
          <p:cNvPicPr>
            <a:picLocks noChangeAspect="1"/>
          </p:cNvPicPr>
          <p:nvPr/>
        </p:nvPicPr>
        <p:blipFill>
          <a:blip r:embed="rId3"/>
          <a:stretch>
            <a:fillRect/>
          </a:stretch>
        </p:blipFill>
        <p:spPr>
          <a:xfrm>
            <a:off x="5568696" y="2286000"/>
            <a:ext cx="201168" cy="201168"/>
          </a:xfrm>
          <a:prstGeom prst="rect">
            <a:avLst/>
          </a:prstGeom>
        </p:spPr>
      </p:pic>
      <p:sp>
        <p:nvSpPr>
          <p:cNvPr id="50" name="Shape 39"/>
          <p:cNvSpPr/>
          <p:nvPr/>
        </p:nvSpPr>
        <p:spPr>
          <a:xfrm>
            <a:off x="5248656" y="2834640"/>
            <a:ext cx="1097280" cy="1463040"/>
          </a:xfrm>
          <a:prstGeom prst="rect">
            <a:avLst/>
          </a:prstGeom>
          <a:solidFill>
            <a:srgbClr val="FFFFFF"/>
          </a:solidFill>
          <a:ln/>
          <a:effectLst>
            <a:outerShdw blurRad="50800" dist="25400" dir="8100000" algn="bl" rotWithShape="0">
              <a:srgbClr val="000000">
                <a:alpha val="10000"/>
              </a:srgbClr>
            </a:outerShdw>
          </a:effectLst>
        </p:spPr>
      </p:sp>
      <p:sp>
        <p:nvSpPr>
          <p:cNvPr id="51" name="Shape 40"/>
          <p:cNvSpPr/>
          <p:nvPr/>
        </p:nvSpPr>
        <p:spPr>
          <a:xfrm>
            <a:off x="5248656" y="2834640"/>
            <a:ext cx="1097280" cy="54864"/>
          </a:xfrm>
          <a:prstGeom prst="rect">
            <a:avLst/>
          </a:prstGeom>
          <a:solidFill>
            <a:srgbClr val="6B7280"/>
          </a:solidFill>
          <a:ln/>
        </p:spPr>
      </p:sp>
      <p:sp>
        <p:nvSpPr>
          <p:cNvPr id="52" name="Text 41"/>
          <p:cNvSpPr/>
          <p:nvPr/>
        </p:nvSpPr>
        <p:spPr>
          <a:xfrm>
            <a:off x="5248656" y="2907792"/>
            <a:ext cx="1097280" cy="411480"/>
          </a:xfrm>
          <a:prstGeom prst="rect">
            <a:avLst/>
          </a:prstGeom>
          <a:noFill/>
          <a:ln/>
        </p:spPr>
        <p:txBody>
          <a:bodyPr wrap="square" rtlCol="0" anchor="ctr"/>
          <a:lstStyle/>
          <a:p>
            <a:pPr marL="0" indent="0" algn="ctr">
              <a:buNone/>
            </a:pPr>
            <a:r>
              <a:rPr lang="en-US" sz="800" dirty="0">
                <a:solidFill>
                  <a:srgbClr val="6B7280"/>
                </a:solidFill>
              </a:rPr>
              <a:t>Auto</a:t>
            </a:r>
            <a:endParaRPr lang="en-US" sz="800" dirty="0"/>
          </a:p>
        </p:txBody>
      </p:sp>
      <p:sp>
        <p:nvSpPr>
          <p:cNvPr id="53" name="Text 42"/>
          <p:cNvSpPr/>
          <p:nvPr/>
        </p:nvSpPr>
        <p:spPr>
          <a:xfrm>
            <a:off x="5248656" y="3337560"/>
            <a:ext cx="1097280" cy="548640"/>
          </a:xfrm>
          <a:prstGeom prst="rect">
            <a:avLst/>
          </a:prstGeom>
          <a:noFill/>
          <a:ln/>
        </p:spPr>
        <p:txBody>
          <a:bodyPr wrap="square" rtlCol="0" anchor="ctr"/>
          <a:lstStyle/>
          <a:p>
            <a:pPr marL="0" indent="0" algn="ctr">
              <a:buNone/>
            </a:pPr>
            <a:r>
              <a:rPr lang="en-US" sz="2000" b="1" dirty="0">
                <a:solidFill>
                  <a:srgbClr val="2D2D2D"/>
                </a:solidFill>
              </a:rPr>
              <a:t>2.47</a:t>
            </a:r>
            <a:endParaRPr lang="en-US" sz="2000" dirty="0"/>
          </a:p>
        </p:txBody>
      </p:sp>
      <p:pic>
        <p:nvPicPr>
          <p:cNvPr id="54" name="Image 9" descr="preencoded.png"/>
          <p:cNvPicPr>
            <a:picLocks noChangeAspect="1"/>
          </p:cNvPicPr>
          <p:nvPr/>
        </p:nvPicPr>
        <p:blipFill>
          <a:blip r:embed="rId3"/>
          <a:stretch>
            <a:fillRect/>
          </a:stretch>
        </p:blipFill>
        <p:spPr>
          <a:xfrm>
            <a:off x="5568696" y="3931920"/>
            <a:ext cx="201168" cy="201168"/>
          </a:xfrm>
          <a:prstGeom prst="rect">
            <a:avLst/>
          </a:prstGeom>
        </p:spPr>
      </p:pic>
      <p:sp>
        <p:nvSpPr>
          <p:cNvPr id="55" name="Shape 43"/>
          <p:cNvSpPr/>
          <p:nvPr/>
        </p:nvSpPr>
        <p:spPr>
          <a:xfrm>
            <a:off x="6492240" y="1188720"/>
            <a:ext cx="1097280" cy="1463040"/>
          </a:xfrm>
          <a:prstGeom prst="rect">
            <a:avLst/>
          </a:prstGeom>
          <a:solidFill>
            <a:srgbClr val="FFFFFF"/>
          </a:solidFill>
          <a:ln/>
          <a:effectLst>
            <a:outerShdw blurRad="50800" dist="25400" dir="8100000" algn="bl" rotWithShape="0">
              <a:srgbClr val="000000">
                <a:alpha val="10000"/>
              </a:srgbClr>
            </a:outerShdw>
          </a:effectLst>
        </p:spPr>
      </p:sp>
      <p:sp>
        <p:nvSpPr>
          <p:cNvPr id="56" name="Shape 44"/>
          <p:cNvSpPr/>
          <p:nvPr/>
        </p:nvSpPr>
        <p:spPr>
          <a:xfrm>
            <a:off x="6492240" y="1188720"/>
            <a:ext cx="1097280" cy="54864"/>
          </a:xfrm>
          <a:prstGeom prst="rect">
            <a:avLst/>
          </a:prstGeom>
          <a:solidFill>
            <a:srgbClr val="F5C518"/>
          </a:solidFill>
          <a:ln/>
        </p:spPr>
      </p:sp>
      <p:sp>
        <p:nvSpPr>
          <p:cNvPr id="57" name="Text 45"/>
          <p:cNvSpPr/>
          <p:nvPr/>
        </p:nvSpPr>
        <p:spPr>
          <a:xfrm>
            <a:off x="6492240" y="1261872"/>
            <a:ext cx="1097280" cy="411480"/>
          </a:xfrm>
          <a:prstGeom prst="rect">
            <a:avLst/>
          </a:prstGeom>
          <a:noFill/>
          <a:ln/>
        </p:spPr>
        <p:txBody>
          <a:bodyPr wrap="square" rtlCol="0" anchor="ctr"/>
          <a:lstStyle/>
          <a:p>
            <a:pPr marL="0" indent="0" algn="ctr">
              <a:buNone/>
            </a:pPr>
            <a:r>
              <a:rPr lang="en-US" sz="800" dirty="0">
                <a:solidFill>
                  <a:srgbClr val="6B7280"/>
                </a:solidFill>
              </a:rPr>
              <a:t>Bike</a:t>
            </a:r>
            <a:endParaRPr lang="en-US" sz="800" dirty="0"/>
          </a:p>
        </p:txBody>
      </p:sp>
      <p:sp>
        <p:nvSpPr>
          <p:cNvPr id="58" name="Text 46"/>
          <p:cNvSpPr/>
          <p:nvPr/>
        </p:nvSpPr>
        <p:spPr>
          <a:xfrm>
            <a:off x="6492240" y="1691640"/>
            <a:ext cx="1097280" cy="548640"/>
          </a:xfrm>
          <a:prstGeom prst="rect">
            <a:avLst/>
          </a:prstGeom>
          <a:noFill/>
          <a:ln/>
        </p:spPr>
        <p:txBody>
          <a:bodyPr wrap="square" rtlCol="0" anchor="ctr"/>
          <a:lstStyle/>
          <a:p>
            <a:pPr marL="0" indent="0" algn="ctr">
              <a:buNone/>
            </a:pPr>
            <a:r>
              <a:rPr lang="en-US" sz="2000" b="1" dirty="0">
                <a:solidFill>
                  <a:srgbClr val="1A1A1A"/>
                </a:solidFill>
              </a:rPr>
              <a:t>2.47</a:t>
            </a:r>
            <a:endParaRPr lang="en-US" sz="2000" dirty="0"/>
          </a:p>
        </p:txBody>
      </p:sp>
      <p:pic>
        <p:nvPicPr>
          <p:cNvPr id="59" name="Image 10" descr="preencoded.png"/>
          <p:cNvPicPr>
            <a:picLocks noChangeAspect="1"/>
          </p:cNvPicPr>
          <p:nvPr/>
        </p:nvPicPr>
        <p:blipFill>
          <a:blip r:embed="rId3"/>
          <a:stretch>
            <a:fillRect/>
          </a:stretch>
        </p:blipFill>
        <p:spPr>
          <a:xfrm>
            <a:off x="6812280" y="2286000"/>
            <a:ext cx="201168" cy="201168"/>
          </a:xfrm>
          <a:prstGeom prst="rect">
            <a:avLst/>
          </a:prstGeom>
        </p:spPr>
      </p:pic>
      <p:sp>
        <p:nvSpPr>
          <p:cNvPr id="60" name="Shape 47"/>
          <p:cNvSpPr/>
          <p:nvPr/>
        </p:nvSpPr>
        <p:spPr>
          <a:xfrm>
            <a:off x="6492240" y="2834640"/>
            <a:ext cx="1097280" cy="1463040"/>
          </a:xfrm>
          <a:prstGeom prst="rect">
            <a:avLst/>
          </a:prstGeom>
          <a:solidFill>
            <a:srgbClr val="FFFFFF"/>
          </a:solidFill>
          <a:ln/>
          <a:effectLst>
            <a:outerShdw blurRad="50800" dist="25400" dir="8100000" algn="bl" rotWithShape="0">
              <a:srgbClr val="000000">
                <a:alpha val="10000"/>
              </a:srgbClr>
            </a:outerShdw>
          </a:effectLst>
        </p:spPr>
      </p:sp>
      <p:sp>
        <p:nvSpPr>
          <p:cNvPr id="61" name="Shape 48"/>
          <p:cNvSpPr/>
          <p:nvPr/>
        </p:nvSpPr>
        <p:spPr>
          <a:xfrm>
            <a:off x="6492240" y="2834640"/>
            <a:ext cx="1097280" cy="54864"/>
          </a:xfrm>
          <a:prstGeom prst="rect">
            <a:avLst/>
          </a:prstGeom>
          <a:solidFill>
            <a:srgbClr val="6B7280"/>
          </a:solidFill>
          <a:ln/>
        </p:spPr>
      </p:sp>
      <p:sp>
        <p:nvSpPr>
          <p:cNvPr id="62" name="Text 49"/>
          <p:cNvSpPr/>
          <p:nvPr/>
        </p:nvSpPr>
        <p:spPr>
          <a:xfrm>
            <a:off x="6492240" y="2907792"/>
            <a:ext cx="1097280" cy="411480"/>
          </a:xfrm>
          <a:prstGeom prst="rect">
            <a:avLst/>
          </a:prstGeom>
          <a:noFill/>
          <a:ln/>
        </p:spPr>
        <p:txBody>
          <a:bodyPr wrap="square" rtlCol="0" anchor="ctr"/>
          <a:lstStyle/>
          <a:p>
            <a:pPr marL="0" indent="0" algn="ctr">
              <a:buNone/>
            </a:pPr>
            <a:r>
              <a:rPr lang="en-US" sz="800" dirty="0">
                <a:solidFill>
                  <a:srgbClr val="6B7280"/>
                </a:solidFill>
              </a:rPr>
              <a:t>Bike</a:t>
            </a:r>
            <a:endParaRPr lang="en-US" sz="800" dirty="0"/>
          </a:p>
        </p:txBody>
      </p:sp>
      <p:sp>
        <p:nvSpPr>
          <p:cNvPr id="63" name="Text 50"/>
          <p:cNvSpPr/>
          <p:nvPr/>
        </p:nvSpPr>
        <p:spPr>
          <a:xfrm>
            <a:off x="6492240" y="3337560"/>
            <a:ext cx="1097280" cy="548640"/>
          </a:xfrm>
          <a:prstGeom prst="rect">
            <a:avLst/>
          </a:prstGeom>
          <a:noFill/>
          <a:ln/>
        </p:spPr>
        <p:txBody>
          <a:bodyPr wrap="square" rtlCol="0" anchor="ctr"/>
          <a:lstStyle/>
          <a:p>
            <a:pPr marL="0" indent="0" algn="ctr">
              <a:buNone/>
            </a:pPr>
            <a:r>
              <a:rPr lang="en-US" sz="2000" b="1" dirty="0">
                <a:solidFill>
                  <a:srgbClr val="2D2D2D"/>
                </a:solidFill>
              </a:rPr>
              <a:t>2.48</a:t>
            </a:r>
            <a:endParaRPr lang="en-US" sz="2000" dirty="0"/>
          </a:p>
        </p:txBody>
      </p:sp>
      <p:pic>
        <p:nvPicPr>
          <p:cNvPr id="64" name="Image 11" descr="preencoded.png"/>
          <p:cNvPicPr>
            <a:picLocks noChangeAspect="1"/>
          </p:cNvPicPr>
          <p:nvPr/>
        </p:nvPicPr>
        <p:blipFill>
          <a:blip r:embed="rId3"/>
          <a:stretch>
            <a:fillRect/>
          </a:stretch>
        </p:blipFill>
        <p:spPr>
          <a:xfrm>
            <a:off x="6812280" y="3931920"/>
            <a:ext cx="201168" cy="201168"/>
          </a:xfrm>
          <a:prstGeom prst="rect">
            <a:avLst/>
          </a:prstGeom>
        </p:spPr>
      </p:pic>
      <p:sp>
        <p:nvSpPr>
          <p:cNvPr id="65" name="Shape 51"/>
          <p:cNvSpPr/>
          <p:nvPr/>
        </p:nvSpPr>
        <p:spPr>
          <a:xfrm>
            <a:off x="7735824" y="1188720"/>
            <a:ext cx="1097280" cy="1463040"/>
          </a:xfrm>
          <a:prstGeom prst="rect">
            <a:avLst/>
          </a:prstGeom>
          <a:solidFill>
            <a:srgbClr val="FFFFFF"/>
          </a:solidFill>
          <a:ln/>
          <a:effectLst>
            <a:outerShdw blurRad="50800" dist="25400" dir="8100000" algn="bl" rotWithShape="0">
              <a:srgbClr val="000000">
                <a:alpha val="10000"/>
              </a:srgbClr>
            </a:outerShdw>
          </a:effectLst>
        </p:spPr>
      </p:sp>
      <p:sp>
        <p:nvSpPr>
          <p:cNvPr id="66" name="Shape 52"/>
          <p:cNvSpPr/>
          <p:nvPr/>
        </p:nvSpPr>
        <p:spPr>
          <a:xfrm>
            <a:off x="7735824" y="1188720"/>
            <a:ext cx="1097280" cy="54864"/>
          </a:xfrm>
          <a:prstGeom prst="rect">
            <a:avLst/>
          </a:prstGeom>
          <a:solidFill>
            <a:srgbClr val="F5C518"/>
          </a:solidFill>
          <a:ln/>
        </p:spPr>
      </p:sp>
      <p:sp>
        <p:nvSpPr>
          <p:cNvPr id="67" name="Text 53"/>
          <p:cNvSpPr/>
          <p:nvPr/>
        </p:nvSpPr>
        <p:spPr>
          <a:xfrm>
            <a:off x="7735824" y="1261872"/>
            <a:ext cx="1097280" cy="411480"/>
          </a:xfrm>
          <a:prstGeom prst="rect">
            <a:avLst/>
          </a:prstGeom>
          <a:noFill/>
          <a:ln/>
        </p:spPr>
        <p:txBody>
          <a:bodyPr wrap="square" rtlCol="0" anchor="ctr"/>
          <a:lstStyle/>
          <a:p>
            <a:pPr marL="0" indent="0" algn="ctr">
              <a:buNone/>
            </a:pPr>
            <a:r>
              <a:rPr lang="en-US" sz="800" dirty="0">
                <a:solidFill>
                  <a:srgbClr val="6B7280"/>
                </a:solidFill>
              </a:rPr>
              <a:t>E-Bike</a:t>
            </a:r>
            <a:endParaRPr lang="en-US" sz="800" dirty="0"/>
          </a:p>
        </p:txBody>
      </p:sp>
      <p:sp>
        <p:nvSpPr>
          <p:cNvPr id="68" name="Text 54"/>
          <p:cNvSpPr/>
          <p:nvPr/>
        </p:nvSpPr>
        <p:spPr>
          <a:xfrm>
            <a:off x="7735824" y="1691640"/>
            <a:ext cx="1097280" cy="548640"/>
          </a:xfrm>
          <a:prstGeom prst="rect">
            <a:avLst/>
          </a:prstGeom>
          <a:noFill/>
          <a:ln/>
        </p:spPr>
        <p:txBody>
          <a:bodyPr wrap="square" rtlCol="0" anchor="ctr"/>
          <a:lstStyle/>
          <a:p>
            <a:pPr marL="0" indent="0" algn="ctr">
              <a:buNone/>
            </a:pPr>
            <a:r>
              <a:rPr lang="en-US" sz="2000" b="1" dirty="0">
                <a:solidFill>
                  <a:srgbClr val="1A1A1A"/>
                </a:solidFill>
              </a:rPr>
              <a:t>2.46</a:t>
            </a:r>
            <a:endParaRPr lang="en-US" sz="2000" dirty="0"/>
          </a:p>
        </p:txBody>
      </p:sp>
      <p:pic>
        <p:nvPicPr>
          <p:cNvPr id="69" name="Image 12" descr="preencoded.png"/>
          <p:cNvPicPr>
            <a:picLocks noChangeAspect="1"/>
          </p:cNvPicPr>
          <p:nvPr/>
        </p:nvPicPr>
        <p:blipFill>
          <a:blip r:embed="rId3"/>
          <a:stretch>
            <a:fillRect/>
          </a:stretch>
        </p:blipFill>
        <p:spPr>
          <a:xfrm>
            <a:off x="8055864" y="2286000"/>
            <a:ext cx="201168" cy="201168"/>
          </a:xfrm>
          <a:prstGeom prst="rect">
            <a:avLst/>
          </a:prstGeom>
        </p:spPr>
      </p:pic>
      <p:sp>
        <p:nvSpPr>
          <p:cNvPr id="70" name="Shape 55"/>
          <p:cNvSpPr/>
          <p:nvPr/>
        </p:nvSpPr>
        <p:spPr>
          <a:xfrm>
            <a:off x="7735824" y="2834640"/>
            <a:ext cx="1097280" cy="1463040"/>
          </a:xfrm>
          <a:prstGeom prst="rect">
            <a:avLst/>
          </a:prstGeom>
          <a:solidFill>
            <a:srgbClr val="FFFFFF"/>
          </a:solidFill>
          <a:ln/>
          <a:effectLst>
            <a:outerShdw blurRad="50800" dist="25400" dir="8100000" algn="bl" rotWithShape="0">
              <a:srgbClr val="000000">
                <a:alpha val="10000"/>
              </a:srgbClr>
            </a:outerShdw>
          </a:effectLst>
        </p:spPr>
      </p:sp>
      <p:sp>
        <p:nvSpPr>
          <p:cNvPr id="71" name="Shape 56"/>
          <p:cNvSpPr/>
          <p:nvPr/>
        </p:nvSpPr>
        <p:spPr>
          <a:xfrm>
            <a:off x="7735824" y="2834640"/>
            <a:ext cx="1097280" cy="54864"/>
          </a:xfrm>
          <a:prstGeom prst="rect">
            <a:avLst/>
          </a:prstGeom>
          <a:solidFill>
            <a:srgbClr val="6B7280"/>
          </a:solidFill>
          <a:ln/>
        </p:spPr>
      </p:sp>
      <p:sp>
        <p:nvSpPr>
          <p:cNvPr id="72" name="Text 57"/>
          <p:cNvSpPr/>
          <p:nvPr/>
        </p:nvSpPr>
        <p:spPr>
          <a:xfrm>
            <a:off x="7735824" y="2907792"/>
            <a:ext cx="1097280" cy="411480"/>
          </a:xfrm>
          <a:prstGeom prst="rect">
            <a:avLst/>
          </a:prstGeom>
          <a:noFill/>
          <a:ln/>
        </p:spPr>
        <p:txBody>
          <a:bodyPr wrap="square" rtlCol="0" anchor="ctr"/>
          <a:lstStyle/>
          <a:p>
            <a:pPr marL="0" indent="0" algn="ctr">
              <a:buNone/>
            </a:pPr>
            <a:r>
              <a:rPr lang="en-US" sz="800" dirty="0">
                <a:solidFill>
                  <a:srgbClr val="6B7280"/>
                </a:solidFill>
              </a:rPr>
              <a:t>E-Bike</a:t>
            </a:r>
            <a:endParaRPr lang="en-US" sz="800" dirty="0"/>
          </a:p>
        </p:txBody>
      </p:sp>
      <p:sp>
        <p:nvSpPr>
          <p:cNvPr id="73" name="Text 58"/>
          <p:cNvSpPr/>
          <p:nvPr/>
        </p:nvSpPr>
        <p:spPr>
          <a:xfrm>
            <a:off x="7735824" y="3337560"/>
            <a:ext cx="1097280" cy="548640"/>
          </a:xfrm>
          <a:prstGeom prst="rect">
            <a:avLst/>
          </a:prstGeom>
          <a:noFill/>
          <a:ln/>
        </p:spPr>
        <p:txBody>
          <a:bodyPr wrap="square" rtlCol="0" anchor="ctr"/>
          <a:lstStyle/>
          <a:p>
            <a:pPr marL="0" indent="0" algn="ctr">
              <a:buNone/>
            </a:pPr>
            <a:r>
              <a:rPr lang="en-US" sz="2000" b="1" dirty="0">
                <a:solidFill>
                  <a:srgbClr val="2D2D2D"/>
                </a:solidFill>
              </a:rPr>
              <a:t>2.45</a:t>
            </a:r>
            <a:endParaRPr lang="en-US" sz="2000" dirty="0"/>
          </a:p>
        </p:txBody>
      </p:sp>
      <p:pic>
        <p:nvPicPr>
          <p:cNvPr id="74" name="Image 13" descr="preencoded.png"/>
          <p:cNvPicPr>
            <a:picLocks noChangeAspect="1"/>
          </p:cNvPicPr>
          <p:nvPr/>
        </p:nvPicPr>
        <p:blipFill>
          <a:blip r:embed="rId3"/>
          <a:stretch>
            <a:fillRect/>
          </a:stretch>
        </p:blipFill>
        <p:spPr>
          <a:xfrm>
            <a:off x="8055864" y="3931920"/>
            <a:ext cx="201168" cy="201168"/>
          </a:xfrm>
          <a:prstGeom prst="rect">
            <a:avLst/>
          </a:prstGeom>
        </p:spPr>
      </p:pic>
      <p:sp>
        <p:nvSpPr>
          <p:cNvPr id="75" name="Text 59"/>
          <p:cNvSpPr/>
          <p:nvPr/>
        </p:nvSpPr>
        <p:spPr>
          <a:xfrm>
            <a:off x="228600" y="969264"/>
            <a:ext cx="2286000" cy="274320"/>
          </a:xfrm>
          <a:prstGeom prst="rect">
            <a:avLst/>
          </a:prstGeom>
          <a:noFill/>
          <a:ln/>
        </p:spPr>
        <p:txBody>
          <a:bodyPr wrap="square" rtlCol="0" anchor="ctr"/>
          <a:lstStyle/>
          <a:p>
            <a:pPr marL="0" indent="0">
              <a:buNone/>
            </a:pPr>
            <a:r>
              <a:rPr lang="en-US" sz="1000" dirty="0">
                <a:solidFill>
                  <a:srgbClr val="1A1A1A"/>
                </a:solidFill>
              </a:rPr>
              <a:t>★  Driver Ratings</a:t>
            </a:r>
            <a:endParaRPr lang="en-US" sz="1000" dirty="0"/>
          </a:p>
        </p:txBody>
      </p:sp>
      <p:sp>
        <p:nvSpPr>
          <p:cNvPr id="76" name="Text 60"/>
          <p:cNvSpPr/>
          <p:nvPr/>
        </p:nvSpPr>
        <p:spPr>
          <a:xfrm>
            <a:off x="194134" y="2583180"/>
            <a:ext cx="2286000" cy="274320"/>
          </a:xfrm>
          <a:prstGeom prst="rect">
            <a:avLst/>
          </a:prstGeom>
          <a:noFill/>
          <a:ln/>
        </p:spPr>
        <p:txBody>
          <a:bodyPr wrap="square" rtlCol="0" anchor="ctr"/>
          <a:lstStyle/>
          <a:p>
            <a:pPr marL="0" indent="0">
              <a:buNone/>
            </a:pPr>
            <a:r>
              <a:rPr lang="en-US" sz="1000" dirty="0">
                <a:solidFill>
                  <a:srgbClr val="6B7280"/>
                </a:solidFill>
              </a:rPr>
              <a:t>★  Customer Ratings</a:t>
            </a:r>
            <a:endParaRPr lang="en-US" sz="1000" dirty="0"/>
          </a:p>
        </p:txBody>
      </p:sp>
      <p:sp>
        <p:nvSpPr>
          <p:cNvPr id="77" name="Text 61"/>
          <p:cNvSpPr/>
          <p:nvPr/>
        </p:nvSpPr>
        <p:spPr>
          <a:xfrm>
            <a:off x="4220308" y="4370832"/>
            <a:ext cx="4649372" cy="772668"/>
          </a:xfrm>
          <a:prstGeom prst="rect">
            <a:avLst/>
          </a:prstGeom>
          <a:noFill/>
          <a:ln/>
        </p:spPr>
        <p:txBody>
          <a:bodyPr wrap="square" rtlCol="0" anchor="ctr"/>
          <a:lstStyle/>
          <a:p>
            <a:pPr marL="0" indent="0" algn="r">
              <a:buNone/>
            </a:pPr>
            <a:endParaRPr lang="en-US" sz="900" dirty="0"/>
          </a:p>
        </p:txBody>
      </p:sp>
      <p:sp>
        <p:nvSpPr>
          <p:cNvPr id="78" name="TextBox 77">
            <a:extLst>
              <a:ext uri="{FF2B5EF4-FFF2-40B4-BE49-F238E27FC236}">
                <a16:creationId xmlns:a16="http://schemas.microsoft.com/office/drawing/2014/main" id="{0DED0F64-2937-AC03-9273-DC83782C0AEF}"/>
              </a:ext>
            </a:extLst>
          </p:cNvPr>
          <p:cNvSpPr txBox="1"/>
          <p:nvPr/>
        </p:nvSpPr>
        <p:spPr>
          <a:xfrm>
            <a:off x="4364502" y="4080057"/>
            <a:ext cx="4649372" cy="1354217"/>
          </a:xfrm>
          <a:prstGeom prst="rect">
            <a:avLst/>
          </a:prstGeom>
          <a:noFill/>
        </p:spPr>
        <p:txBody>
          <a:bodyPr wrap="square" rtlCol="0">
            <a:spAutoFit/>
          </a:bodyPr>
          <a:lstStyle/>
          <a:p>
            <a:br>
              <a:rPr lang="en-US" sz="1600" dirty="0"/>
            </a:br>
            <a:r>
              <a:rPr lang="en-US" sz="1600" dirty="0"/>
              <a:t>It highlights that ratings are almost similar across all vehicles, indicating consistent service quality but also showing scope for overall improvement.</a:t>
            </a:r>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F5C518"/>
          </a:solidFill>
          <a:ln/>
        </p:spPr>
      </p:sp>
      <p:sp>
        <p:nvSpPr>
          <p:cNvPr id="3" name="Text 1"/>
          <p:cNvSpPr/>
          <p:nvPr/>
        </p:nvSpPr>
        <p:spPr>
          <a:xfrm>
            <a:off x="365760" y="0"/>
            <a:ext cx="8229600" cy="594360"/>
          </a:xfrm>
          <a:prstGeom prst="rect">
            <a:avLst/>
          </a:prstGeom>
          <a:noFill/>
          <a:ln/>
        </p:spPr>
        <p:txBody>
          <a:bodyPr wrap="square" rtlCol="0" anchor="ctr"/>
          <a:lstStyle/>
          <a:p>
            <a:pPr marL="0" indent="0">
              <a:buNone/>
            </a:pPr>
            <a:r>
              <a:rPr lang="en-US" sz="1300" b="1" dirty="0">
                <a:solidFill>
                  <a:srgbClr val="1A1A1A"/>
                </a:solidFill>
              </a:rPr>
              <a:t>💡  KEY BUSINESS INSIGHTS</a:t>
            </a:r>
            <a:endParaRPr lang="en-US" sz="1300" dirty="0"/>
          </a:p>
        </p:txBody>
      </p:sp>
      <p:sp>
        <p:nvSpPr>
          <p:cNvPr id="4" name="Shape 2"/>
          <p:cNvSpPr/>
          <p:nvPr/>
        </p:nvSpPr>
        <p:spPr>
          <a:xfrm>
            <a:off x="274320" y="777240"/>
            <a:ext cx="4206240" cy="1234440"/>
          </a:xfrm>
          <a:prstGeom prst="rect">
            <a:avLst/>
          </a:prstGeom>
          <a:solidFill>
            <a:srgbClr val="1F1F1F"/>
          </a:solidFill>
          <a:ln/>
          <a:effectLst>
            <a:outerShdw blurRad="76200" dist="25400" dir="8100000" algn="bl" rotWithShape="0">
              <a:srgbClr val="000000">
                <a:alpha val="30000"/>
              </a:srgbClr>
            </a:outerShdw>
          </a:effectLst>
        </p:spPr>
      </p:sp>
      <p:sp>
        <p:nvSpPr>
          <p:cNvPr id="5" name="Shape 3"/>
          <p:cNvSpPr/>
          <p:nvPr/>
        </p:nvSpPr>
        <p:spPr>
          <a:xfrm>
            <a:off x="274320" y="777240"/>
            <a:ext cx="54864" cy="1234440"/>
          </a:xfrm>
          <a:prstGeom prst="rect">
            <a:avLst/>
          </a:prstGeom>
          <a:solidFill>
            <a:srgbClr val="F5C518"/>
          </a:solidFill>
          <a:ln/>
        </p:spPr>
      </p:sp>
      <p:pic>
        <p:nvPicPr>
          <p:cNvPr id="6" name="Image 0" descr="preencoded.png"/>
          <p:cNvPicPr>
            <a:picLocks noChangeAspect="1"/>
          </p:cNvPicPr>
          <p:nvPr/>
        </p:nvPicPr>
        <p:blipFill>
          <a:blip r:embed="rId3"/>
          <a:stretch>
            <a:fillRect/>
          </a:stretch>
        </p:blipFill>
        <p:spPr>
          <a:xfrm>
            <a:off x="411480" y="914400"/>
            <a:ext cx="347472" cy="347472"/>
          </a:xfrm>
          <a:prstGeom prst="rect">
            <a:avLst/>
          </a:prstGeom>
        </p:spPr>
      </p:pic>
      <p:sp>
        <p:nvSpPr>
          <p:cNvPr id="7" name="Text 4"/>
          <p:cNvSpPr/>
          <p:nvPr/>
        </p:nvSpPr>
        <p:spPr>
          <a:xfrm>
            <a:off x="868680" y="868680"/>
            <a:ext cx="3383280" cy="347472"/>
          </a:xfrm>
          <a:prstGeom prst="rect">
            <a:avLst/>
          </a:prstGeom>
          <a:noFill/>
          <a:ln/>
        </p:spPr>
        <p:txBody>
          <a:bodyPr wrap="square" rtlCol="0" anchor="ctr"/>
          <a:lstStyle/>
          <a:p>
            <a:pPr marL="0" indent="0">
              <a:buNone/>
            </a:pPr>
            <a:r>
              <a:rPr lang="en-US" sz="1200" b="1" dirty="0">
                <a:solidFill>
                  <a:srgbClr val="F5C518"/>
                </a:solidFill>
              </a:rPr>
              <a:t>High Cancellation Rate</a:t>
            </a:r>
            <a:endParaRPr lang="en-US" sz="1200" dirty="0"/>
          </a:p>
        </p:txBody>
      </p:sp>
      <p:sp>
        <p:nvSpPr>
          <p:cNvPr id="8" name="Text 5"/>
          <p:cNvSpPr/>
          <p:nvPr/>
        </p:nvSpPr>
        <p:spPr>
          <a:xfrm>
            <a:off x="868680" y="1234440"/>
            <a:ext cx="3474720" cy="685800"/>
          </a:xfrm>
          <a:prstGeom prst="rect">
            <a:avLst/>
          </a:prstGeom>
          <a:noFill/>
          <a:ln/>
        </p:spPr>
        <p:txBody>
          <a:bodyPr wrap="square" rtlCol="0" anchor="ctr"/>
          <a:lstStyle/>
          <a:p>
            <a:pPr marL="0" indent="0">
              <a:buNone/>
            </a:pPr>
            <a:r>
              <a:rPr lang="en-US" sz="950" dirty="0">
                <a:solidFill>
                  <a:srgbClr val="CCCCCC"/>
                </a:solidFill>
              </a:rPr>
              <a:t>28.08% cancellation rate is critical. Drivers account for 18,434 cancellations — mainly personal/car issues.</a:t>
            </a:r>
            <a:endParaRPr lang="en-US" sz="950" dirty="0"/>
          </a:p>
        </p:txBody>
      </p:sp>
      <p:sp>
        <p:nvSpPr>
          <p:cNvPr id="9" name="Shape 6"/>
          <p:cNvSpPr/>
          <p:nvPr/>
        </p:nvSpPr>
        <p:spPr>
          <a:xfrm>
            <a:off x="4754880" y="777240"/>
            <a:ext cx="4206240" cy="1234440"/>
          </a:xfrm>
          <a:prstGeom prst="rect">
            <a:avLst/>
          </a:prstGeom>
          <a:solidFill>
            <a:srgbClr val="1F1F1F"/>
          </a:solidFill>
          <a:ln/>
          <a:effectLst>
            <a:outerShdw blurRad="76200" dist="25400" dir="8100000" algn="bl" rotWithShape="0">
              <a:srgbClr val="000000">
                <a:alpha val="30000"/>
              </a:srgbClr>
            </a:outerShdw>
          </a:effectLst>
        </p:spPr>
      </p:sp>
      <p:sp>
        <p:nvSpPr>
          <p:cNvPr id="10" name="Shape 7"/>
          <p:cNvSpPr/>
          <p:nvPr/>
        </p:nvSpPr>
        <p:spPr>
          <a:xfrm>
            <a:off x="4754880" y="777240"/>
            <a:ext cx="54864" cy="1234440"/>
          </a:xfrm>
          <a:prstGeom prst="rect">
            <a:avLst/>
          </a:prstGeom>
          <a:solidFill>
            <a:srgbClr val="F5C518"/>
          </a:solidFill>
          <a:ln/>
        </p:spPr>
      </p:sp>
      <p:pic>
        <p:nvPicPr>
          <p:cNvPr id="11" name="Image 1" descr="preencoded.png"/>
          <p:cNvPicPr>
            <a:picLocks noChangeAspect="1"/>
          </p:cNvPicPr>
          <p:nvPr/>
        </p:nvPicPr>
        <p:blipFill>
          <a:blip r:embed="rId4"/>
          <a:stretch>
            <a:fillRect/>
          </a:stretch>
        </p:blipFill>
        <p:spPr>
          <a:xfrm>
            <a:off x="4892040" y="914400"/>
            <a:ext cx="347472" cy="347472"/>
          </a:xfrm>
          <a:prstGeom prst="rect">
            <a:avLst/>
          </a:prstGeom>
        </p:spPr>
      </p:pic>
      <p:sp>
        <p:nvSpPr>
          <p:cNvPr id="12" name="Text 8"/>
          <p:cNvSpPr/>
          <p:nvPr/>
        </p:nvSpPr>
        <p:spPr>
          <a:xfrm>
            <a:off x="5349240" y="868680"/>
            <a:ext cx="3383280" cy="347472"/>
          </a:xfrm>
          <a:prstGeom prst="rect">
            <a:avLst/>
          </a:prstGeom>
          <a:noFill/>
          <a:ln/>
        </p:spPr>
        <p:txBody>
          <a:bodyPr wrap="square" rtlCol="0" anchor="ctr"/>
          <a:lstStyle/>
          <a:p>
            <a:pPr marL="0" indent="0">
              <a:buNone/>
            </a:pPr>
            <a:r>
              <a:rPr lang="en-US" sz="1200" b="1" dirty="0">
                <a:solidFill>
                  <a:srgbClr val="F5C518"/>
                </a:solidFill>
              </a:rPr>
              <a:t>Revenue Concentration</a:t>
            </a:r>
            <a:endParaRPr lang="en-US" sz="1200" dirty="0"/>
          </a:p>
        </p:txBody>
      </p:sp>
      <p:sp>
        <p:nvSpPr>
          <p:cNvPr id="13" name="Text 9"/>
          <p:cNvSpPr/>
          <p:nvPr/>
        </p:nvSpPr>
        <p:spPr>
          <a:xfrm>
            <a:off x="5349240" y="1234440"/>
            <a:ext cx="3474720" cy="685800"/>
          </a:xfrm>
          <a:prstGeom prst="rect">
            <a:avLst/>
          </a:prstGeom>
          <a:noFill/>
          <a:ln/>
        </p:spPr>
        <p:txBody>
          <a:bodyPr wrap="square" rtlCol="0" anchor="ctr"/>
          <a:lstStyle/>
          <a:p>
            <a:pPr marL="0" indent="0">
              <a:buNone/>
            </a:pPr>
            <a:r>
              <a:rPr lang="en-US" sz="950" dirty="0">
                <a:solidFill>
                  <a:srgbClr val="CCCCCC"/>
                </a:solidFill>
              </a:rPr>
              <a:t>Cash dominates at 49.9% of revenue. UPI at 34.2%. Digital payment adoption needs push.</a:t>
            </a:r>
            <a:endParaRPr lang="en-US" sz="950" dirty="0"/>
          </a:p>
        </p:txBody>
      </p:sp>
      <p:sp>
        <p:nvSpPr>
          <p:cNvPr id="14" name="Shape 10"/>
          <p:cNvSpPr/>
          <p:nvPr/>
        </p:nvSpPr>
        <p:spPr>
          <a:xfrm>
            <a:off x="274320" y="2148840"/>
            <a:ext cx="4206240" cy="1234440"/>
          </a:xfrm>
          <a:prstGeom prst="rect">
            <a:avLst/>
          </a:prstGeom>
          <a:solidFill>
            <a:srgbClr val="1F1F1F"/>
          </a:solidFill>
          <a:ln/>
          <a:effectLst>
            <a:outerShdw blurRad="76200" dist="25400" dir="8100000" algn="bl" rotWithShape="0">
              <a:srgbClr val="000000">
                <a:alpha val="30000"/>
              </a:srgbClr>
            </a:outerShdw>
          </a:effectLst>
        </p:spPr>
      </p:sp>
      <p:sp>
        <p:nvSpPr>
          <p:cNvPr id="15" name="Shape 11"/>
          <p:cNvSpPr/>
          <p:nvPr/>
        </p:nvSpPr>
        <p:spPr>
          <a:xfrm>
            <a:off x="274320" y="2148840"/>
            <a:ext cx="54864" cy="1234440"/>
          </a:xfrm>
          <a:prstGeom prst="rect">
            <a:avLst/>
          </a:prstGeom>
          <a:solidFill>
            <a:srgbClr val="F5C518"/>
          </a:solidFill>
          <a:ln/>
        </p:spPr>
      </p:sp>
      <p:pic>
        <p:nvPicPr>
          <p:cNvPr id="16" name="Image 2" descr="preencoded.png"/>
          <p:cNvPicPr>
            <a:picLocks noChangeAspect="1"/>
          </p:cNvPicPr>
          <p:nvPr/>
        </p:nvPicPr>
        <p:blipFill>
          <a:blip r:embed="rId5"/>
          <a:stretch>
            <a:fillRect/>
          </a:stretch>
        </p:blipFill>
        <p:spPr>
          <a:xfrm>
            <a:off x="411480" y="2286000"/>
            <a:ext cx="347472" cy="347472"/>
          </a:xfrm>
          <a:prstGeom prst="rect">
            <a:avLst/>
          </a:prstGeom>
        </p:spPr>
      </p:pic>
      <p:sp>
        <p:nvSpPr>
          <p:cNvPr id="17" name="Text 12"/>
          <p:cNvSpPr/>
          <p:nvPr/>
        </p:nvSpPr>
        <p:spPr>
          <a:xfrm>
            <a:off x="868680" y="2240280"/>
            <a:ext cx="3383280" cy="347472"/>
          </a:xfrm>
          <a:prstGeom prst="rect">
            <a:avLst/>
          </a:prstGeom>
          <a:noFill/>
          <a:ln/>
        </p:spPr>
        <p:txBody>
          <a:bodyPr wrap="square" rtlCol="0" anchor="ctr"/>
          <a:lstStyle/>
          <a:p>
            <a:pPr marL="0" indent="0">
              <a:buNone/>
            </a:pPr>
            <a:r>
              <a:rPr lang="en-US" sz="1200" b="1" dirty="0">
                <a:solidFill>
                  <a:srgbClr val="F5C518"/>
                </a:solidFill>
              </a:rPr>
              <a:t>E-Bike is Top Performer</a:t>
            </a:r>
            <a:endParaRPr lang="en-US" sz="1200" dirty="0"/>
          </a:p>
        </p:txBody>
      </p:sp>
      <p:sp>
        <p:nvSpPr>
          <p:cNvPr id="18" name="Text 13"/>
          <p:cNvSpPr/>
          <p:nvPr/>
        </p:nvSpPr>
        <p:spPr>
          <a:xfrm>
            <a:off x="868680" y="2606040"/>
            <a:ext cx="3474720" cy="685800"/>
          </a:xfrm>
          <a:prstGeom prst="rect">
            <a:avLst/>
          </a:prstGeom>
          <a:noFill/>
          <a:ln/>
        </p:spPr>
        <p:txBody>
          <a:bodyPr wrap="square" rtlCol="0" anchor="ctr"/>
          <a:lstStyle/>
          <a:p>
            <a:pPr marL="0" indent="0">
              <a:buNone/>
            </a:pPr>
            <a:r>
              <a:rPr lang="en-US" sz="950" dirty="0">
                <a:solidFill>
                  <a:srgbClr val="CCCCCC"/>
                </a:solidFill>
              </a:rPr>
              <a:t>E-Bike earns ₹290K total with best success booking value (₹173K). Expand e-bike fleet.</a:t>
            </a:r>
            <a:endParaRPr lang="en-US" sz="950" dirty="0"/>
          </a:p>
        </p:txBody>
      </p:sp>
      <p:sp>
        <p:nvSpPr>
          <p:cNvPr id="19" name="Shape 14"/>
          <p:cNvSpPr/>
          <p:nvPr/>
        </p:nvSpPr>
        <p:spPr>
          <a:xfrm>
            <a:off x="4754880" y="2148840"/>
            <a:ext cx="4206240" cy="1234440"/>
          </a:xfrm>
          <a:prstGeom prst="rect">
            <a:avLst/>
          </a:prstGeom>
          <a:solidFill>
            <a:srgbClr val="1F1F1F"/>
          </a:solidFill>
          <a:ln/>
          <a:effectLst>
            <a:outerShdw blurRad="76200" dist="25400" dir="8100000" algn="bl" rotWithShape="0">
              <a:srgbClr val="000000">
                <a:alpha val="30000"/>
              </a:srgbClr>
            </a:outerShdw>
          </a:effectLst>
        </p:spPr>
      </p:sp>
      <p:sp>
        <p:nvSpPr>
          <p:cNvPr id="20" name="Shape 15"/>
          <p:cNvSpPr/>
          <p:nvPr/>
        </p:nvSpPr>
        <p:spPr>
          <a:xfrm>
            <a:off x="4754880" y="2148840"/>
            <a:ext cx="54864" cy="1234440"/>
          </a:xfrm>
          <a:prstGeom prst="rect">
            <a:avLst/>
          </a:prstGeom>
          <a:solidFill>
            <a:srgbClr val="F5C518"/>
          </a:solidFill>
          <a:ln/>
        </p:spPr>
      </p:sp>
      <p:pic>
        <p:nvPicPr>
          <p:cNvPr id="21" name="Image 3" descr="preencoded.png"/>
          <p:cNvPicPr>
            <a:picLocks noChangeAspect="1"/>
          </p:cNvPicPr>
          <p:nvPr/>
        </p:nvPicPr>
        <p:blipFill>
          <a:blip r:embed="rId6"/>
          <a:stretch>
            <a:fillRect/>
          </a:stretch>
        </p:blipFill>
        <p:spPr>
          <a:xfrm>
            <a:off x="4892040" y="2286000"/>
            <a:ext cx="347472" cy="347472"/>
          </a:xfrm>
          <a:prstGeom prst="rect">
            <a:avLst/>
          </a:prstGeom>
        </p:spPr>
      </p:pic>
      <p:sp>
        <p:nvSpPr>
          <p:cNvPr id="22" name="Text 16"/>
          <p:cNvSpPr/>
          <p:nvPr/>
        </p:nvSpPr>
        <p:spPr>
          <a:xfrm>
            <a:off x="5349240" y="2240280"/>
            <a:ext cx="3383280" cy="347472"/>
          </a:xfrm>
          <a:prstGeom prst="rect">
            <a:avLst/>
          </a:prstGeom>
          <a:noFill/>
          <a:ln/>
        </p:spPr>
        <p:txBody>
          <a:bodyPr wrap="square" rtlCol="0" anchor="ctr"/>
          <a:lstStyle/>
          <a:p>
            <a:pPr marL="0" indent="0">
              <a:buNone/>
            </a:pPr>
            <a:r>
              <a:rPr lang="en-US" sz="1200" b="1" dirty="0">
                <a:solidFill>
                  <a:srgbClr val="F5C518"/>
                </a:solidFill>
              </a:rPr>
              <a:t>Ratings Need Improvement</a:t>
            </a:r>
            <a:endParaRPr lang="en-US" sz="1200" dirty="0"/>
          </a:p>
        </p:txBody>
      </p:sp>
      <p:sp>
        <p:nvSpPr>
          <p:cNvPr id="23" name="Text 17"/>
          <p:cNvSpPr/>
          <p:nvPr/>
        </p:nvSpPr>
        <p:spPr>
          <a:xfrm>
            <a:off x="5349240" y="2606040"/>
            <a:ext cx="3474720" cy="685800"/>
          </a:xfrm>
          <a:prstGeom prst="rect">
            <a:avLst/>
          </a:prstGeom>
          <a:noFill/>
          <a:ln/>
        </p:spPr>
        <p:txBody>
          <a:bodyPr wrap="square" rtlCol="0" anchor="ctr"/>
          <a:lstStyle/>
          <a:p>
            <a:pPr marL="0" indent="0">
              <a:buNone/>
            </a:pPr>
            <a:r>
              <a:rPr lang="en-US" sz="950" dirty="0">
                <a:solidFill>
                  <a:srgbClr val="CCCCCC"/>
                </a:solidFill>
              </a:rPr>
              <a:t>All vehicle types score ~2.45–2.53 out of 5. Below average — quality control required.</a:t>
            </a:r>
            <a:endParaRPr lang="en-US" sz="950" dirty="0"/>
          </a:p>
        </p:txBody>
      </p:sp>
      <p:sp>
        <p:nvSpPr>
          <p:cNvPr id="24" name="Shape 18"/>
          <p:cNvSpPr/>
          <p:nvPr/>
        </p:nvSpPr>
        <p:spPr>
          <a:xfrm>
            <a:off x="274320" y="3520440"/>
            <a:ext cx="4206240" cy="1234440"/>
          </a:xfrm>
          <a:prstGeom prst="rect">
            <a:avLst/>
          </a:prstGeom>
          <a:solidFill>
            <a:srgbClr val="1F1F1F"/>
          </a:solidFill>
          <a:ln/>
          <a:effectLst>
            <a:outerShdw blurRad="76200" dist="25400" dir="8100000" algn="bl" rotWithShape="0">
              <a:srgbClr val="000000">
                <a:alpha val="30000"/>
              </a:srgbClr>
            </a:outerShdw>
          </a:effectLst>
        </p:spPr>
      </p:sp>
      <p:sp>
        <p:nvSpPr>
          <p:cNvPr id="25" name="Shape 19"/>
          <p:cNvSpPr/>
          <p:nvPr/>
        </p:nvSpPr>
        <p:spPr>
          <a:xfrm>
            <a:off x="274320" y="3520440"/>
            <a:ext cx="54864" cy="1234440"/>
          </a:xfrm>
          <a:prstGeom prst="rect">
            <a:avLst/>
          </a:prstGeom>
          <a:solidFill>
            <a:srgbClr val="F5C518"/>
          </a:solidFill>
          <a:ln/>
        </p:spPr>
      </p:sp>
      <p:pic>
        <p:nvPicPr>
          <p:cNvPr id="26" name="Image 4" descr="preencoded.png"/>
          <p:cNvPicPr>
            <a:picLocks noChangeAspect="1"/>
          </p:cNvPicPr>
          <p:nvPr/>
        </p:nvPicPr>
        <p:blipFill>
          <a:blip r:embed="rId7"/>
          <a:stretch>
            <a:fillRect/>
          </a:stretch>
        </p:blipFill>
        <p:spPr>
          <a:xfrm>
            <a:off x="411480" y="3657600"/>
            <a:ext cx="347472" cy="347472"/>
          </a:xfrm>
          <a:prstGeom prst="rect">
            <a:avLst/>
          </a:prstGeom>
        </p:spPr>
      </p:pic>
      <p:sp>
        <p:nvSpPr>
          <p:cNvPr id="27" name="Text 20"/>
          <p:cNvSpPr/>
          <p:nvPr/>
        </p:nvSpPr>
        <p:spPr>
          <a:xfrm>
            <a:off x="868680" y="3611880"/>
            <a:ext cx="3383280" cy="347472"/>
          </a:xfrm>
          <a:prstGeom prst="rect">
            <a:avLst/>
          </a:prstGeom>
          <a:noFill/>
          <a:ln/>
        </p:spPr>
        <p:txBody>
          <a:bodyPr wrap="square" rtlCol="0" anchor="ctr"/>
          <a:lstStyle/>
          <a:p>
            <a:pPr marL="0" indent="0">
              <a:buNone/>
            </a:pPr>
            <a:r>
              <a:rPr lang="en-US" sz="1200" b="1" dirty="0">
                <a:solidFill>
                  <a:srgbClr val="F5C518"/>
                </a:solidFill>
              </a:rPr>
              <a:t>Driver Not Found Issues</a:t>
            </a:r>
            <a:endParaRPr lang="en-US" sz="1200" dirty="0"/>
          </a:p>
        </p:txBody>
      </p:sp>
      <p:sp>
        <p:nvSpPr>
          <p:cNvPr id="28" name="Text 21"/>
          <p:cNvSpPr/>
          <p:nvPr/>
        </p:nvSpPr>
        <p:spPr>
          <a:xfrm>
            <a:off x="868680" y="3977640"/>
            <a:ext cx="3474720" cy="685800"/>
          </a:xfrm>
          <a:prstGeom prst="rect">
            <a:avLst/>
          </a:prstGeom>
          <a:noFill/>
          <a:ln/>
        </p:spPr>
        <p:txBody>
          <a:bodyPr wrap="square" rtlCol="0" anchor="ctr"/>
          <a:lstStyle/>
          <a:p>
            <a:pPr marL="0" indent="0">
              <a:buNone/>
            </a:pPr>
            <a:r>
              <a:rPr lang="en-US" sz="950" dirty="0">
                <a:solidFill>
                  <a:srgbClr val="CCCCCC"/>
                </a:solidFill>
              </a:rPr>
              <a:t>10,124 bookings had no driver match (9.8%). Optimize driver allocation algorithm.</a:t>
            </a:r>
            <a:endParaRPr lang="en-US" sz="950" dirty="0"/>
          </a:p>
        </p:txBody>
      </p:sp>
      <p:sp>
        <p:nvSpPr>
          <p:cNvPr id="29" name="Shape 22"/>
          <p:cNvSpPr/>
          <p:nvPr/>
        </p:nvSpPr>
        <p:spPr>
          <a:xfrm>
            <a:off x="4754880" y="3520440"/>
            <a:ext cx="4206240" cy="1234440"/>
          </a:xfrm>
          <a:prstGeom prst="rect">
            <a:avLst/>
          </a:prstGeom>
          <a:solidFill>
            <a:srgbClr val="1F1F1F"/>
          </a:solidFill>
          <a:ln/>
          <a:effectLst>
            <a:outerShdw blurRad="76200" dist="25400" dir="8100000" algn="bl" rotWithShape="0">
              <a:srgbClr val="000000">
                <a:alpha val="30000"/>
              </a:srgbClr>
            </a:outerShdw>
          </a:effectLst>
        </p:spPr>
      </p:sp>
      <p:sp>
        <p:nvSpPr>
          <p:cNvPr id="30" name="Shape 23"/>
          <p:cNvSpPr/>
          <p:nvPr/>
        </p:nvSpPr>
        <p:spPr>
          <a:xfrm>
            <a:off x="4754880" y="3520440"/>
            <a:ext cx="54864" cy="1234440"/>
          </a:xfrm>
          <a:prstGeom prst="rect">
            <a:avLst/>
          </a:prstGeom>
          <a:solidFill>
            <a:srgbClr val="F5C518"/>
          </a:solidFill>
          <a:ln/>
        </p:spPr>
      </p:sp>
      <p:pic>
        <p:nvPicPr>
          <p:cNvPr id="31" name="Image 5" descr="preencoded.png"/>
          <p:cNvPicPr>
            <a:picLocks noChangeAspect="1"/>
          </p:cNvPicPr>
          <p:nvPr/>
        </p:nvPicPr>
        <p:blipFill>
          <a:blip r:embed="rId8"/>
          <a:stretch>
            <a:fillRect/>
          </a:stretch>
        </p:blipFill>
        <p:spPr>
          <a:xfrm>
            <a:off x="4892040" y="3657600"/>
            <a:ext cx="347472" cy="347472"/>
          </a:xfrm>
          <a:prstGeom prst="rect">
            <a:avLst/>
          </a:prstGeom>
        </p:spPr>
      </p:pic>
      <p:sp>
        <p:nvSpPr>
          <p:cNvPr id="32" name="Text 24"/>
          <p:cNvSpPr/>
          <p:nvPr/>
        </p:nvSpPr>
        <p:spPr>
          <a:xfrm>
            <a:off x="5349240" y="3611880"/>
            <a:ext cx="3383280" cy="347472"/>
          </a:xfrm>
          <a:prstGeom prst="rect">
            <a:avLst/>
          </a:prstGeom>
          <a:noFill/>
          <a:ln/>
        </p:spPr>
        <p:txBody>
          <a:bodyPr wrap="square" rtlCol="0" anchor="ctr"/>
          <a:lstStyle/>
          <a:p>
            <a:pPr marL="0" indent="0">
              <a:buNone/>
            </a:pPr>
            <a:r>
              <a:rPr lang="en-US" sz="1200" b="1" dirty="0">
                <a:solidFill>
                  <a:srgbClr val="F5C518"/>
                </a:solidFill>
              </a:rPr>
              <a:t>July 2024 Strong Month</a:t>
            </a:r>
            <a:endParaRPr lang="en-US" sz="1200" dirty="0"/>
          </a:p>
        </p:txBody>
      </p:sp>
      <p:sp>
        <p:nvSpPr>
          <p:cNvPr id="33" name="Text 25"/>
          <p:cNvSpPr/>
          <p:nvPr/>
        </p:nvSpPr>
        <p:spPr>
          <a:xfrm>
            <a:off x="5349240" y="3977640"/>
            <a:ext cx="3474720" cy="685800"/>
          </a:xfrm>
          <a:prstGeom prst="rect">
            <a:avLst/>
          </a:prstGeom>
          <a:noFill/>
          <a:ln/>
        </p:spPr>
        <p:txBody>
          <a:bodyPr wrap="square" rtlCol="0" anchor="ctr"/>
          <a:lstStyle/>
          <a:p>
            <a:pPr marL="0" indent="0">
              <a:buNone/>
            </a:pPr>
            <a:r>
              <a:rPr lang="en-US" sz="950" dirty="0">
                <a:solidFill>
                  <a:srgbClr val="CCCCCC"/>
                </a:solidFill>
              </a:rPr>
              <a:t>103,024 bookings in single month with ₹35M+ revenue. Strong baseline for growth.</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F5C518"/>
          </a:solidFill>
          <a:ln/>
        </p:spPr>
      </p:sp>
      <p:sp>
        <p:nvSpPr>
          <p:cNvPr id="3" name="Text 1"/>
          <p:cNvSpPr/>
          <p:nvPr/>
        </p:nvSpPr>
        <p:spPr>
          <a:xfrm>
            <a:off x="365760" y="0"/>
            <a:ext cx="8229600" cy="594360"/>
          </a:xfrm>
          <a:prstGeom prst="rect">
            <a:avLst/>
          </a:prstGeom>
          <a:noFill/>
          <a:ln/>
        </p:spPr>
        <p:txBody>
          <a:bodyPr wrap="square" rtlCol="0" anchor="ctr"/>
          <a:lstStyle/>
          <a:p>
            <a:pPr marL="0" indent="0">
              <a:buNone/>
            </a:pPr>
            <a:r>
              <a:rPr lang="en-US" sz="1300" b="1" dirty="0">
                <a:solidFill>
                  <a:srgbClr val="1A1A1A"/>
                </a:solidFill>
              </a:rPr>
              <a:t>🎯  BUSINESS RECOMMENDATIONS</a:t>
            </a:r>
            <a:endParaRPr lang="en-US" sz="1300" dirty="0"/>
          </a:p>
        </p:txBody>
      </p:sp>
      <p:sp>
        <p:nvSpPr>
          <p:cNvPr id="4" name="Shape 2"/>
          <p:cNvSpPr/>
          <p:nvPr/>
        </p:nvSpPr>
        <p:spPr>
          <a:xfrm>
            <a:off x="274320" y="777240"/>
            <a:ext cx="4206240" cy="1280160"/>
          </a:xfrm>
          <a:prstGeom prst="rect">
            <a:avLst/>
          </a:prstGeom>
          <a:solidFill>
            <a:srgbClr val="FFFFFF"/>
          </a:solidFill>
          <a:ln/>
          <a:effectLst>
            <a:outerShdw blurRad="63500" dist="25400" dir="8100000" algn="bl" rotWithShape="0">
              <a:srgbClr val="000000">
                <a:alpha val="10000"/>
              </a:srgbClr>
            </a:outerShdw>
          </a:effectLst>
        </p:spPr>
      </p:sp>
      <p:sp>
        <p:nvSpPr>
          <p:cNvPr id="5" name="Shape 3"/>
          <p:cNvSpPr/>
          <p:nvPr/>
        </p:nvSpPr>
        <p:spPr>
          <a:xfrm>
            <a:off x="384048" y="886968"/>
            <a:ext cx="457200" cy="457200"/>
          </a:xfrm>
          <a:prstGeom prst="ellipse">
            <a:avLst/>
          </a:prstGeom>
          <a:solidFill>
            <a:srgbClr val="EF4444"/>
          </a:solidFill>
          <a:ln w="12700">
            <a:solidFill>
              <a:srgbClr val="EF4444"/>
            </a:solidFill>
            <a:prstDash val="solid"/>
          </a:ln>
        </p:spPr>
      </p:sp>
      <p:sp>
        <p:nvSpPr>
          <p:cNvPr id="6" name="Text 4"/>
          <p:cNvSpPr/>
          <p:nvPr/>
        </p:nvSpPr>
        <p:spPr>
          <a:xfrm>
            <a:off x="384048" y="886968"/>
            <a:ext cx="457200" cy="457200"/>
          </a:xfrm>
          <a:prstGeom prst="rect">
            <a:avLst/>
          </a:prstGeom>
          <a:noFill/>
          <a:ln/>
        </p:spPr>
        <p:txBody>
          <a:bodyPr wrap="square" rtlCol="0" anchor="ctr"/>
          <a:lstStyle/>
          <a:p>
            <a:pPr marL="0" indent="0" algn="ctr">
              <a:buNone/>
            </a:pPr>
            <a:r>
              <a:rPr lang="en-US" sz="1200" b="1" dirty="0">
                <a:solidFill>
                  <a:srgbClr val="FFFFFF"/>
                </a:solidFill>
              </a:rPr>
              <a:t>01</a:t>
            </a:r>
            <a:endParaRPr lang="en-US" sz="1200" dirty="0"/>
          </a:p>
        </p:txBody>
      </p:sp>
      <p:sp>
        <p:nvSpPr>
          <p:cNvPr id="7" name="Shape 5"/>
          <p:cNvSpPr/>
          <p:nvPr/>
        </p:nvSpPr>
        <p:spPr>
          <a:xfrm>
            <a:off x="3520440" y="914400"/>
            <a:ext cx="822960" cy="228600"/>
          </a:xfrm>
          <a:prstGeom prst="roundRect">
            <a:avLst>
              <a:gd name="adj" fmla="val 20000"/>
            </a:avLst>
          </a:prstGeom>
          <a:solidFill>
            <a:srgbClr val="EF4444"/>
          </a:solidFill>
          <a:ln/>
        </p:spPr>
      </p:sp>
      <p:sp>
        <p:nvSpPr>
          <p:cNvPr id="8" name="Text 6"/>
          <p:cNvSpPr/>
          <p:nvPr/>
        </p:nvSpPr>
        <p:spPr>
          <a:xfrm>
            <a:off x="3520440" y="914400"/>
            <a:ext cx="822960" cy="228600"/>
          </a:xfrm>
          <a:prstGeom prst="rect">
            <a:avLst/>
          </a:prstGeom>
          <a:noFill/>
          <a:ln/>
        </p:spPr>
        <p:txBody>
          <a:bodyPr wrap="square" rtlCol="0" anchor="ctr"/>
          <a:lstStyle/>
          <a:p>
            <a:pPr marL="0" indent="0" algn="ctr">
              <a:buNone/>
            </a:pPr>
            <a:r>
              <a:rPr lang="en-US" sz="700" b="1" dirty="0">
                <a:solidFill>
                  <a:srgbClr val="FFFFFF"/>
                </a:solidFill>
              </a:rPr>
              <a:t>HIGH</a:t>
            </a:r>
            <a:endParaRPr lang="en-US" sz="700" dirty="0"/>
          </a:p>
        </p:txBody>
      </p:sp>
      <p:sp>
        <p:nvSpPr>
          <p:cNvPr id="9" name="Text 7"/>
          <p:cNvSpPr/>
          <p:nvPr/>
        </p:nvSpPr>
        <p:spPr>
          <a:xfrm>
            <a:off x="960120" y="868680"/>
            <a:ext cx="2468880" cy="347472"/>
          </a:xfrm>
          <a:prstGeom prst="rect">
            <a:avLst/>
          </a:prstGeom>
          <a:noFill/>
          <a:ln/>
        </p:spPr>
        <p:txBody>
          <a:bodyPr wrap="square" rtlCol="0" anchor="ctr"/>
          <a:lstStyle/>
          <a:p>
            <a:pPr marL="0" indent="0">
              <a:buNone/>
            </a:pPr>
            <a:r>
              <a:rPr lang="en-US" sz="1100" b="1" dirty="0">
                <a:solidFill>
                  <a:srgbClr val="1A1A1A"/>
                </a:solidFill>
              </a:rPr>
              <a:t>Reduce Driver Cancellations</a:t>
            </a:r>
            <a:endParaRPr lang="en-US" sz="1100" dirty="0"/>
          </a:p>
        </p:txBody>
      </p:sp>
      <p:sp>
        <p:nvSpPr>
          <p:cNvPr id="10" name="Text 8"/>
          <p:cNvSpPr/>
          <p:nvPr/>
        </p:nvSpPr>
        <p:spPr>
          <a:xfrm>
            <a:off x="384048" y="1344168"/>
            <a:ext cx="3977640" cy="621792"/>
          </a:xfrm>
          <a:prstGeom prst="rect">
            <a:avLst/>
          </a:prstGeom>
          <a:noFill/>
          <a:ln/>
        </p:spPr>
        <p:txBody>
          <a:bodyPr wrap="square" rtlCol="0" anchor="ctr"/>
          <a:lstStyle/>
          <a:p>
            <a:pPr marL="0" indent="0">
              <a:buNone/>
            </a:pPr>
            <a:r>
              <a:rPr lang="en-US" sz="900" dirty="0">
                <a:solidFill>
                  <a:srgbClr val="6B7280"/>
                </a:solidFill>
              </a:rPr>
              <a:t>Implement driver performance monitoring. Introduce penalties for unnecessary cancellations. Offer vehicle maintenance support.</a:t>
            </a:r>
            <a:endParaRPr lang="en-US" sz="900" dirty="0"/>
          </a:p>
        </p:txBody>
      </p:sp>
      <p:sp>
        <p:nvSpPr>
          <p:cNvPr id="11" name="Shape 9"/>
          <p:cNvSpPr/>
          <p:nvPr/>
        </p:nvSpPr>
        <p:spPr>
          <a:xfrm>
            <a:off x="4754880" y="777240"/>
            <a:ext cx="4206240" cy="1280160"/>
          </a:xfrm>
          <a:prstGeom prst="rect">
            <a:avLst/>
          </a:prstGeom>
          <a:solidFill>
            <a:srgbClr val="FFFFFF"/>
          </a:solidFill>
          <a:ln/>
          <a:effectLst>
            <a:outerShdw blurRad="63500" dist="25400" dir="8100000" algn="bl" rotWithShape="0">
              <a:srgbClr val="000000">
                <a:alpha val="10000"/>
              </a:srgbClr>
            </a:outerShdw>
          </a:effectLst>
        </p:spPr>
      </p:sp>
      <p:sp>
        <p:nvSpPr>
          <p:cNvPr id="12" name="Shape 10"/>
          <p:cNvSpPr/>
          <p:nvPr/>
        </p:nvSpPr>
        <p:spPr>
          <a:xfrm>
            <a:off x="4864608" y="886968"/>
            <a:ext cx="457200" cy="457200"/>
          </a:xfrm>
          <a:prstGeom prst="ellipse">
            <a:avLst/>
          </a:prstGeom>
          <a:solidFill>
            <a:srgbClr val="F59E0B"/>
          </a:solidFill>
          <a:ln w="12700">
            <a:solidFill>
              <a:srgbClr val="F59E0B"/>
            </a:solidFill>
            <a:prstDash val="solid"/>
          </a:ln>
        </p:spPr>
      </p:sp>
      <p:sp>
        <p:nvSpPr>
          <p:cNvPr id="13" name="Text 11"/>
          <p:cNvSpPr/>
          <p:nvPr/>
        </p:nvSpPr>
        <p:spPr>
          <a:xfrm>
            <a:off x="4864608" y="886968"/>
            <a:ext cx="457200" cy="457200"/>
          </a:xfrm>
          <a:prstGeom prst="rect">
            <a:avLst/>
          </a:prstGeom>
          <a:noFill/>
          <a:ln/>
        </p:spPr>
        <p:txBody>
          <a:bodyPr wrap="square" rtlCol="0" anchor="ctr"/>
          <a:lstStyle/>
          <a:p>
            <a:pPr marL="0" indent="0" algn="ctr">
              <a:buNone/>
            </a:pPr>
            <a:r>
              <a:rPr lang="en-US" sz="1200" b="1" dirty="0">
                <a:solidFill>
                  <a:srgbClr val="FFFFFF"/>
                </a:solidFill>
              </a:rPr>
              <a:t>02</a:t>
            </a:r>
            <a:endParaRPr lang="en-US" sz="1200" dirty="0"/>
          </a:p>
        </p:txBody>
      </p:sp>
      <p:sp>
        <p:nvSpPr>
          <p:cNvPr id="14" name="Shape 12"/>
          <p:cNvSpPr/>
          <p:nvPr/>
        </p:nvSpPr>
        <p:spPr>
          <a:xfrm>
            <a:off x="8001000" y="914400"/>
            <a:ext cx="822960" cy="228600"/>
          </a:xfrm>
          <a:prstGeom prst="roundRect">
            <a:avLst>
              <a:gd name="adj" fmla="val 20000"/>
            </a:avLst>
          </a:prstGeom>
          <a:solidFill>
            <a:srgbClr val="F59E0B"/>
          </a:solidFill>
          <a:ln/>
        </p:spPr>
      </p:sp>
      <p:sp>
        <p:nvSpPr>
          <p:cNvPr id="15" name="Text 13"/>
          <p:cNvSpPr/>
          <p:nvPr/>
        </p:nvSpPr>
        <p:spPr>
          <a:xfrm>
            <a:off x="8001000" y="914400"/>
            <a:ext cx="822960" cy="228600"/>
          </a:xfrm>
          <a:prstGeom prst="rect">
            <a:avLst/>
          </a:prstGeom>
          <a:noFill/>
          <a:ln/>
        </p:spPr>
        <p:txBody>
          <a:bodyPr wrap="square" rtlCol="0" anchor="ctr"/>
          <a:lstStyle/>
          <a:p>
            <a:pPr marL="0" indent="0" algn="ctr">
              <a:buNone/>
            </a:pPr>
            <a:r>
              <a:rPr lang="en-US" sz="700" b="1" dirty="0">
                <a:solidFill>
                  <a:srgbClr val="FFFFFF"/>
                </a:solidFill>
              </a:rPr>
              <a:t>MEDIUM</a:t>
            </a:r>
            <a:endParaRPr lang="en-US" sz="700" dirty="0"/>
          </a:p>
        </p:txBody>
      </p:sp>
      <p:sp>
        <p:nvSpPr>
          <p:cNvPr id="16" name="Text 14"/>
          <p:cNvSpPr/>
          <p:nvPr/>
        </p:nvSpPr>
        <p:spPr>
          <a:xfrm>
            <a:off x="5440680" y="868680"/>
            <a:ext cx="2468880" cy="347472"/>
          </a:xfrm>
          <a:prstGeom prst="rect">
            <a:avLst/>
          </a:prstGeom>
          <a:noFill/>
          <a:ln/>
        </p:spPr>
        <p:txBody>
          <a:bodyPr wrap="square" rtlCol="0" anchor="ctr"/>
          <a:lstStyle/>
          <a:p>
            <a:pPr marL="0" indent="0">
              <a:buNone/>
            </a:pPr>
            <a:r>
              <a:rPr lang="en-US" sz="1100" b="1" dirty="0">
                <a:solidFill>
                  <a:srgbClr val="1A1A1A"/>
                </a:solidFill>
              </a:rPr>
              <a:t>Boost Digital Payments</a:t>
            </a:r>
            <a:endParaRPr lang="en-US" sz="1100" dirty="0"/>
          </a:p>
        </p:txBody>
      </p:sp>
      <p:sp>
        <p:nvSpPr>
          <p:cNvPr id="17" name="Text 15"/>
          <p:cNvSpPr/>
          <p:nvPr/>
        </p:nvSpPr>
        <p:spPr>
          <a:xfrm>
            <a:off x="4864608" y="1344168"/>
            <a:ext cx="3977640" cy="621792"/>
          </a:xfrm>
          <a:prstGeom prst="rect">
            <a:avLst/>
          </a:prstGeom>
          <a:noFill/>
          <a:ln/>
        </p:spPr>
        <p:txBody>
          <a:bodyPr wrap="square" rtlCol="0" anchor="ctr"/>
          <a:lstStyle/>
          <a:p>
            <a:pPr marL="0" indent="0">
              <a:buNone/>
            </a:pPr>
            <a:r>
              <a:rPr lang="en-US" sz="900" dirty="0">
                <a:solidFill>
                  <a:srgbClr val="6B7280"/>
                </a:solidFill>
              </a:rPr>
              <a:t>Offer UPI/card cashbacks. Make UPI the default payment. Target reducing cash transactions below 30%.</a:t>
            </a:r>
            <a:endParaRPr lang="en-US" sz="900" dirty="0"/>
          </a:p>
        </p:txBody>
      </p:sp>
      <p:sp>
        <p:nvSpPr>
          <p:cNvPr id="18" name="Shape 16"/>
          <p:cNvSpPr/>
          <p:nvPr/>
        </p:nvSpPr>
        <p:spPr>
          <a:xfrm>
            <a:off x="274320" y="2194560"/>
            <a:ext cx="4206240" cy="1280160"/>
          </a:xfrm>
          <a:prstGeom prst="rect">
            <a:avLst/>
          </a:prstGeom>
          <a:solidFill>
            <a:srgbClr val="FFFFFF"/>
          </a:solidFill>
          <a:ln/>
          <a:effectLst>
            <a:outerShdw blurRad="63500" dist="25400" dir="8100000" algn="bl" rotWithShape="0">
              <a:srgbClr val="000000">
                <a:alpha val="10000"/>
              </a:srgbClr>
            </a:outerShdw>
          </a:effectLst>
        </p:spPr>
      </p:sp>
      <p:sp>
        <p:nvSpPr>
          <p:cNvPr id="19" name="Shape 17"/>
          <p:cNvSpPr/>
          <p:nvPr/>
        </p:nvSpPr>
        <p:spPr>
          <a:xfrm>
            <a:off x="384048" y="2304288"/>
            <a:ext cx="457200" cy="457200"/>
          </a:xfrm>
          <a:prstGeom prst="ellipse">
            <a:avLst/>
          </a:prstGeom>
          <a:solidFill>
            <a:srgbClr val="EF4444"/>
          </a:solidFill>
          <a:ln w="12700">
            <a:solidFill>
              <a:srgbClr val="EF4444"/>
            </a:solidFill>
            <a:prstDash val="solid"/>
          </a:ln>
        </p:spPr>
      </p:sp>
      <p:sp>
        <p:nvSpPr>
          <p:cNvPr id="20" name="Text 18"/>
          <p:cNvSpPr/>
          <p:nvPr/>
        </p:nvSpPr>
        <p:spPr>
          <a:xfrm>
            <a:off x="384048" y="2304288"/>
            <a:ext cx="457200" cy="457200"/>
          </a:xfrm>
          <a:prstGeom prst="rect">
            <a:avLst/>
          </a:prstGeom>
          <a:noFill/>
          <a:ln/>
        </p:spPr>
        <p:txBody>
          <a:bodyPr wrap="square" rtlCol="0" anchor="ctr"/>
          <a:lstStyle/>
          <a:p>
            <a:pPr marL="0" indent="0" algn="ctr">
              <a:buNone/>
            </a:pPr>
            <a:r>
              <a:rPr lang="en-US" sz="1200" b="1" dirty="0">
                <a:solidFill>
                  <a:srgbClr val="FFFFFF"/>
                </a:solidFill>
              </a:rPr>
              <a:t>03</a:t>
            </a:r>
            <a:endParaRPr lang="en-US" sz="1200" dirty="0"/>
          </a:p>
        </p:txBody>
      </p:sp>
      <p:sp>
        <p:nvSpPr>
          <p:cNvPr id="21" name="Shape 19"/>
          <p:cNvSpPr/>
          <p:nvPr/>
        </p:nvSpPr>
        <p:spPr>
          <a:xfrm>
            <a:off x="3520440" y="2331720"/>
            <a:ext cx="822960" cy="228600"/>
          </a:xfrm>
          <a:prstGeom prst="roundRect">
            <a:avLst>
              <a:gd name="adj" fmla="val 20000"/>
            </a:avLst>
          </a:prstGeom>
          <a:solidFill>
            <a:srgbClr val="EF4444"/>
          </a:solidFill>
          <a:ln/>
        </p:spPr>
      </p:sp>
      <p:sp>
        <p:nvSpPr>
          <p:cNvPr id="22" name="Text 20"/>
          <p:cNvSpPr/>
          <p:nvPr/>
        </p:nvSpPr>
        <p:spPr>
          <a:xfrm>
            <a:off x="3520440" y="2331720"/>
            <a:ext cx="822960" cy="228600"/>
          </a:xfrm>
          <a:prstGeom prst="rect">
            <a:avLst/>
          </a:prstGeom>
          <a:noFill/>
          <a:ln/>
        </p:spPr>
        <p:txBody>
          <a:bodyPr wrap="square" rtlCol="0" anchor="ctr"/>
          <a:lstStyle/>
          <a:p>
            <a:pPr marL="0" indent="0" algn="ctr">
              <a:buNone/>
            </a:pPr>
            <a:r>
              <a:rPr lang="en-US" sz="700" b="1" dirty="0">
                <a:solidFill>
                  <a:srgbClr val="FFFFFF"/>
                </a:solidFill>
              </a:rPr>
              <a:t>HIGH</a:t>
            </a:r>
            <a:endParaRPr lang="en-US" sz="700" dirty="0"/>
          </a:p>
        </p:txBody>
      </p:sp>
      <p:sp>
        <p:nvSpPr>
          <p:cNvPr id="23" name="Text 21"/>
          <p:cNvSpPr/>
          <p:nvPr/>
        </p:nvSpPr>
        <p:spPr>
          <a:xfrm>
            <a:off x="960120" y="2286000"/>
            <a:ext cx="2468880" cy="347472"/>
          </a:xfrm>
          <a:prstGeom prst="rect">
            <a:avLst/>
          </a:prstGeom>
          <a:noFill/>
          <a:ln/>
        </p:spPr>
        <p:txBody>
          <a:bodyPr wrap="square" rtlCol="0" anchor="ctr"/>
          <a:lstStyle/>
          <a:p>
            <a:pPr marL="0" indent="0">
              <a:buNone/>
            </a:pPr>
            <a:r>
              <a:rPr lang="en-US" sz="1100" b="1" dirty="0">
                <a:solidFill>
                  <a:srgbClr val="1A1A1A"/>
                </a:solidFill>
              </a:rPr>
              <a:t>Expand E-Bike &amp; Bike Fleet</a:t>
            </a:r>
            <a:endParaRPr lang="en-US" sz="1100" dirty="0"/>
          </a:p>
        </p:txBody>
      </p:sp>
      <p:sp>
        <p:nvSpPr>
          <p:cNvPr id="24" name="Text 22"/>
          <p:cNvSpPr/>
          <p:nvPr/>
        </p:nvSpPr>
        <p:spPr>
          <a:xfrm>
            <a:off x="384048" y="2761488"/>
            <a:ext cx="3977640" cy="621792"/>
          </a:xfrm>
          <a:prstGeom prst="rect">
            <a:avLst/>
          </a:prstGeom>
          <a:noFill/>
          <a:ln/>
        </p:spPr>
        <p:txBody>
          <a:bodyPr wrap="square" rtlCol="0" anchor="ctr"/>
          <a:lstStyle/>
          <a:p>
            <a:pPr marL="0" indent="0">
              <a:buNone/>
            </a:pPr>
            <a:r>
              <a:rPr lang="en-US" sz="900" dirty="0">
                <a:solidFill>
                  <a:srgbClr val="6B7280"/>
                </a:solidFill>
              </a:rPr>
              <a:t>E-Bikes and Bikes have highest revenue per booking. Invest in fleet expansion for these categories.</a:t>
            </a:r>
            <a:endParaRPr lang="en-US" sz="900" dirty="0"/>
          </a:p>
        </p:txBody>
      </p:sp>
      <p:sp>
        <p:nvSpPr>
          <p:cNvPr id="25" name="Shape 23"/>
          <p:cNvSpPr/>
          <p:nvPr/>
        </p:nvSpPr>
        <p:spPr>
          <a:xfrm>
            <a:off x="4754880" y="2194560"/>
            <a:ext cx="4206240" cy="1280160"/>
          </a:xfrm>
          <a:prstGeom prst="rect">
            <a:avLst/>
          </a:prstGeom>
          <a:solidFill>
            <a:srgbClr val="FFFFFF"/>
          </a:solidFill>
          <a:ln/>
          <a:effectLst>
            <a:outerShdw blurRad="63500" dist="25400" dir="8100000" algn="bl" rotWithShape="0">
              <a:srgbClr val="000000">
                <a:alpha val="10000"/>
              </a:srgbClr>
            </a:outerShdw>
          </a:effectLst>
        </p:spPr>
      </p:sp>
      <p:sp>
        <p:nvSpPr>
          <p:cNvPr id="26" name="Shape 24"/>
          <p:cNvSpPr/>
          <p:nvPr/>
        </p:nvSpPr>
        <p:spPr>
          <a:xfrm>
            <a:off x="4864608" y="2304288"/>
            <a:ext cx="457200" cy="457200"/>
          </a:xfrm>
          <a:prstGeom prst="ellipse">
            <a:avLst/>
          </a:prstGeom>
          <a:solidFill>
            <a:srgbClr val="F59E0B"/>
          </a:solidFill>
          <a:ln w="12700">
            <a:solidFill>
              <a:srgbClr val="F59E0B"/>
            </a:solidFill>
            <a:prstDash val="solid"/>
          </a:ln>
        </p:spPr>
      </p:sp>
      <p:sp>
        <p:nvSpPr>
          <p:cNvPr id="27" name="Text 25"/>
          <p:cNvSpPr/>
          <p:nvPr/>
        </p:nvSpPr>
        <p:spPr>
          <a:xfrm>
            <a:off x="4864608" y="2304288"/>
            <a:ext cx="457200" cy="457200"/>
          </a:xfrm>
          <a:prstGeom prst="rect">
            <a:avLst/>
          </a:prstGeom>
          <a:noFill/>
          <a:ln/>
        </p:spPr>
        <p:txBody>
          <a:bodyPr wrap="square" rtlCol="0" anchor="ctr"/>
          <a:lstStyle/>
          <a:p>
            <a:pPr marL="0" indent="0" algn="ctr">
              <a:buNone/>
            </a:pPr>
            <a:r>
              <a:rPr lang="en-US" sz="1200" b="1" dirty="0">
                <a:solidFill>
                  <a:srgbClr val="FFFFFF"/>
                </a:solidFill>
              </a:rPr>
              <a:t>04</a:t>
            </a:r>
            <a:endParaRPr lang="en-US" sz="1200" dirty="0"/>
          </a:p>
        </p:txBody>
      </p:sp>
      <p:sp>
        <p:nvSpPr>
          <p:cNvPr id="28" name="Shape 26"/>
          <p:cNvSpPr/>
          <p:nvPr/>
        </p:nvSpPr>
        <p:spPr>
          <a:xfrm>
            <a:off x="8001000" y="2331720"/>
            <a:ext cx="822960" cy="228600"/>
          </a:xfrm>
          <a:prstGeom prst="roundRect">
            <a:avLst>
              <a:gd name="adj" fmla="val 20000"/>
            </a:avLst>
          </a:prstGeom>
          <a:solidFill>
            <a:srgbClr val="F59E0B"/>
          </a:solidFill>
          <a:ln/>
        </p:spPr>
      </p:sp>
      <p:sp>
        <p:nvSpPr>
          <p:cNvPr id="29" name="Text 27"/>
          <p:cNvSpPr/>
          <p:nvPr/>
        </p:nvSpPr>
        <p:spPr>
          <a:xfrm>
            <a:off x="8001000" y="2331720"/>
            <a:ext cx="822960" cy="228600"/>
          </a:xfrm>
          <a:prstGeom prst="rect">
            <a:avLst/>
          </a:prstGeom>
          <a:noFill/>
          <a:ln/>
        </p:spPr>
        <p:txBody>
          <a:bodyPr wrap="square" rtlCol="0" anchor="ctr"/>
          <a:lstStyle/>
          <a:p>
            <a:pPr marL="0" indent="0" algn="ctr">
              <a:buNone/>
            </a:pPr>
            <a:r>
              <a:rPr lang="en-US" sz="700" b="1" dirty="0">
                <a:solidFill>
                  <a:srgbClr val="FFFFFF"/>
                </a:solidFill>
              </a:rPr>
              <a:t>MEDIUM</a:t>
            </a:r>
            <a:endParaRPr lang="en-US" sz="700" dirty="0"/>
          </a:p>
        </p:txBody>
      </p:sp>
      <p:sp>
        <p:nvSpPr>
          <p:cNvPr id="30" name="Text 28"/>
          <p:cNvSpPr/>
          <p:nvPr/>
        </p:nvSpPr>
        <p:spPr>
          <a:xfrm>
            <a:off x="5440680" y="2286000"/>
            <a:ext cx="2468880" cy="347472"/>
          </a:xfrm>
          <a:prstGeom prst="rect">
            <a:avLst/>
          </a:prstGeom>
          <a:noFill/>
          <a:ln/>
        </p:spPr>
        <p:txBody>
          <a:bodyPr wrap="square" rtlCol="0" anchor="ctr"/>
          <a:lstStyle/>
          <a:p>
            <a:pPr marL="0" indent="0">
              <a:buNone/>
            </a:pPr>
            <a:r>
              <a:rPr lang="en-US" sz="1100" b="1" dirty="0">
                <a:solidFill>
                  <a:srgbClr val="1A1A1A"/>
                </a:solidFill>
              </a:rPr>
              <a:t>Improve Driver Ratings</a:t>
            </a:r>
            <a:endParaRPr lang="en-US" sz="1100" dirty="0"/>
          </a:p>
        </p:txBody>
      </p:sp>
      <p:sp>
        <p:nvSpPr>
          <p:cNvPr id="31" name="Text 29"/>
          <p:cNvSpPr/>
          <p:nvPr/>
        </p:nvSpPr>
        <p:spPr>
          <a:xfrm>
            <a:off x="4864608" y="2761488"/>
            <a:ext cx="3977640" cy="621792"/>
          </a:xfrm>
          <a:prstGeom prst="rect">
            <a:avLst/>
          </a:prstGeom>
          <a:noFill/>
          <a:ln/>
        </p:spPr>
        <p:txBody>
          <a:bodyPr wrap="square" rtlCol="0" anchor="ctr"/>
          <a:lstStyle/>
          <a:p>
            <a:pPr marL="0" indent="0">
              <a:buNone/>
            </a:pPr>
            <a:r>
              <a:rPr lang="en-US" sz="900" dirty="0">
                <a:solidFill>
                  <a:srgbClr val="6B7280"/>
                </a:solidFill>
              </a:rPr>
              <a:t>Launch training programs. Implement feedback loops. Reward drivers with consistent ratings above 4.0.</a:t>
            </a:r>
            <a:endParaRPr lang="en-US" sz="900" dirty="0"/>
          </a:p>
        </p:txBody>
      </p:sp>
      <p:sp>
        <p:nvSpPr>
          <p:cNvPr id="32" name="Shape 30"/>
          <p:cNvSpPr/>
          <p:nvPr/>
        </p:nvSpPr>
        <p:spPr>
          <a:xfrm>
            <a:off x="274320" y="3611880"/>
            <a:ext cx="4206240" cy="1280160"/>
          </a:xfrm>
          <a:prstGeom prst="rect">
            <a:avLst/>
          </a:prstGeom>
          <a:solidFill>
            <a:srgbClr val="FFFFFF"/>
          </a:solidFill>
          <a:ln/>
          <a:effectLst>
            <a:outerShdw blurRad="63500" dist="25400" dir="8100000" algn="bl" rotWithShape="0">
              <a:srgbClr val="000000">
                <a:alpha val="10000"/>
              </a:srgbClr>
            </a:outerShdw>
          </a:effectLst>
        </p:spPr>
      </p:sp>
      <p:sp>
        <p:nvSpPr>
          <p:cNvPr id="33" name="Shape 31"/>
          <p:cNvSpPr/>
          <p:nvPr/>
        </p:nvSpPr>
        <p:spPr>
          <a:xfrm>
            <a:off x="384048" y="3721608"/>
            <a:ext cx="457200" cy="457200"/>
          </a:xfrm>
          <a:prstGeom prst="ellipse">
            <a:avLst/>
          </a:prstGeom>
          <a:solidFill>
            <a:srgbClr val="EF4444"/>
          </a:solidFill>
          <a:ln w="12700">
            <a:solidFill>
              <a:srgbClr val="EF4444"/>
            </a:solidFill>
            <a:prstDash val="solid"/>
          </a:ln>
        </p:spPr>
      </p:sp>
      <p:sp>
        <p:nvSpPr>
          <p:cNvPr id="34" name="Text 32"/>
          <p:cNvSpPr/>
          <p:nvPr/>
        </p:nvSpPr>
        <p:spPr>
          <a:xfrm>
            <a:off x="384048" y="3721608"/>
            <a:ext cx="457200" cy="457200"/>
          </a:xfrm>
          <a:prstGeom prst="rect">
            <a:avLst/>
          </a:prstGeom>
          <a:noFill/>
          <a:ln/>
        </p:spPr>
        <p:txBody>
          <a:bodyPr wrap="square" rtlCol="0" anchor="ctr"/>
          <a:lstStyle/>
          <a:p>
            <a:pPr marL="0" indent="0" algn="ctr">
              <a:buNone/>
            </a:pPr>
            <a:r>
              <a:rPr lang="en-US" sz="1200" b="1" dirty="0">
                <a:solidFill>
                  <a:srgbClr val="FFFFFF"/>
                </a:solidFill>
              </a:rPr>
              <a:t>05</a:t>
            </a:r>
            <a:endParaRPr lang="en-US" sz="1200" dirty="0"/>
          </a:p>
        </p:txBody>
      </p:sp>
      <p:sp>
        <p:nvSpPr>
          <p:cNvPr id="35" name="Shape 33"/>
          <p:cNvSpPr/>
          <p:nvPr/>
        </p:nvSpPr>
        <p:spPr>
          <a:xfrm>
            <a:off x="3520440" y="3749040"/>
            <a:ext cx="822960" cy="228600"/>
          </a:xfrm>
          <a:prstGeom prst="roundRect">
            <a:avLst>
              <a:gd name="adj" fmla="val 20000"/>
            </a:avLst>
          </a:prstGeom>
          <a:solidFill>
            <a:srgbClr val="EF4444"/>
          </a:solidFill>
          <a:ln/>
        </p:spPr>
      </p:sp>
      <p:sp>
        <p:nvSpPr>
          <p:cNvPr id="36" name="Text 34"/>
          <p:cNvSpPr/>
          <p:nvPr/>
        </p:nvSpPr>
        <p:spPr>
          <a:xfrm>
            <a:off x="3520440" y="3749040"/>
            <a:ext cx="822960" cy="228600"/>
          </a:xfrm>
          <a:prstGeom prst="rect">
            <a:avLst/>
          </a:prstGeom>
          <a:noFill/>
          <a:ln/>
        </p:spPr>
        <p:txBody>
          <a:bodyPr wrap="square" rtlCol="0" anchor="ctr"/>
          <a:lstStyle/>
          <a:p>
            <a:pPr marL="0" indent="0" algn="ctr">
              <a:buNone/>
            </a:pPr>
            <a:r>
              <a:rPr lang="en-US" sz="700" b="1" dirty="0">
                <a:solidFill>
                  <a:srgbClr val="FFFFFF"/>
                </a:solidFill>
              </a:rPr>
              <a:t>HIGH</a:t>
            </a:r>
            <a:endParaRPr lang="en-US" sz="700" dirty="0"/>
          </a:p>
        </p:txBody>
      </p:sp>
      <p:sp>
        <p:nvSpPr>
          <p:cNvPr id="37" name="Text 35"/>
          <p:cNvSpPr/>
          <p:nvPr/>
        </p:nvSpPr>
        <p:spPr>
          <a:xfrm>
            <a:off x="960120" y="3703320"/>
            <a:ext cx="2468880" cy="347472"/>
          </a:xfrm>
          <a:prstGeom prst="rect">
            <a:avLst/>
          </a:prstGeom>
          <a:noFill/>
          <a:ln/>
        </p:spPr>
        <p:txBody>
          <a:bodyPr wrap="square" rtlCol="0" anchor="ctr"/>
          <a:lstStyle/>
          <a:p>
            <a:pPr marL="0" indent="0">
              <a:buNone/>
            </a:pPr>
            <a:r>
              <a:rPr lang="en-US" sz="1100" b="1" dirty="0">
                <a:solidFill>
                  <a:srgbClr val="1A1A1A"/>
                </a:solidFill>
              </a:rPr>
              <a:t>Optimize Driver Allocation</a:t>
            </a:r>
            <a:endParaRPr lang="en-US" sz="1100" dirty="0"/>
          </a:p>
        </p:txBody>
      </p:sp>
      <p:sp>
        <p:nvSpPr>
          <p:cNvPr id="38" name="Text 36"/>
          <p:cNvSpPr/>
          <p:nvPr/>
        </p:nvSpPr>
        <p:spPr>
          <a:xfrm>
            <a:off x="384048" y="4178808"/>
            <a:ext cx="3977640" cy="621792"/>
          </a:xfrm>
          <a:prstGeom prst="rect">
            <a:avLst/>
          </a:prstGeom>
          <a:noFill/>
          <a:ln/>
        </p:spPr>
        <p:txBody>
          <a:bodyPr wrap="square" rtlCol="0" anchor="ctr"/>
          <a:lstStyle/>
          <a:p>
            <a:pPr marL="0" indent="0">
              <a:buNone/>
            </a:pPr>
            <a:r>
              <a:rPr lang="en-US" sz="900" dirty="0">
                <a:solidFill>
                  <a:srgbClr val="6B7280"/>
                </a:solidFill>
              </a:rPr>
              <a:t>Improve matching algorithm to reduce 'Driver Not Found' (10,124 incidents). Use demand prediction.</a:t>
            </a:r>
            <a:endParaRPr lang="en-US" sz="900" dirty="0"/>
          </a:p>
        </p:txBody>
      </p:sp>
      <p:sp>
        <p:nvSpPr>
          <p:cNvPr id="39" name="Shape 37"/>
          <p:cNvSpPr/>
          <p:nvPr/>
        </p:nvSpPr>
        <p:spPr>
          <a:xfrm>
            <a:off x="4754880" y="3611880"/>
            <a:ext cx="4206240" cy="1280160"/>
          </a:xfrm>
          <a:prstGeom prst="rect">
            <a:avLst/>
          </a:prstGeom>
          <a:solidFill>
            <a:srgbClr val="FFFFFF"/>
          </a:solidFill>
          <a:ln/>
          <a:effectLst>
            <a:outerShdw blurRad="63500" dist="25400" dir="8100000" algn="bl" rotWithShape="0">
              <a:srgbClr val="000000">
                <a:alpha val="10000"/>
              </a:srgbClr>
            </a:outerShdw>
          </a:effectLst>
        </p:spPr>
      </p:sp>
      <p:sp>
        <p:nvSpPr>
          <p:cNvPr id="40" name="Shape 38"/>
          <p:cNvSpPr/>
          <p:nvPr/>
        </p:nvSpPr>
        <p:spPr>
          <a:xfrm>
            <a:off x="4864608" y="3721608"/>
            <a:ext cx="457200" cy="457200"/>
          </a:xfrm>
          <a:prstGeom prst="ellipse">
            <a:avLst/>
          </a:prstGeom>
          <a:solidFill>
            <a:srgbClr val="10B981"/>
          </a:solidFill>
          <a:ln w="12700">
            <a:solidFill>
              <a:srgbClr val="10B981"/>
            </a:solidFill>
            <a:prstDash val="solid"/>
          </a:ln>
        </p:spPr>
      </p:sp>
      <p:sp>
        <p:nvSpPr>
          <p:cNvPr id="41" name="Text 39"/>
          <p:cNvSpPr/>
          <p:nvPr/>
        </p:nvSpPr>
        <p:spPr>
          <a:xfrm>
            <a:off x="4864608" y="3721608"/>
            <a:ext cx="457200" cy="457200"/>
          </a:xfrm>
          <a:prstGeom prst="rect">
            <a:avLst/>
          </a:prstGeom>
          <a:noFill/>
          <a:ln/>
        </p:spPr>
        <p:txBody>
          <a:bodyPr wrap="square" rtlCol="0" anchor="ctr"/>
          <a:lstStyle/>
          <a:p>
            <a:pPr marL="0" indent="0" algn="ctr">
              <a:buNone/>
            </a:pPr>
            <a:r>
              <a:rPr lang="en-US" sz="1200" b="1" dirty="0">
                <a:solidFill>
                  <a:srgbClr val="FFFFFF"/>
                </a:solidFill>
              </a:rPr>
              <a:t>06</a:t>
            </a:r>
            <a:endParaRPr lang="en-US" sz="1200" dirty="0"/>
          </a:p>
        </p:txBody>
      </p:sp>
      <p:sp>
        <p:nvSpPr>
          <p:cNvPr id="42" name="Shape 40"/>
          <p:cNvSpPr/>
          <p:nvPr/>
        </p:nvSpPr>
        <p:spPr>
          <a:xfrm>
            <a:off x="8001000" y="3749040"/>
            <a:ext cx="822960" cy="228600"/>
          </a:xfrm>
          <a:prstGeom prst="roundRect">
            <a:avLst>
              <a:gd name="adj" fmla="val 20000"/>
            </a:avLst>
          </a:prstGeom>
          <a:solidFill>
            <a:srgbClr val="10B981"/>
          </a:solidFill>
          <a:ln/>
        </p:spPr>
      </p:sp>
      <p:sp>
        <p:nvSpPr>
          <p:cNvPr id="43" name="Text 41"/>
          <p:cNvSpPr/>
          <p:nvPr/>
        </p:nvSpPr>
        <p:spPr>
          <a:xfrm>
            <a:off x="8001000" y="3749040"/>
            <a:ext cx="822960" cy="228600"/>
          </a:xfrm>
          <a:prstGeom prst="rect">
            <a:avLst/>
          </a:prstGeom>
          <a:noFill/>
          <a:ln/>
        </p:spPr>
        <p:txBody>
          <a:bodyPr wrap="square" rtlCol="0" anchor="ctr"/>
          <a:lstStyle/>
          <a:p>
            <a:pPr marL="0" indent="0" algn="ctr">
              <a:buNone/>
            </a:pPr>
            <a:r>
              <a:rPr lang="en-US" sz="700" b="1" dirty="0">
                <a:solidFill>
                  <a:srgbClr val="FFFFFF"/>
                </a:solidFill>
              </a:rPr>
              <a:t>LOW</a:t>
            </a:r>
            <a:endParaRPr lang="en-US" sz="700" dirty="0"/>
          </a:p>
        </p:txBody>
      </p:sp>
      <p:sp>
        <p:nvSpPr>
          <p:cNvPr id="44" name="Text 42"/>
          <p:cNvSpPr/>
          <p:nvPr/>
        </p:nvSpPr>
        <p:spPr>
          <a:xfrm>
            <a:off x="5440680" y="3703320"/>
            <a:ext cx="2468880" cy="347472"/>
          </a:xfrm>
          <a:prstGeom prst="rect">
            <a:avLst/>
          </a:prstGeom>
          <a:noFill/>
          <a:ln/>
        </p:spPr>
        <p:txBody>
          <a:bodyPr wrap="square" rtlCol="0" anchor="ctr"/>
          <a:lstStyle/>
          <a:p>
            <a:pPr marL="0" indent="0">
              <a:buNone/>
            </a:pPr>
            <a:r>
              <a:rPr lang="en-US" sz="1100" b="1" dirty="0">
                <a:solidFill>
                  <a:srgbClr val="1A1A1A"/>
                </a:solidFill>
              </a:rPr>
              <a:t>Monitor Incomplete Rides</a:t>
            </a:r>
            <a:endParaRPr lang="en-US" sz="1100" dirty="0"/>
          </a:p>
        </p:txBody>
      </p:sp>
      <p:sp>
        <p:nvSpPr>
          <p:cNvPr id="45" name="Text 43"/>
          <p:cNvSpPr/>
          <p:nvPr/>
        </p:nvSpPr>
        <p:spPr>
          <a:xfrm>
            <a:off x="4864608" y="4178808"/>
            <a:ext cx="3977640" cy="621792"/>
          </a:xfrm>
          <a:prstGeom prst="rect">
            <a:avLst/>
          </a:prstGeom>
          <a:noFill/>
          <a:ln/>
        </p:spPr>
        <p:txBody>
          <a:bodyPr wrap="square" rtlCol="0" anchor="ctr"/>
          <a:lstStyle/>
          <a:p>
            <a:pPr marL="0" indent="0">
              <a:buNone/>
            </a:pPr>
            <a:r>
              <a:rPr lang="en-US" sz="900" dirty="0">
                <a:solidFill>
                  <a:srgbClr val="6B7280"/>
                </a:solidFill>
              </a:rPr>
              <a:t>3,926 incomplete rides need investigation. Categorize reasons and address systemic issues.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C518"/>
          </a:solidFill>
          <a:ln/>
        </p:spPr>
      </p:sp>
      <p:sp>
        <p:nvSpPr>
          <p:cNvPr id="3" name="Text 1"/>
          <p:cNvSpPr/>
          <p:nvPr/>
        </p:nvSpPr>
        <p:spPr>
          <a:xfrm>
            <a:off x="365760" y="457200"/>
            <a:ext cx="4572000" cy="457200"/>
          </a:xfrm>
          <a:prstGeom prst="rect">
            <a:avLst/>
          </a:prstGeom>
          <a:noFill/>
          <a:ln/>
        </p:spPr>
        <p:txBody>
          <a:bodyPr wrap="square" rtlCol="0" anchor="ctr"/>
          <a:lstStyle/>
          <a:p>
            <a:pPr marL="0" indent="0">
              <a:buNone/>
            </a:pPr>
            <a:r>
              <a:rPr lang="en-US" sz="1100" b="1" kern="0" spc="600" dirty="0">
                <a:solidFill>
                  <a:srgbClr val="F5C518"/>
                </a:solidFill>
              </a:rPr>
              <a:t>PROJECT</a:t>
            </a:r>
            <a:endParaRPr lang="en-US" sz="1100" dirty="0"/>
          </a:p>
        </p:txBody>
      </p:sp>
      <p:sp>
        <p:nvSpPr>
          <p:cNvPr id="4" name="Text 2"/>
          <p:cNvSpPr/>
          <p:nvPr/>
        </p:nvSpPr>
        <p:spPr>
          <a:xfrm>
            <a:off x="365760" y="822960"/>
            <a:ext cx="6400800" cy="731520"/>
          </a:xfrm>
          <a:prstGeom prst="rect">
            <a:avLst/>
          </a:prstGeom>
          <a:noFill/>
          <a:ln/>
        </p:spPr>
        <p:txBody>
          <a:bodyPr wrap="square" rtlCol="0" anchor="ctr"/>
          <a:lstStyle/>
          <a:p>
            <a:pPr marL="0" indent="0">
              <a:buNone/>
            </a:pPr>
            <a:r>
              <a:rPr lang="en-US" sz="3800" b="1" dirty="0">
                <a:solidFill>
                  <a:srgbClr val="FFFFFF"/>
                </a:solidFill>
              </a:rPr>
              <a:t>CONCLUSION</a:t>
            </a:r>
            <a:endParaRPr lang="en-US" sz="3800" dirty="0"/>
          </a:p>
        </p:txBody>
      </p:sp>
      <p:pic>
        <p:nvPicPr>
          <p:cNvPr id="5" name="Image 0" descr="preencoded.png"/>
          <p:cNvPicPr>
            <a:picLocks noChangeAspect="1"/>
          </p:cNvPicPr>
          <p:nvPr/>
        </p:nvPicPr>
        <p:blipFill>
          <a:blip r:embed="rId3"/>
          <a:stretch>
            <a:fillRect/>
          </a:stretch>
        </p:blipFill>
        <p:spPr>
          <a:xfrm>
            <a:off x="365760" y="1828800"/>
            <a:ext cx="347472" cy="347472"/>
          </a:xfrm>
          <a:prstGeom prst="rect">
            <a:avLst/>
          </a:prstGeom>
        </p:spPr>
      </p:pic>
      <p:sp>
        <p:nvSpPr>
          <p:cNvPr id="6" name="Text 3"/>
          <p:cNvSpPr/>
          <p:nvPr/>
        </p:nvSpPr>
        <p:spPr>
          <a:xfrm>
            <a:off x="868680" y="1828800"/>
            <a:ext cx="5943600" cy="457200"/>
          </a:xfrm>
          <a:prstGeom prst="rect">
            <a:avLst/>
          </a:prstGeom>
          <a:noFill/>
          <a:ln/>
        </p:spPr>
        <p:txBody>
          <a:bodyPr wrap="square" rtlCol="0" anchor="ctr"/>
          <a:lstStyle/>
          <a:p>
            <a:pPr marL="0" indent="0">
              <a:buNone/>
            </a:pPr>
            <a:r>
              <a:rPr lang="en-US" sz="1300" dirty="0">
                <a:solidFill>
                  <a:srgbClr val="CCCCCC"/>
                </a:solidFill>
              </a:rPr>
              <a:t>Cleaned 103,024 rows in Excel — reduced to 20,408 quality records</a:t>
            </a:r>
            <a:endParaRPr lang="en-US" sz="1300" dirty="0"/>
          </a:p>
        </p:txBody>
      </p:sp>
      <p:pic>
        <p:nvPicPr>
          <p:cNvPr id="7" name="Image 1" descr="preencoded.png"/>
          <p:cNvPicPr>
            <a:picLocks noChangeAspect="1"/>
          </p:cNvPicPr>
          <p:nvPr/>
        </p:nvPicPr>
        <p:blipFill>
          <a:blip r:embed="rId4"/>
          <a:stretch>
            <a:fillRect/>
          </a:stretch>
        </p:blipFill>
        <p:spPr>
          <a:xfrm>
            <a:off x="365760" y="2578608"/>
            <a:ext cx="347472" cy="347472"/>
          </a:xfrm>
          <a:prstGeom prst="rect">
            <a:avLst/>
          </a:prstGeom>
        </p:spPr>
      </p:pic>
      <p:sp>
        <p:nvSpPr>
          <p:cNvPr id="8" name="Text 4"/>
          <p:cNvSpPr/>
          <p:nvPr/>
        </p:nvSpPr>
        <p:spPr>
          <a:xfrm>
            <a:off x="868680" y="2578608"/>
            <a:ext cx="5943600" cy="457200"/>
          </a:xfrm>
          <a:prstGeom prst="rect">
            <a:avLst/>
          </a:prstGeom>
          <a:noFill/>
          <a:ln/>
        </p:spPr>
        <p:txBody>
          <a:bodyPr wrap="square" rtlCol="0" anchor="ctr"/>
          <a:lstStyle/>
          <a:p>
            <a:pPr marL="0" indent="0">
              <a:buNone/>
            </a:pPr>
            <a:r>
              <a:rPr lang="en-US" sz="1300" dirty="0">
                <a:solidFill>
                  <a:srgbClr val="CCCCCC"/>
                </a:solidFill>
              </a:rPr>
              <a:t>Ran 10 SQL queries on PostgreSQL revealing critical operational metrics</a:t>
            </a:r>
            <a:endParaRPr lang="en-US" sz="1300" dirty="0"/>
          </a:p>
        </p:txBody>
      </p:sp>
      <p:pic>
        <p:nvPicPr>
          <p:cNvPr id="9" name="Image 2" descr="preencoded.png"/>
          <p:cNvPicPr>
            <a:picLocks noChangeAspect="1"/>
          </p:cNvPicPr>
          <p:nvPr/>
        </p:nvPicPr>
        <p:blipFill>
          <a:blip r:embed="rId5"/>
          <a:stretch>
            <a:fillRect/>
          </a:stretch>
        </p:blipFill>
        <p:spPr>
          <a:xfrm>
            <a:off x="365760" y="3328416"/>
            <a:ext cx="347472" cy="347472"/>
          </a:xfrm>
          <a:prstGeom prst="rect">
            <a:avLst/>
          </a:prstGeom>
        </p:spPr>
      </p:pic>
      <p:sp>
        <p:nvSpPr>
          <p:cNvPr id="10" name="Text 5"/>
          <p:cNvSpPr/>
          <p:nvPr/>
        </p:nvSpPr>
        <p:spPr>
          <a:xfrm>
            <a:off x="868680" y="3328416"/>
            <a:ext cx="5943600" cy="457200"/>
          </a:xfrm>
          <a:prstGeom prst="rect">
            <a:avLst/>
          </a:prstGeom>
          <a:noFill/>
          <a:ln/>
        </p:spPr>
        <p:txBody>
          <a:bodyPr wrap="square" rtlCol="0" anchor="ctr"/>
          <a:lstStyle/>
          <a:p>
            <a:pPr marL="0" indent="0">
              <a:buNone/>
            </a:pPr>
            <a:r>
              <a:rPr lang="en-US" sz="1300" dirty="0">
                <a:solidFill>
                  <a:srgbClr val="CCCCCC"/>
                </a:solidFill>
              </a:rPr>
              <a:t>Built 5-tab Power BI dashboard covering all business dimensions</a:t>
            </a:r>
            <a:endParaRPr lang="en-US" sz="1300" dirty="0"/>
          </a:p>
        </p:txBody>
      </p:sp>
      <p:pic>
        <p:nvPicPr>
          <p:cNvPr id="11" name="Image 3" descr="preencoded.png"/>
          <p:cNvPicPr>
            <a:picLocks noChangeAspect="1"/>
          </p:cNvPicPr>
          <p:nvPr/>
        </p:nvPicPr>
        <p:blipFill>
          <a:blip r:embed="rId6"/>
          <a:stretch>
            <a:fillRect/>
          </a:stretch>
        </p:blipFill>
        <p:spPr>
          <a:xfrm>
            <a:off x="365760" y="4078224"/>
            <a:ext cx="347472" cy="347472"/>
          </a:xfrm>
          <a:prstGeom prst="rect">
            <a:avLst/>
          </a:prstGeom>
        </p:spPr>
      </p:pic>
      <p:sp>
        <p:nvSpPr>
          <p:cNvPr id="12" name="Text 6"/>
          <p:cNvSpPr/>
          <p:nvPr/>
        </p:nvSpPr>
        <p:spPr>
          <a:xfrm>
            <a:off x="868680" y="4078224"/>
            <a:ext cx="5943600" cy="457200"/>
          </a:xfrm>
          <a:prstGeom prst="rect">
            <a:avLst/>
          </a:prstGeom>
          <a:noFill/>
          <a:ln/>
        </p:spPr>
        <p:txBody>
          <a:bodyPr wrap="square" rtlCol="0" anchor="ctr"/>
          <a:lstStyle/>
          <a:p>
            <a:pPr marL="0" indent="0">
              <a:buNone/>
            </a:pPr>
            <a:r>
              <a:rPr lang="en-US" sz="1300" dirty="0">
                <a:solidFill>
                  <a:srgbClr val="CCCCCC"/>
                </a:solidFill>
              </a:rPr>
              <a:t>Generated actionable insights for operations, revenue &amp; customer experience</a:t>
            </a:r>
            <a:endParaRPr lang="en-US" sz="1300" dirty="0"/>
          </a:p>
        </p:txBody>
      </p:sp>
      <p:sp>
        <p:nvSpPr>
          <p:cNvPr id="13" name="Shape 7"/>
          <p:cNvSpPr/>
          <p:nvPr/>
        </p:nvSpPr>
        <p:spPr>
          <a:xfrm>
            <a:off x="365760" y="4572000"/>
            <a:ext cx="5943600" cy="365760"/>
          </a:xfrm>
          <a:prstGeom prst="rect">
            <a:avLst/>
          </a:prstGeom>
          <a:solidFill>
            <a:srgbClr val="F5C518"/>
          </a:solidFill>
          <a:ln/>
        </p:spPr>
      </p:sp>
      <p:sp>
        <p:nvSpPr>
          <p:cNvPr id="14" name="Text 8"/>
          <p:cNvSpPr/>
          <p:nvPr/>
        </p:nvSpPr>
        <p:spPr>
          <a:xfrm>
            <a:off x="365760" y="4572000"/>
            <a:ext cx="5943600" cy="365760"/>
          </a:xfrm>
          <a:prstGeom prst="rect">
            <a:avLst/>
          </a:prstGeom>
          <a:noFill/>
          <a:ln/>
        </p:spPr>
        <p:txBody>
          <a:bodyPr wrap="square" rtlCol="0" anchor="ctr"/>
          <a:lstStyle/>
          <a:p>
            <a:pPr marL="0" indent="0" algn="ctr">
              <a:buNone/>
            </a:pPr>
            <a:r>
              <a:rPr lang="en-US" sz="1000" b="1" dirty="0">
                <a:solidFill>
                  <a:srgbClr val="1A1A1A"/>
                </a:solidFill>
              </a:rPr>
              <a:t>Impact: Data-driven decisions can reduce cancellations by ~15% and boost revenue by 20%+</a:t>
            </a:r>
            <a:endParaRPr lang="en-US" sz="1000" dirty="0"/>
          </a:p>
        </p:txBody>
      </p:sp>
      <p:sp>
        <p:nvSpPr>
          <p:cNvPr id="15" name="Shape 9"/>
          <p:cNvSpPr/>
          <p:nvPr/>
        </p:nvSpPr>
        <p:spPr>
          <a:xfrm>
            <a:off x="6858000" y="914400"/>
            <a:ext cx="2286000" cy="2286000"/>
          </a:xfrm>
          <a:prstGeom prst="ellipse">
            <a:avLst/>
          </a:prstGeom>
          <a:solidFill>
            <a:srgbClr val="2A2A2A"/>
          </a:solidFill>
          <a:ln w="12700">
            <a:solidFill>
              <a:srgbClr val="2A2A2A"/>
            </a:solidFill>
            <a:prstDash val="solid"/>
          </a:ln>
        </p:spPr>
      </p:sp>
      <p:pic>
        <p:nvPicPr>
          <p:cNvPr id="16" name="Image 4" descr="preencoded.png"/>
          <p:cNvPicPr>
            <a:picLocks noChangeAspect="1"/>
          </p:cNvPicPr>
          <p:nvPr/>
        </p:nvPicPr>
        <p:blipFill>
          <a:blip r:embed="rId7"/>
          <a:stretch>
            <a:fillRect/>
          </a:stretch>
        </p:blipFill>
        <p:spPr>
          <a:xfrm>
            <a:off x="7360920" y="1371600"/>
            <a:ext cx="822960" cy="822960"/>
          </a:xfrm>
          <a:prstGeom prst="rect">
            <a:avLst/>
          </a:prstGeom>
        </p:spPr>
      </p:pic>
      <p:sp>
        <p:nvSpPr>
          <p:cNvPr id="17" name="Shape 10"/>
          <p:cNvSpPr/>
          <p:nvPr/>
        </p:nvSpPr>
        <p:spPr>
          <a:xfrm>
            <a:off x="7772400" y="3474720"/>
            <a:ext cx="1371600" cy="1371600"/>
          </a:xfrm>
          <a:prstGeom prst="ellipse">
            <a:avLst/>
          </a:prstGeom>
          <a:solidFill>
            <a:srgbClr val="2A2A2A"/>
          </a:solidFill>
          <a:ln w="12700">
            <a:solidFill>
              <a:srgbClr val="2A2A2A"/>
            </a:solidFill>
            <a:prstDash val="solid"/>
          </a:ln>
        </p:spPr>
      </p:sp>
      <p:pic>
        <p:nvPicPr>
          <p:cNvPr id="18" name="Image 5" descr="preencoded.png"/>
          <p:cNvPicPr>
            <a:picLocks noChangeAspect="1"/>
          </p:cNvPicPr>
          <p:nvPr/>
        </p:nvPicPr>
        <p:blipFill>
          <a:blip r:embed="rId8"/>
          <a:stretch>
            <a:fillRect/>
          </a:stretch>
        </p:blipFill>
        <p:spPr>
          <a:xfrm>
            <a:off x="8065008" y="3749040"/>
            <a:ext cx="457200" cy="457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C518"/>
        </a:solidFill>
        <a:effectLst/>
      </p:bgPr>
    </p:bg>
    <p:spTree>
      <p:nvGrpSpPr>
        <p:cNvPr id="1" name=""/>
        <p:cNvGrpSpPr/>
        <p:nvPr/>
      </p:nvGrpSpPr>
      <p:grpSpPr>
        <a:xfrm>
          <a:off x="0" y="0"/>
          <a:ext cx="0" cy="0"/>
          <a:chOff x="0" y="0"/>
          <a:chExt cx="0" cy="0"/>
        </a:xfrm>
      </p:grpSpPr>
      <p:sp>
        <p:nvSpPr>
          <p:cNvPr id="2" name="Shape 0"/>
          <p:cNvSpPr/>
          <p:nvPr/>
        </p:nvSpPr>
        <p:spPr>
          <a:xfrm>
            <a:off x="2286000" y="731520"/>
            <a:ext cx="4572000" cy="3200400"/>
          </a:xfrm>
          <a:prstGeom prst="rect">
            <a:avLst/>
          </a:prstGeom>
          <a:solidFill>
            <a:srgbClr val="1A1A1A"/>
          </a:solidFill>
          <a:ln/>
        </p:spPr>
      </p:sp>
      <p:sp>
        <p:nvSpPr>
          <p:cNvPr id="3" name="Text 1"/>
          <p:cNvSpPr/>
          <p:nvPr/>
        </p:nvSpPr>
        <p:spPr>
          <a:xfrm>
            <a:off x="2286000" y="914400"/>
            <a:ext cx="4572000" cy="914400"/>
          </a:xfrm>
          <a:prstGeom prst="rect">
            <a:avLst/>
          </a:prstGeom>
          <a:noFill/>
          <a:ln/>
        </p:spPr>
        <p:txBody>
          <a:bodyPr wrap="square" rtlCol="0" anchor="ctr"/>
          <a:lstStyle/>
          <a:p>
            <a:pPr marL="0" indent="0" algn="ctr">
              <a:buNone/>
            </a:pPr>
            <a:r>
              <a:rPr lang="en-US" sz="3600" b="1" kern="0" spc="400" dirty="0">
                <a:solidFill>
                  <a:srgbClr val="F5C518"/>
                </a:solidFill>
              </a:rPr>
              <a:t>THANK YOU</a:t>
            </a:r>
            <a:endParaRPr lang="en-US" sz="3600" dirty="0"/>
          </a:p>
        </p:txBody>
      </p:sp>
      <p:sp>
        <p:nvSpPr>
          <p:cNvPr id="4" name="Shape 2"/>
          <p:cNvSpPr/>
          <p:nvPr/>
        </p:nvSpPr>
        <p:spPr>
          <a:xfrm>
            <a:off x="3200400" y="1828800"/>
            <a:ext cx="2743200" cy="45720"/>
          </a:xfrm>
          <a:prstGeom prst="rect">
            <a:avLst/>
          </a:prstGeom>
          <a:solidFill>
            <a:srgbClr val="F5C518"/>
          </a:solidFill>
          <a:ln/>
        </p:spPr>
      </p:sp>
      <p:sp>
        <p:nvSpPr>
          <p:cNvPr id="5" name="Text 3"/>
          <p:cNvSpPr/>
          <p:nvPr/>
        </p:nvSpPr>
        <p:spPr>
          <a:xfrm>
            <a:off x="2286000" y="1965960"/>
            <a:ext cx="4572000" cy="457200"/>
          </a:xfrm>
          <a:prstGeom prst="rect">
            <a:avLst/>
          </a:prstGeom>
          <a:noFill/>
          <a:ln/>
        </p:spPr>
        <p:txBody>
          <a:bodyPr wrap="square" rtlCol="0" anchor="ctr"/>
          <a:lstStyle/>
          <a:p>
            <a:pPr marL="0" indent="0" algn="ctr">
              <a:buNone/>
            </a:pPr>
            <a:r>
              <a:rPr lang="en-US" sz="1600" b="1" dirty="0">
                <a:solidFill>
                  <a:srgbClr val="FFFFFF"/>
                </a:solidFill>
              </a:rPr>
              <a:t>Rajesh Biswal</a:t>
            </a:r>
            <a:endParaRPr lang="en-US" sz="1600" dirty="0"/>
          </a:p>
        </p:txBody>
      </p:sp>
      <p:sp>
        <p:nvSpPr>
          <p:cNvPr id="6" name="Text 4"/>
          <p:cNvSpPr/>
          <p:nvPr/>
        </p:nvSpPr>
        <p:spPr>
          <a:xfrm>
            <a:off x="2286000" y="2423160"/>
            <a:ext cx="4572000" cy="320040"/>
          </a:xfrm>
          <a:prstGeom prst="rect">
            <a:avLst/>
          </a:prstGeom>
          <a:noFill/>
          <a:ln/>
        </p:spPr>
        <p:txBody>
          <a:bodyPr wrap="square" rtlCol="0" anchor="ctr"/>
          <a:lstStyle/>
          <a:p>
            <a:pPr marL="0" indent="0" algn="ctr">
              <a:buNone/>
            </a:pPr>
            <a:r>
              <a:rPr lang="en-US" sz="1100" dirty="0">
                <a:solidFill>
                  <a:srgbClr val="AAAAAA"/>
                </a:solidFill>
              </a:rPr>
              <a:t>MCA Final Year  |  Data Analytics Project</a:t>
            </a:r>
            <a:endParaRPr lang="en-US" sz="1100" dirty="0"/>
          </a:p>
        </p:txBody>
      </p:sp>
      <p:sp>
        <p:nvSpPr>
          <p:cNvPr id="7" name="Shape 5"/>
          <p:cNvSpPr/>
          <p:nvPr/>
        </p:nvSpPr>
        <p:spPr>
          <a:xfrm>
            <a:off x="3017520" y="2926080"/>
            <a:ext cx="3108960" cy="594360"/>
          </a:xfrm>
          <a:prstGeom prst="roundRect">
            <a:avLst>
              <a:gd name="adj" fmla="val 18462"/>
            </a:avLst>
          </a:prstGeom>
          <a:solidFill>
            <a:srgbClr val="F5C518"/>
          </a:solidFill>
          <a:ln/>
        </p:spPr>
      </p:sp>
      <p:sp>
        <p:nvSpPr>
          <p:cNvPr id="8" name="Text 6"/>
          <p:cNvSpPr/>
          <p:nvPr/>
        </p:nvSpPr>
        <p:spPr>
          <a:xfrm>
            <a:off x="3017520" y="2926080"/>
            <a:ext cx="3108960" cy="594360"/>
          </a:xfrm>
          <a:prstGeom prst="rect">
            <a:avLst/>
          </a:prstGeom>
          <a:noFill/>
          <a:ln/>
        </p:spPr>
        <p:txBody>
          <a:bodyPr wrap="square" rtlCol="0" anchor="ctr"/>
          <a:lstStyle/>
          <a:p>
            <a:pPr marL="0" indent="0" algn="ctr">
              <a:buNone/>
            </a:pPr>
            <a:r>
              <a:rPr lang="en-US" sz="1800" b="1" dirty="0">
                <a:solidFill>
                  <a:srgbClr val="1A1A1A"/>
                </a:solidFill>
              </a:rPr>
              <a:t>Questions?</a:t>
            </a:r>
            <a:endParaRPr lang="en-US" sz="1800" dirty="0"/>
          </a:p>
        </p:txBody>
      </p:sp>
      <p:sp>
        <p:nvSpPr>
          <p:cNvPr id="9" name="Text 7"/>
          <p:cNvSpPr/>
          <p:nvPr/>
        </p:nvSpPr>
        <p:spPr>
          <a:xfrm>
            <a:off x="2286000" y="4114800"/>
            <a:ext cx="4572000" cy="320040"/>
          </a:xfrm>
          <a:prstGeom prst="rect">
            <a:avLst/>
          </a:prstGeom>
          <a:noFill/>
          <a:ln/>
        </p:spPr>
        <p:txBody>
          <a:bodyPr wrap="square" rtlCol="0" anchor="ctr"/>
          <a:lstStyle/>
          <a:p>
            <a:pPr marL="0" indent="0" algn="ctr">
              <a:buNone/>
            </a:pPr>
            <a:r>
              <a:rPr lang="en-US" sz="1000" i="1" dirty="0">
                <a:solidFill>
                  <a:srgbClr val="1A1A1A"/>
                </a:solidFill>
              </a:rPr>
              <a:t>Tools: Microsoft Excel  ·  PostgreSQL  ·  Power BI</a:t>
            </a:r>
            <a:endParaRPr lang="en-US" sz="1000" dirty="0"/>
          </a:p>
        </p:txBody>
      </p:sp>
      <p:sp>
        <p:nvSpPr>
          <p:cNvPr id="10" name="Shape 8"/>
          <p:cNvSpPr/>
          <p:nvPr/>
        </p:nvSpPr>
        <p:spPr>
          <a:xfrm>
            <a:off x="274320" y="274320"/>
            <a:ext cx="228600" cy="228600"/>
          </a:xfrm>
          <a:prstGeom prst="ellipse">
            <a:avLst/>
          </a:prstGeom>
          <a:solidFill>
            <a:srgbClr val="1A1A1A">
              <a:alpha val="60000"/>
            </a:srgbClr>
          </a:solidFill>
          <a:ln w="12700">
            <a:solidFill>
              <a:srgbClr val="1A1A1A">
                <a:alpha val="60000"/>
              </a:srgbClr>
            </a:solidFill>
            <a:prstDash val="solid"/>
          </a:ln>
        </p:spPr>
      </p:sp>
      <p:sp>
        <p:nvSpPr>
          <p:cNvPr id="11" name="Shape 9"/>
          <p:cNvSpPr/>
          <p:nvPr/>
        </p:nvSpPr>
        <p:spPr>
          <a:xfrm>
            <a:off x="274320" y="4663440"/>
            <a:ext cx="228600" cy="228600"/>
          </a:xfrm>
          <a:prstGeom prst="ellipse">
            <a:avLst/>
          </a:prstGeom>
          <a:solidFill>
            <a:srgbClr val="1A1A1A">
              <a:alpha val="60000"/>
            </a:srgbClr>
          </a:solidFill>
          <a:ln w="12700">
            <a:solidFill>
              <a:srgbClr val="1A1A1A">
                <a:alpha val="60000"/>
              </a:srgbClr>
            </a:solidFill>
            <a:prstDash val="solid"/>
          </a:ln>
        </p:spPr>
      </p:sp>
      <p:sp>
        <p:nvSpPr>
          <p:cNvPr id="12" name="Shape 10"/>
          <p:cNvSpPr/>
          <p:nvPr/>
        </p:nvSpPr>
        <p:spPr>
          <a:xfrm>
            <a:off x="8138160" y="274320"/>
            <a:ext cx="228600" cy="228600"/>
          </a:xfrm>
          <a:prstGeom prst="ellipse">
            <a:avLst/>
          </a:prstGeom>
          <a:solidFill>
            <a:srgbClr val="1A1A1A">
              <a:alpha val="60000"/>
            </a:srgbClr>
          </a:solidFill>
          <a:ln w="12700">
            <a:solidFill>
              <a:srgbClr val="1A1A1A">
                <a:alpha val="60000"/>
              </a:srgbClr>
            </a:solidFill>
            <a:prstDash val="solid"/>
          </a:ln>
        </p:spPr>
      </p:sp>
      <p:sp>
        <p:nvSpPr>
          <p:cNvPr id="13" name="Shape 11"/>
          <p:cNvSpPr/>
          <p:nvPr/>
        </p:nvSpPr>
        <p:spPr>
          <a:xfrm>
            <a:off x="640080" y="274320"/>
            <a:ext cx="228600" cy="228600"/>
          </a:xfrm>
          <a:prstGeom prst="ellipse">
            <a:avLst/>
          </a:prstGeom>
          <a:solidFill>
            <a:srgbClr val="1A1A1A">
              <a:alpha val="60000"/>
            </a:srgbClr>
          </a:solidFill>
          <a:ln w="12700">
            <a:solidFill>
              <a:srgbClr val="1A1A1A">
                <a:alpha val="60000"/>
              </a:srgbClr>
            </a:solidFill>
            <a:prstDash val="solid"/>
          </a:ln>
        </p:spPr>
      </p:sp>
      <p:sp>
        <p:nvSpPr>
          <p:cNvPr id="14" name="Shape 12"/>
          <p:cNvSpPr/>
          <p:nvPr/>
        </p:nvSpPr>
        <p:spPr>
          <a:xfrm>
            <a:off x="640080" y="4663440"/>
            <a:ext cx="228600" cy="228600"/>
          </a:xfrm>
          <a:prstGeom prst="ellipse">
            <a:avLst/>
          </a:prstGeom>
          <a:solidFill>
            <a:srgbClr val="1A1A1A">
              <a:alpha val="60000"/>
            </a:srgbClr>
          </a:solidFill>
          <a:ln w="12700">
            <a:solidFill>
              <a:srgbClr val="1A1A1A">
                <a:alpha val="60000"/>
              </a:srgbClr>
            </a:solidFill>
            <a:prstDash val="solid"/>
          </a:ln>
        </p:spPr>
      </p:sp>
      <p:sp>
        <p:nvSpPr>
          <p:cNvPr id="15" name="Shape 13"/>
          <p:cNvSpPr/>
          <p:nvPr/>
        </p:nvSpPr>
        <p:spPr>
          <a:xfrm>
            <a:off x="7772400" y="274320"/>
            <a:ext cx="228600" cy="228600"/>
          </a:xfrm>
          <a:prstGeom prst="ellipse">
            <a:avLst/>
          </a:prstGeom>
          <a:solidFill>
            <a:srgbClr val="1A1A1A">
              <a:alpha val="60000"/>
            </a:srgbClr>
          </a:solidFill>
          <a:ln w="12700">
            <a:solidFill>
              <a:srgbClr val="1A1A1A">
                <a:alpha val="60000"/>
              </a:srgbClr>
            </a:solidFill>
            <a:prstDash val="solid"/>
          </a:ln>
        </p:spPr>
      </p:sp>
      <p:sp>
        <p:nvSpPr>
          <p:cNvPr id="16" name="Shape 14"/>
          <p:cNvSpPr/>
          <p:nvPr/>
        </p:nvSpPr>
        <p:spPr>
          <a:xfrm>
            <a:off x="1005840" y="274320"/>
            <a:ext cx="228600" cy="228600"/>
          </a:xfrm>
          <a:prstGeom prst="ellipse">
            <a:avLst/>
          </a:prstGeom>
          <a:solidFill>
            <a:srgbClr val="1A1A1A">
              <a:alpha val="60000"/>
            </a:srgbClr>
          </a:solidFill>
          <a:ln w="12700">
            <a:solidFill>
              <a:srgbClr val="1A1A1A">
                <a:alpha val="60000"/>
              </a:srgbClr>
            </a:solidFill>
            <a:prstDash val="solid"/>
          </a:ln>
        </p:spPr>
      </p:sp>
      <p:sp>
        <p:nvSpPr>
          <p:cNvPr id="17" name="Shape 15"/>
          <p:cNvSpPr/>
          <p:nvPr/>
        </p:nvSpPr>
        <p:spPr>
          <a:xfrm>
            <a:off x="1005840" y="4663440"/>
            <a:ext cx="228600" cy="228600"/>
          </a:xfrm>
          <a:prstGeom prst="ellipse">
            <a:avLst/>
          </a:prstGeom>
          <a:solidFill>
            <a:srgbClr val="1A1A1A">
              <a:alpha val="60000"/>
            </a:srgbClr>
          </a:solidFill>
          <a:ln w="12700">
            <a:solidFill>
              <a:srgbClr val="1A1A1A">
                <a:alpha val="60000"/>
              </a:srgbClr>
            </a:solidFill>
            <a:prstDash val="solid"/>
          </a:ln>
        </p:spPr>
      </p:sp>
      <p:sp>
        <p:nvSpPr>
          <p:cNvPr id="18" name="Shape 16"/>
          <p:cNvSpPr/>
          <p:nvPr/>
        </p:nvSpPr>
        <p:spPr>
          <a:xfrm>
            <a:off x="7406640" y="274320"/>
            <a:ext cx="228600" cy="228600"/>
          </a:xfrm>
          <a:prstGeom prst="ellipse">
            <a:avLst/>
          </a:prstGeom>
          <a:solidFill>
            <a:srgbClr val="1A1A1A">
              <a:alpha val="60000"/>
            </a:srgbClr>
          </a:solidFill>
          <a:ln w="12700">
            <a:solidFill>
              <a:srgbClr val="1A1A1A">
                <a:alpha val="60000"/>
              </a:srgbClr>
            </a:solidFill>
            <a:prstDash val="solid"/>
          </a:ln>
        </p:spPr>
      </p:sp>
      <p:sp>
        <p:nvSpPr>
          <p:cNvPr id="19" name="Shape 17"/>
          <p:cNvSpPr/>
          <p:nvPr/>
        </p:nvSpPr>
        <p:spPr>
          <a:xfrm>
            <a:off x="1371600" y="274320"/>
            <a:ext cx="228600" cy="228600"/>
          </a:xfrm>
          <a:prstGeom prst="ellipse">
            <a:avLst/>
          </a:prstGeom>
          <a:solidFill>
            <a:srgbClr val="1A1A1A">
              <a:alpha val="60000"/>
            </a:srgbClr>
          </a:solidFill>
          <a:ln w="12700">
            <a:solidFill>
              <a:srgbClr val="1A1A1A">
                <a:alpha val="60000"/>
              </a:srgbClr>
            </a:solidFill>
            <a:prstDash val="solid"/>
          </a:ln>
        </p:spPr>
      </p:sp>
      <p:sp>
        <p:nvSpPr>
          <p:cNvPr id="20" name="Shape 18"/>
          <p:cNvSpPr/>
          <p:nvPr/>
        </p:nvSpPr>
        <p:spPr>
          <a:xfrm>
            <a:off x="1371600" y="4663440"/>
            <a:ext cx="228600" cy="228600"/>
          </a:xfrm>
          <a:prstGeom prst="ellipse">
            <a:avLst/>
          </a:prstGeom>
          <a:solidFill>
            <a:srgbClr val="1A1A1A">
              <a:alpha val="60000"/>
            </a:srgbClr>
          </a:solidFill>
          <a:ln w="12700">
            <a:solidFill>
              <a:srgbClr val="1A1A1A">
                <a:alpha val="60000"/>
              </a:srgbClr>
            </a:solidFill>
            <a:prstDash val="solid"/>
          </a:ln>
        </p:spPr>
      </p:sp>
      <p:sp>
        <p:nvSpPr>
          <p:cNvPr id="21" name="Shape 19"/>
          <p:cNvSpPr/>
          <p:nvPr/>
        </p:nvSpPr>
        <p:spPr>
          <a:xfrm>
            <a:off x="7040880" y="274320"/>
            <a:ext cx="228600" cy="228600"/>
          </a:xfrm>
          <a:prstGeom prst="ellipse">
            <a:avLst/>
          </a:prstGeom>
          <a:solidFill>
            <a:srgbClr val="1A1A1A">
              <a:alpha val="60000"/>
            </a:srgbClr>
          </a:solidFill>
          <a:ln w="12700">
            <a:solidFill>
              <a:srgbClr val="1A1A1A">
                <a:alpha val="60000"/>
              </a:srgbClr>
            </a:solidFill>
            <a:prstDash val="solid"/>
          </a:ln>
        </p:spPr>
      </p:sp>
      <p:pic>
        <p:nvPicPr>
          <p:cNvPr id="22" name="Image 0" descr="preencoded.png"/>
          <p:cNvPicPr>
            <a:picLocks noChangeAspect="1"/>
          </p:cNvPicPr>
          <p:nvPr/>
        </p:nvPicPr>
        <p:blipFill>
          <a:blip r:embed="rId3"/>
          <a:stretch>
            <a:fillRect/>
          </a:stretch>
        </p:blipFill>
        <p:spPr>
          <a:xfrm>
            <a:off x="457200" y="2194560"/>
            <a:ext cx="914400" cy="914400"/>
          </a:xfrm>
          <a:prstGeom prst="rect">
            <a:avLst/>
          </a:prstGeom>
        </p:spPr>
      </p:pic>
      <p:pic>
        <p:nvPicPr>
          <p:cNvPr id="23" name="Image 1" descr="preencoded.png"/>
          <p:cNvPicPr>
            <a:picLocks noChangeAspect="1"/>
          </p:cNvPicPr>
          <p:nvPr/>
        </p:nvPicPr>
        <p:blipFill>
          <a:blip r:embed="rId3"/>
          <a:stretch>
            <a:fillRect/>
          </a:stretch>
        </p:blipFill>
        <p:spPr>
          <a:xfrm>
            <a:off x="7772400" y="2194560"/>
            <a:ext cx="914400"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TotalTime>
  <Words>1938</Words>
  <Application>Microsoft Office PowerPoint</Application>
  <PresentationFormat>On-screen Show (16:9)</PresentationFormat>
  <Paragraphs>399</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 Narrow</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Odisha Yatri Ride Analysis</dc:title>
  <dc:subject>PptxGenJS Presentation</dc:subject>
  <dc:creator>Rajesh Biswal</dc:creator>
  <cp:lastModifiedBy>Rakesh Biswal</cp:lastModifiedBy>
  <cp:revision>4</cp:revision>
  <dcterms:created xsi:type="dcterms:W3CDTF">2026-05-05T11:57:12Z</dcterms:created>
  <dcterms:modified xsi:type="dcterms:W3CDTF">2026-05-06T07:00:10Z</dcterms:modified>
</cp:coreProperties>
</file>